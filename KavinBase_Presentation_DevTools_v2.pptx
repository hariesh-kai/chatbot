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87" r:id="rId6"/>
    <p:sldId id="260" r:id="rId7"/>
    <p:sldId id="261" r:id="rId8"/>
    <p:sldId id="262" r:id="rId9"/>
    <p:sldId id="263" r:id="rId10"/>
    <p:sldId id="264" r:id="rId11"/>
    <p:sldId id="265" r:id="rId12"/>
    <p:sldId id="266" r:id="rId13"/>
    <p:sldId id="267" r:id="rId14"/>
    <p:sldId id="280" r:id="rId15"/>
    <p:sldId id="268" r:id="rId16"/>
    <p:sldId id="288" r:id="rId17"/>
    <p:sldId id="273" r:id="rId18"/>
    <p:sldId id="289" r:id="rId19"/>
    <p:sldId id="277" r:id="rId20"/>
    <p:sldId id="290" r:id="rId21"/>
    <p:sldId id="279" r:id="rId22"/>
    <p:sldId id="291" r:id="rId23"/>
    <p:sldId id="283" r:id="rId24"/>
    <p:sldId id="292" r:id="rId25"/>
    <p:sldId id="285" r:id="rId26"/>
    <p:sldId id="286" r:id="rId27"/>
    <p:sldId id="269" r:id="rId28"/>
    <p:sldId id="270" r:id="rId29"/>
    <p:sldId id="271" r:id="rId30"/>
    <p:sldId id="272" r:id="rId31"/>
    <p:sldId id="293" r:id="rId37"/>
    <p:sldId id="294" r:id="rId38"/>
    <p:sldId id="295" r:id="rId39"/>
    <p:sldId id="296" r:id="rId40"/>
    <p:sldId id="297" r:id="rId41"/>
    <p:sldId id="298" r:id="rId42"/>
    <p:sldId id="299" r:id="rId43"/>
    <p:sldId id="300" r:id="rId44"/>
    <p:sldId id="301" r:id="rId45"/>
    <p:sldId id="302" r:id="rId46"/>
    <p:sldId id="303" r:id="rId4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889" autoAdjust="0"/>
  </p:normalViewPr>
  <p:slideViewPr>
    <p:cSldViewPr snapToGrid="0" snapToObjects="1">
      <p:cViewPr varScale="1">
        <p:scale>
          <a:sx n="104" d="100"/>
          <a:sy n="104" d="100"/>
        </p:scale>
        <p:origin x="27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6C8DC-168B-4403-9429-637099B945EF}"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7BADB8-05B4-48AF-9BA4-1C210A9CD1A2}" type="slidenum">
              <a:rPr lang="en-IN" smtClean="0"/>
              <a:t>‹#›</a:t>
            </a:fld>
            <a:endParaRPr lang="en-IN"/>
          </a:p>
        </p:txBody>
      </p:sp>
    </p:spTree>
    <p:extLst>
      <p:ext uri="{BB962C8B-B14F-4D97-AF65-F5344CB8AC3E}">
        <p14:creationId xmlns:p14="http://schemas.microsoft.com/office/powerpoint/2010/main" val="1405708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presentation is about </a:t>
            </a:r>
            <a:r>
              <a:rPr lang="en-US" dirty="0" err="1"/>
              <a:t>KavinBase</a:t>
            </a:r>
            <a:r>
              <a:rPr lang="en-US" dirty="0"/>
              <a:t>, our enterprise AI document intelligence platform. The goal is to make large technical PDFs searchable, traceable, and answerable in seconds instead of hours.</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a:t>
            </a:fld>
            <a:endParaRPr lang="en-IN"/>
          </a:p>
        </p:txBody>
      </p:sp>
    </p:spTree>
    <p:extLst>
      <p:ext uri="{BB962C8B-B14F-4D97-AF65-F5344CB8AC3E}">
        <p14:creationId xmlns:p14="http://schemas.microsoft.com/office/powerpoint/2010/main" val="3695471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engineering and technical document packages can run into 1,000 pages or more. People spend a lot of time manually reading, comparing revisions, and finding values hidden in tables or appendices. This causes delay and increases the chance of human error</a:t>
            </a:r>
          </a:p>
          <a:p>
            <a:endParaRPr lang="en-US" dirty="0"/>
          </a:p>
          <a:p>
            <a:r>
              <a:rPr lang="en-US" dirty="0" err="1"/>
              <a:t>KavinBase</a:t>
            </a:r>
            <a:r>
              <a:rPr lang="en-US" dirty="0"/>
              <a:t> solves this by letting users upload documents once, index them, and ask questions in plain English. It uses hybrid retrieval, gives page-cited answers, supports multi-document queries, and includes a quality gate so the system is more reliable</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a:t>
            </a:fld>
            <a:endParaRPr lang="en-IN"/>
          </a:p>
        </p:txBody>
      </p:sp>
    </p:spTree>
    <p:extLst>
      <p:ext uri="{BB962C8B-B14F-4D97-AF65-F5344CB8AC3E}">
        <p14:creationId xmlns:p14="http://schemas.microsoft.com/office/powerpoint/2010/main" val="48488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full stack behind the system: </a:t>
            </a:r>
            <a:r>
              <a:rPr lang="en-US" dirty="0" err="1"/>
              <a:t>FastAPI</a:t>
            </a:r>
            <a:r>
              <a:rPr lang="en-US" dirty="0"/>
              <a:t> backend, Next.js frontend, Celery workers, </a:t>
            </a:r>
            <a:r>
              <a:rPr lang="en-US" dirty="0" err="1"/>
              <a:t>MinIO</a:t>
            </a:r>
            <a:r>
              <a:rPr lang="en-US" dirty="0"/>
              <a:t> for file storage, PostgreSQL with </a:t>
            </a:r>
            <a:r>
              <a:rPr lang="en-US" dirty="0" err="1"/>
              <a:t>PGVector</a:t>
            </a:r>
            <a:r>
              <a:rPr lang="en-US" dirty="0"/>
              <a:t> for vector search, and Redis for sessions and streaming state. The design is split into clear layers so ingestion, retrieval, and generation all work smoothly together.</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3</a:t>
            </a:fld>
            <a:endParaRPr lang="en-IN"/>
          </a:p>
        </p:txBody>
      </p:sp>
    </p:spTree>
    <p:extLst>
      <p:ext uri="{BB962C8B-B14F-4D97-AF65-F5344CB8AC3E}">
        <p14:creationId xmlns:p14="http://schemas.microsoft.com/office/powerpoint/2010/main" val="427114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engine is not just basic vector search. It combines semantic search, BM25 keyword search, RRF fusion, and </a:t>
            </a:r>
            <a:r>
              <a:rPr lang="en-US" dirty="0" err="1"/>
              <a:t>FlashRank</a:t>
            </a:r>
            <a:r>
              <a:rPr lang="en-US" dirty="0"/>
              <a:t> reranking, with parent resolution for tables. That means the system can search across different chunk types and still return the most relevant context.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4</a:t>
            </a:fld>
            <a:endParaRPr lang="en-IN"/>
          </a:p>
        </p:txBody>
      </p:sp>
    </p:spTree>
    <p:extLst>
      <p:ext uri="{BB962C8B-B14F-4D97-AF65-F5344CB8AC3E}">
        <p14:creationId xmlns:p14="http://schemas.microsoft.com/office/powerpoint/2010/main" val="3348300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engine is not just basic vector search. It combines semantic search, BM25 keyword search, RRF fusion, and </a:t>
            </a:r>
            <a:r>
              <a:rPr lang="en-US" dirty="0" err="1"/>
              <a:t>FlashRank</a:t>
            </a:r>
            <a:r>
              <a:rPr lang="en-US" dirty="0"/>
              <a:t> reranking, with parent resolution for tables. That means the system can search across different chunk types and still return the most relevant context.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5</a:t>
            </a:fld>
            <a:endParaRPr lang="en-IN"/>
          </a:p>
        </p:txBody>
      </p:sp>
    </p:spTree>
    <p:extLst>
      <p:ext uri="{BB962C8B-B14F-4D97-AF65-F5344CB8AC3E}">
        <p14:creationId xmlns:p14="http://schemas.microsoft.com/office/powerpoint/2010/main" val="2976482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different models for different jobs. Smaller Qwen models handle routing, extraction, and gate decisions, while stronger models handle answer generation and review. This keeps the system efficient, accurate, and flexible for both CPU and GPU setups</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6</a:t>
            </a:fld>
            <a:endParaRPr lang="en-IN"/>
          </a:p>
        </p:txBody>
      </p:sp>
    </p:spTree>
    <p:extLst>
      <p:ext uri="{BB962C8B-B14F-4D97-AF65-F5344CB8AC3E}">
        <p14:creationId xmlns:p14="http://schemas.microsoft.com/office/powerpoint/2010/main" val="2230361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pipeline explains how a PDF becomes searchable knowledge. First the file is uploaded, then preprocessed, filtered, grouped, chunked, enriched with metadata, embedded using BGE-M3, and finally stored in </a:t>
            </a:r>
            <a:r>
              <a:rPr lang="en-US" dirty="0" err="1"/>
              <a:t>PGVector</a:t>
            </a:r>
            <a:r>
              <a:rPr lang="en-US" dirty="0"/>
              <a:t>. The process is revision-safe, so document updates do not corrupt the index.</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7</a:t>
            </a:fld>
            <a:endParaRPr lang="en-IN"/>
          </a:p>
        </p:txBody>
      </p:sp>
    </p:spTree>
    <p:extLst>
      <p:ext uri="{BB962C8B-B14F-4D97-AF65-F5344CB8AC3E}">
        <p14:creationId xmlns:p14="http://schemas.microsoft.com/office/powerpoint/2010/main" val="2941805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user asks a question, the system first detects the intent, chooses the right retrieval mode, searches multiple lanes, fuses results, </a:t>
            </a:r>
            <a:r>
              <a:rPr lang="en-US" dirty="0" err="1"/>
              <a:t>reranks</a:t>
            </a:r>
            <a:r>
              <a:rPr lang="en-US" dirty="0"/>
              <a:t> them, and then generates the answer through the model. This makes the answer pipeline smart and adaptive instead of using one fixed search path.</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8</a:t>
            </a:fld>
            <a:endParaRPr lang="en-IN"/>
          </a:p>
        </p:txBody>
      </p:sp>
    </p:spTree>
    <p:extLst>
      <p:ext uri="{BB962C8B-B14F-4D97-AF65-F5344CB8AC3E}">
        <p14:creationId xmlns:p14="http://schemas.microsoft.com/office/powerpoint/2010/main" val="65229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quality-control layer. The question goes through router, planner, extractor, draft, reviewer, gate, and senior escalation. The purpose is to reduce hallucinations and ensure the final answer is grounded before it is shown to the user</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9</a:t>
            </a:fld>
            <a:endParaRPr lang="en-IN"/>
          </a:p>
        </p:txBody>
      </p:sp>
    </p:spTree>
    <p:extLst>
      <p:ext uri="{BB962C8B-B14F-4D97-AF65-F5344CB8AC3E}">
        <p14:creationId xmlns:p14="http://schemas.microsoft.com/office/powerpoint/2010/main" val="4030680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built with Next.js 14 and TypeScript, with modular React components and SSE streaming for real-time responses. It also supports authentication, multiple workspace modes, and a structure that can scale as more features are added</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10</a:t>
            </a:fld>
            <a:endParaRPr lang="en-IN"/>
          </a:p>
        </p:txBody>
      </p:sp>
    </p:spTree>
    <p:extLst>
      <p:ext uri="{BB962C8B-B14F-4D97-AF65-F5344CB8AC3E}">
        <p14:creationId xmlns:p14="http://schemas.microsoft.com/office/powerpoint/2010/main" val="3537873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user experience. Users can upload PDFs, view document context, inspect citations, see tables, and get token-by-token answers with source traceability. The design is made for practical document Q&amp;A, not just generic chat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11</a:t>
            </a:fld>
            <a:endParaRPr lang="en-IN"/>
          </a:p>
        </p:txBody>
      </p:sp>
    </p:spTree>
    <p:extLst>
      <p:ext uri="{BB962C8B-B14F-4D97-AF65-F5344CB8AC3E}">
        <p14:creationId xmlns:p14="http://schemas.microsoft.com/office/powerpoint/2010/main" val="283538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sidebar is more than navigation. It manages chats, uploads, model selection, and dev settings. The upload flow includes metadata extraction first, then full ingestion, with progress tracking and cancellation support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12</a:t>
            </a:fld>
            <a:endParaRPr lang="en-IN"/>
          </a:p>
        </p:txBody>
      </p:sp>
    </p:spTree>
    <p:extLst>
      <p:ext uri="{BB962C8B-B14F-4D97-AF65-F5344CB8AC3E}">
        <p14:creationId xmlns:p14="http://schemas.microsoft.com/office/powerpoint/2010/main" val="243143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support three workspace modes: AI chat, PML template editing, and team messaging. This makes the platform useful not only for document Q&amp;A but also for internal collaboration and enterprise workflows.” </a:t>
            </a:r>
          </a:p>
          <a:p>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13</a:t>
            </a:fld>
            <a:endParaRPr lang="en-IN"/>
          </a:p>
        </p:txBody>
      </p:sp>
    </p:spTree>
    <p:extLst>
      <p:ext uri="{BB962C8B-B14F-4D97-AF65-F5344CB8AC3E}">
        <p14:creationId xmlns:p14="http://schemas.microsoft.com/office/powerpoint/2010/main" val="157365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27012-9D33-907B-8F09-7869BF8F0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7D126-3FC8-B553-896E-802A78F5C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E2FA8-50C8-E3BC-01CA-45F946EEFA80}"/>
              </a:ext>
            </a:extLst>
          </p:cNvPr>
          <p:cNvSpPr>
            <a:spLocks noGrp="1"/>
          </p:cNvSpPr>
          <p:nvPr>
            <p:ph type="body" idx="1"/>
          </p:nvPr>
        </p:nvSpPr>
        <p:spPr/>
        <p:txBody>
          <a:bodyPr/>
          <a:lstStyle/>
          <a:p>
            <a:r>
              <a:rPr lang="en-US" dirty="0"/>
              <a:t>“For these slides, say that the actual screenshots will show the real product interface for chat, upload flow, sidebar, source viewer, table inspection, and preprocessing preview. These slides are meant to demonstrate usability, not architecture.”</a:t>
            </a:r>
            <a:endParaRPr lang="en-IN" dirty="0"/>
          </a:p>
        </p:txBody>
      </p:sp>
      <p:sp>
        <p:nvSpPr>
          <p:cNvPr id="4" name="Slide Number Placeholder 3">
            <a:extLst>
              <a:ext uri="{FF2B5EF4-FFF2-40B4-BE49-F238E27FC236}">
                <a16:creationId xmlns:a16="http://schemas.microsoft.com/office/drawing/2014/main" id="{01764123-7DD7-0F5B-BD65-5E1628E1E995}"/>
              </a:ext>
            </a:extLst>
          </p:cNvPr>
          <p:cNvSpPr>
            <a:spLocks noGrp="1"/>
          </p:cNvSpPr>
          <p:nvPr>
            <p:ph type="sldNum" sz="quarter" idx="5"/>
          </p:nvPr>
        </p:nvSpPr>
        <p:spPr/>
        <p:txBody>
          <a:bodyPr/>
          <a:lstStyle/>
          <a:p>
            <a:fld id="{FE7BADB8-05B4-48AF-9BA4-1C210A9CD1A2}" type="slidenum">
              <a:rPr lang="en-IN" smtClean="0"/>
              <a:t>14</a:t>
            </a:fld>
            <a:endParaRPr lang="en-IN"/>
          </a:p>
        </p:txBody>
      </p:sp>
    </p:spTree>
    <p:extLst>
      <p:ext uri="{BB962C8B-B14F-4D97-AF65-F5344CB8AC3E}">
        <p14:creationId xmlns:p14="http://schemas.microsoft.com/office/powerpoint/2010/main" val="3042569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15</a:t>
            </a:fld>
            <a:endParaRPr lang="en-IN"/>
          </a:p>
        </p:txBody>
      </p:sp>
    </p:spTree>
    <p:extLst>
      <p:ext uri="{BB962C8B-B14F-4D97-AF65-F5344CB8AC3E}">
        <p14:creationId xmlns:p14="http://schemas.microsoft.com/office/powerpoint/2010/main" val="3308660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E2D57-CA13-31F5-69DB-049FE0F76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33609-E8B3-E24D-0340-42B482E61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0DA77-CB05-671F-9E67-4319F557AC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ABAB7C-9373-4CBD-68C1-04F4F86B76A1}"/>
              </a:ext>
            </a:extLst>
          </p:cNvPr>
          <p:cNvSpPr>
            <a:spLocks noGrp="1"/>
          </p:cNvSpPr>
          <p:nvPr>
            <p:ph type="sldNum" sz="quarter" idx="5"/>
          </p:nvPr>
        </p:nvSpPr>
        <p:spPr/>
        <p:txBody>
          <a:bodyPr/>
          <a:lstStyle/>
          <a:p>
            <a:fld id="{FE7BADB8-05B4-48AF-9BA4-1C210A9CD1A2}" type="slidenum">
              <a:rPr lang="en-IN" smtClean="0"/>
              <a:t>16</a:t>
            </a:fld>
            <a:endParaRPr lang="en-IN"/>
          </a:p>
        </p:txBody>
      </p:sp>
    </p:spTree>
    <p:extLst>
      <p:ext uri="{BB962C8B-B14F-4D97-AF65-F5344CB8AC3E}">
        <p14:creationId xmlns:p14="http://schemas.microsoft.com/office/powerpoint/2010/main" val="157507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22654-4EB9-F230-4D47-95E60975D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4E0A3-E7A6-73CC-ED83-7295B7A9C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A0730-77F4-B3C6-3FA7-8003F143D25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06AD3ED-944E-4CCE-159B-AAFADCF7E0A9}"/>
              </a:ext>
            </a:extLst>
          </p:cNvPr>
          <p:cNvSpPr>
            <a:spLocks noGrp="1"/>
          </p:cNvSpPr>
          <p:nvPr>
            <p:ph type="sldNum" sz="quarter" idx="5"/>
          </p:nvPr>
        </p:nvSpPr>
        <p:spPr/>
        <p:txBody>
          <a:bodyPr/>
          <a:lstStyle/>
          <a:p>
            <a:fld id="{FE7BADB8-05B4-48AF-9BA4-1C210A9CD1A2}" type="slidenum">
              <a:rPr lang="en-IN" smtClean="0"/>
              <a:t>17</a:t>
            </a:fld>
            <a:endParaRPr lang="en-IN"/>
          </a:p>
        </p:txBody>
      </p:sp>
    </p:spTree>
    <p:extLst>
      <p:ext uri="{BB962C8B-B14F-4D97-AF65-F5344CB8AC3E}">
        <p14:creationId xmlns:p14="http://schemas.microsoft.com/office/powerpoint/2010/main" val="1502252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8162-714D-9DA9-8AC4-472255F24E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60B84-E791-AA20-4C7C-57B2FCFFD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E536E-B987-3B75-41D5-09141816033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3C3917-7844-D583-5D85-DF14D6657D1C}"/>
              </a:ext>
            </a:extLst>
          </p:cNvPr>
          <p:cNvSpPr>
            <a:spLocks noGrp="1"/>
          </p:cNvSpPr>
          <p:nvPr>
            <p:ph type="sldNum" sz="quarter" idx="5"/>
          </p:nvPr>
        </p:nvSpPr>
        <p:spPr/>
        <p:txBody>
          <a:bodyPr/>
          <a:lstStyle/>
          <a:p>
            <a:fld id="{FE7BADB8-05B4-48AF-9BA4-1C210A9CD1A2}" type="slidenum">
              <a:rPr lang="en-IN" smtClean="0"/>
              <a:t>18</a:t>
            </a:fld>
            <a:endParaRPr lang="en-IN"/>
          </a:p>
        </p:txBody>
      </p:sp>
    </p:spTree>
    <p:extLst>
      <p:ext uri="{BB962C8B-B14F-4D97-AF65-F5344CB8AC3E}">
        <p14:creationId xmlns:p14="http://schemas.microsoft.com/office/powerpoint/2010/main" val="27705659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463CE-D9AC-E718-D475-E7A6A49EF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8DA0B-3CBE-6578-9ADD-65A5C2775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FD6C9-B8C1-4705-8772-1DFEE99F53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B0924F-CC4E-8871-D83B-3DFF48A3FE61}"/>
              </a:ext>
            </a:extLst>
          </p:cNvPr>
          <p:cNvSpPr>
            <a:spLocks noGrp="1"/>
          </p:cNvSpPr>
          <p:nvPr>
            <p:ph type="sldNum" sz="quarter" idx="5"/>
          </p:nvPr>
        </p:nvSpPr>
        <p:spPr/>
        <p:txBody>
          <a:bodyPr/>
          <a:lstStyle/>
          <a:p>
            <a:fld id="{FE7BADB8-05B4-48AF-9BA4-1C210A9CD1A2}" type="slidenum">
              <a:rPr lang="en-IN" smtClean="0"/>
              <a:t>19</a:t>
            </a:fld>
            <a:endParaRPr lang="en-IN"/>
          </a:p>
        </p:txBody>
      </p:sp>
    </p:spTree>
    <p:extLst>
      <p:ext uri="{BB962C8B-B14F-4D97-AF65-F5344CB8AC3E}">
        <p14:creationId xmlns:p14="http://schemas.microsoft.com/office/powerpoint/2010/main" val="2691569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B5794-7975-8A38-2FEB-7B6ABE7D1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E3B15-389F-4527-440C-1D5557FFAB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97C68A-6D46-AE4F-6DC4-1DD6C35BCB9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CE92A7-1C68-8502-B487-D35CFD408245}"/>
              </a:ext>
            </a:extLst>
          </p:cNvPr>
          <p:cNvSpPr>
            <a:spLocks noGrp="1"/>
          </p:cNvSpPr>
          <p:nvPr>
            <p:ph type="sldNum" sz="quarter" idx="5"/>
          </p:nvPr>
        </p:nvSpPr>
        <p:spPr/>
        <p:txBody>
          <a:bodyPr/>
          <a:lstStyle/>
          <a:p>
            <a:fld id="{FE7BADB8-05B4-48AF-9BA4-1C210A9CD1A2}" type="slidenum">
              <a:rPr lang="en-IN" smtClean="0"/>
              <a:t>20</a:t>
            </a:fld>
            <a:endParaRPr lang="en-IN"/>
          </a:p>
        </p:txBody>
      </p:sp>
    </p:spTree>
    <p:extLst>
      <p:ext uri="{BB962C8B-B14F-4D97-AF65-F5344CB8AC3E}">
        <p14:creationId xmlns:p14="http://schemas.microsoft.com/office/powerpoint/2010/main" val="29331953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5A7B0-7AAE-AA8A-64E6-5D0E98EB4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4CBF9-3999-77C0-8F2F-C4B539254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746BE-AB6F-5066-661C-E370CEBECA5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A39740-0FDB-A75F-FF46-1A2FB5CCAB2B}"/>
              </a:ext>
            </a:extLst>
          </p:cNvPr>
          <p:cNvSpPr>
            <a:spLocks noGrp="1"/>
          </p:cNvSpPr>
          <p:nvPr>
            <p:ph type="sldNum" sz="quarter" idx="5"/>
          </p:nvPr>
        </p:nvSpPr>
        <p:spPr/>
        <p:txBody>
          <a:bodyPr/>
          <a:lstStyle/>
          <a:p>
            <a:fld id="{FE7BADB8-05B4-48AF-9BA4-1C210A9CD1A2}" type="slidenum">
              <a:rPr lang="en-IN" smtClean="0"/>
              <a:t>21</a:t>
            </a:fld>
            <a:endParaRPr lang="en-IN"/>
          </a:p>
        </p:txBody>
      </p:sp>
    </p:spTree>
    <p:extLst>
      <p:ext uri="{BB962C8B-B14F-4D97-AF65-F5344CB8AC3E}">
        <p14:creationId xmlns:p14="http://schemas.microsoft.com/office/powerpoint/2010/main" val="1240018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CE6A8-B42B-6A40-B375-AA539C17D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C77BA-8F19-018B-C79A-95B8C4BFB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5464D-6D01-A3EB-7DDF-FD828A07DE9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C926CD8-3A41-1253-28EB-DF6C3FA21B30}"/>
              </a:ext>
            </a:extLst>
          </p:cNvPr>
          <p:cNvSpPr>
            <a:spLocks noGrp="1"/>
          </p:cNvSpPr>
          <p:nvPr>
            <p:ph type="sldNum" sz="quarter" idx="5"/>
          </p:nvPr>
        </p:nvSpPr>
        <p:spPr/>
        <p:txBody>
          <a:bodyPr/>
          <a:lstStyle/>
          <a:p>
            <a:fld id="{FE7BADB8-05B4-48AF-9BA4-1C210A9CD1A2}" type="slidenum">
              <a:rPr lang="en-IN" smtClean="0"/>
              <a:t>22</a:t>
            </a:fld>
            <a:endParaRPr lang="en-IN"/>
          </a:p>
        </p:txBody>
      </p:sp>
    </p:spTree>
    <p:extLst>
      <p:ext uri="{BB962C8B-B14F-4D97-AF65-F5344CB8AC3E}">
        <p14:creationId xmlns:p14="http://schemas.microsoft.com/office/powerpoint/2010/main" val="9871761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5865-F4CA-1DAA-6096-B2380B79B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3DA39-420E-289E-D416-B3B838FA7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C97CC-758E-3F51-899C-7072A2A17E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9190FA-5FCB-BC82-3C25-0D77A621EE15}"/>
              </a:ext>
            </a:extLst>
          </p:cNvPr>
          <p:cNvSpPr>
            <a:spLocks noGrp="1"/>
          </p:cNvSpPr>
          <p:nvPr>
            <p:ph type="sldNum" sz="quarter" idx="5"/>
          </p:nvPr>
        </p:nvSpPr>
        <p:spPr/>
        <p:txBody>
          <a:bodyPr/>
          <a:lstStyle/>
          <a:p>
            <a:fld id="{FE7BADB8-05B4-48AF-9BA4-1C210A9CD1A2}" type="slidenum">
              <a:rPr lang="en-IN" smtClean="0"/>
              <a:t>23</a:t>
            </a:fld>
            <a:endParaRPr lang="en-IN"/>
          </a:p>
        </p:txBody>
      </p:sp>
    </p:spTree>
    <p:extLst>
      <p:ext uri="{BB962C8B-B14F-4D97-AF65-F5344CB8AC3E}">
        <p14:creationId xmlns:p14="http://schemas.microsoft.com/office/powerpoint/2010/main" val="2548006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5C4E-28C5-5D63-3E70-777DC73C58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0E3C4-D81F-0360-507A-D099CA23D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D0E9B-90DD-4514-D416-0B3667ACA21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32EA8B-21B2-6486-BD8A-1E7F7E59BBDF}"/>
              </a:ext>
            </a:extLst>
          </p:cNvPr>
          <p:cNvSpPr>
            <a:spLocks noGrp="1"/>
          </p:cNvSpPr>
          <p:nvPr>
            <p:ph type="sldNum" sz="quarter" idx="5"/>
          </p:nvPr>
        </p:nvSpPr>
        <p:spPr/>
        <p:txBody>
          <a:bodyPr/>
          <a:lstStyle/>
          <a:p>
            <a:fld id="{FE7BADB8-05B4-48AF-9BA4-1C210A9CD1A2}" type="slidenum">
              <a:rPr lang="en-IN" smtClean="0"/>
              <a:t>24</a:t>
            </a:fld>
            <a:endParaRPr lang="en-IN"/>
          </a:p>
        </p:txBody>
      </p:sp>
    </p:spTree>
    <p:extLst>
      <p:ext uri="{BB962C8B-B14F-4D97-AF65-F5344CB8AC3E}">
        <p14:creationId xmlns:p14="http://schemas.microsoft.com/office/powerpoint/2010/main" val="472753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A28AD-C9BB-F731-9A65-F972E323C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2C248-7F9A-A022-85E1-19BF9F689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5C938-F023-048A-1307-FEAC96A57C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5093EF0-AA0E-C04D-46CB-82F439D2222B}"/>
              </a:ext>
            </a:extLst>
          </p:cNvPr>
          <p:cNvSpPr>
            <a:spLocks noGrp="1"/>
          </p:cNvSpPr>
          <p:nvPr>
            <p:ph type="sldNum" sz="quarter" idx="5"/>
          </p:nvPr>
        </p:nvSpPr>
        <p:spPr/>
        <p:txBody>
          <a:bodyPr/>
          <a:lstStyle/>
          <a:p>
            <a:fld id="{FE7BADB8-05B4-48AF-9BA4-1C210A9CD1A2}" type="slidenum">
              <a:rPr lang="en-IN" smtClean="0"/>
              <a:t>25</a:t>
            </a:fld>
            <a:endParaRPr lang="en-IN"/>
          </a:p>
        </p:txBody>
      </p:sp>
    </p:spTree>
    <p:extLst>
      <p:ext uri="{BB962C8B-B14F-4D97-AF65-F5344CB8AC3E}">
        <p14:creationId xmlns:p14="http://schemas.microsoft.com/office/powerpoint/2010/main" val="1301566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A2E4-8284-8913-6BF6-6A7300113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523BC-07D7-42C4-FE3D-1B4C989B1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3B5F1-CDD7-2681-61DF-4CF3A2A6B5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69D54E-2CE8-9927-7AC1-6854865D640F}"/>
              </a:ext>
            </a:extLst>
          </p:cNvPr>
          <p:cNvSpPr>
            <a:spLocks noGrp="1"/>
          </p:cNvSpPr>
          <p:nvPr>
            <p:ph type="sldNum" sz="quarter" idx="5"/>
          </p:nvPr>
        </p:nvSpPr>
        <p:spPr/>
        <p:txBody>
          <a:bodyPr/>
          <a:lstStyle/>
          <a:p>
            <a:fld id="{FE7BADB8-05B4-48AF-9BA4-1C210A9CD1A2}" type="slidenum">
              <a:rPr lang="en-IN" smtClean="0"/>
              <a:t>26</a:t>
            </a:fld>
            <a:endParaRPr lang="en-IN"/>
          </a:p>
        </p:txBody>
      </p:sp>
    </p:spTree>
    <p:extLst>
      <p:ext uri="{BB962C8B-B14F-4D97-AF65-F5344CB8AC3E}">
        <p14:creationId xmlns:p14="http://schemas.microsoft.com/office/powerpoint/2010/main" val="11042323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backend services and storage layers. </a:t>
            </a:r>
            <a:r>
              <a:rPr lang="en-US" dirty="0" err="1"/>
              <a:t>FastAPI</a:t>
            </a:r>
            <a:r>
              <a:rPr lang="en-US" dirty="0"/>
              <a:t> handles routes and streaming, Celery handles heavy background jobs, </a:t>
            </a:r>
            <a:r>
              <a:rPr lang="en-US" dirty="0" err="1"/>
              <a:t>MinIO</a:t>
            </a:r>
            <a:r>
              <a:rPr lang="en-US" dirty="0"/>
              <a:t> stores documents, PostgreSQL stores metadata and vectors, and Redis manages session state and task coordination</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27</a:t>
            </a:fld>
            <a:endParaRPr lang="en-IN"/>
          </a:p>
        </p:txBody>
      </p:sp>
    </p:spTree>
    <p:extLst>
      <p:ext uri="{BB962C8B-B14F-4D97-AF65-F5344CB8AC3E}">
        <p14:creationId xmlns:p14="http://schemas.microsoft.com/office/powerpoint/2010/main" val="29191133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highlights the advanced additions: agentic review, multi-lane retrieval, query profile routing, document-type aware chunking, inline metadata extraction, preprocessing overrides, answer quality gates, and external LLM support. These features make the system stronger and more production-ready.</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28</a:t>
            </a:fld>
            <a:endParaRPr lang="en-IN"/>
          </a:p>
        </p:txBody>
      </p:sp>
    </p:spTree>
    <p:extLst>
      <p:ext uri="{BB962C8B-B14F-4D97-AF65-F5344CB8AC3E}">
        <p14:creationId xmlns:p14="http://schemas.microsoft.com/office/powerpoint/2010/main" val="2257140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overall stack in one view. Frontend, backend, AI/ML, preprocessing, and storage are all separated clearly so the system is easier to understand, maintain, and scale</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29</a:t>
            </a:fld>
            <a:endParaRPr lang="en-IN"/>
          </a:p>
        </p:txBody>
      </p:sp>
    </p:spTree>
    <p:extLst>
      <p:ext uri="{BB962C8B-B14F-4D97-AF65-F5344CB8AC3E}">
        <p14:creationId xmlns:p14="http://schemas.microsoft.com/office/powerpoint/2010/main" val="593331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t>
            </a:r>
            <a:r>
              <a:rPr lang="en-US" dirty="0" err="1"/>
              <a:t>KavinBase</a:t>
            </a:r>
            <a:r>
              <a:rPr lang="en-US" dirty="0"/>
              <a:t> is designed to turn large technical document workflows into a fast, reliable, and traceable AI experience</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30</a:t>
            </a:fld>
            <a:endParaRPr lang="en-IN"/>
          </a:p>
        </p:txBody>
      </p:sp>
    </p:spTree>
    <p:extLst>
      <p:ext uri="{BB962C8B-B14F-4D97-AF65-F5344CB8AC3E}">
        <p14:creationId xmlns:p14="http://schemas.microsoft.com/office/powerpoint/2010/main" val="1127840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4.png"/><Relationship Id="rId8" Type="http://schemas.openxmlformats.org/officeDocument/2006/relationships/image" Target="../media/image10.png"/><Relationship Id="rId9"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4.png"/><Relationship Id="rId8" Type="http://schemas.openxmlformats.org/officeDocument/2006/relationships/image" Target="../media/image11.png"/><Relationship Id="rId9"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4.png"/><Relationship Id="rId8" Type="http://schemas.openxmlformats.org/officeDocument/2006/relationships/image" Target="../media/image12.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8.png"/><Relationship Id="rId9"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9.png"/><Relationship Id="rId9"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0592"/>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0592"/>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3631" y="1838950"/>
            <a:ext cx="10332720" cy="1005840"/>
          </a:xfrm>
          <a:prstGeom prst="rect">
            <a:avLst/>
          </a:prstGeom>
          <a:noFill/>
        </p:spPr>
        <p:txBody>
          <a:bodyPr wrap="square">
            <a:spAutoFit/>
          </a:bodyPr>
          <a:lstStyle/>
          <a:p>
            <a:pPr algn="ctr"/>
            <a:r>
              <a:rPr sz="6000" b="1" dirty="0" err="1">
                <a:solidFill>
                  <a:srgbClr val="5B8DFF"/>
                </a:solidFill>
              </a:rPr>
              <a:t>KavinBase</a:t>
            </a:r>
            <a:endParaRPr sz="6000" b="1" dirty="0">
              <a:solidFill>
                <a:srgbClr val="5B8DFF"/>
              </a:solidFill>
            </a:endParaRPr>
          </a:p>
        </p:txBody>
      </p:sp>
      <p:sp>
        <p:nvSpPr>
          <p:cNvPr id="6" name="TextBox 5"/>
          <p:cNvSpPr txBox="1"/>
          <p:nvPr/>
        </p:nvSpPr>
        <p:spPr>
          <a:xfrm>
            <a:off x="914400" y="3022236"/>
            <a:ext cx="10332720" cy="548640"/>
          </a:xfrm>
          <a:prstGeom prst="rect">
            <a:avLst/>
          </a:prstGeom>
          <a:noFill/>
        </p:spPr>
        <p:txBody>
          <a:bodyPr wrap="square">
            <a:spAutoFit/>
          </a:bodyPr>
          <a:lstStyle/>
          <a:p>
            <a:pPr algn="ctr"/>
            <a:r>
              <a:rPr sz="2400" b="0" dirty="0">
                <a:solidFill>
                  <a:srgbClr val="FFFFFF"/>
                </a:solidFill>
              </a:rPr>
              <a:t>Enterprise AI Document Intelligence Platform</a:t>
            </a:r>
          </a:p>
        </p:txBody>
      </p:sp>
      <p:sp>
        <p:nvSpPr>
          <p:cNvPr id="7" name="TextBox 6"/>
          <p:cNvSpPr txBox="1"/>
          <p:nvPr/>
        </p:nvSpPr>
        <p:spPr>
          <a:xfrm>
            <a:off x="914400" y="3809482"/>
            <a:ext cx="10332720" cy="411480"/>
          </a:xfrm>
          <a:prstGeom prst="rect">
            <a:avLst/>
          </a:prstGeom>
          <a:noFill/>
        </p:spPr>
        <p:txBody>
          <a:bodyPr wrap="square">
            <a:spAutoFit/>
          </a:bodyPr>
          <a:lstStyle/>
          <a:p>
            <a:pPr algn="ctr"/>
            <a:r>
              <a:rPr sz="1500" b="0" dirty="0">
                <a:solidFill>
                  <a:srgbClr val="A0B4FF"/>
                </a:solidFill>
              </a:rPr>
              <a:t>Hybrid RAG · Local LLMs · Multi-Modal Ingestion · Agentic Review Pipeline</a:t>
            </a:r>
          </a:p>
        </p:txBody>
      </p:sp>
      <p:sp>
        <p:nvSpPr>
          <p:cNvPr id="8" name="TextBox 7"/>
          <p:cNvSpPr txBox="1"/>
          <p:nvPr/>
        </p:nvSpPr>
        <p:spPr>
          <a:xfrm>
            <a:off x="793631" y="4613148"/>
            <a:ext cx="10332720" cy="365760"/>
          </a:xfrm>
          <a:prstGeom prst="rect">
            <a:avLst/>
          </a:prstGeom>
          <a:noFill/>
        </p:spPr>
        <p:txBody>
          <a:bodyPr wrap="square">
            <a:spAutoFit/>
          </a:bodyPr>
          <a:lstStyle/>
          <a:p>
            <a:pPr algn="ctr"/>
            <a:r>
              <a:rPr sz="1300" b="0" dirty="0">
                <a:solidFill>
                  <a:srgbClr val="7080A0"/>
                </a:solidFill>
              </a:rPr>
              <a:t>Next.js 14 Frontend  ·  </a:t>
            </a:r>
            <a:r>
              <a:rPr sz="1300" b="0" dirty="0" err="1">
                <a:solidFill>
                  <a:srgbClr val="7080A0"/>
                </a:solidFill>
              </a:rPr>
              <a:t>FastAPI</a:t>
            </a:r>
            <a:r>
              <a:rPr sz="1300" b="0" dirty="0">
                <a:solidFill>
                  <a:srgbClr val="7080A0"/>
                </a:solidFill>
              </a:rPr>
              <a:t> Backend  ·  PostgreSQL </a:t>
            </a:r>
            <a:r>
              <a:rPr sz="1300" b="0" dirty="0" err="1">
                <a:solidFill>
                  <a:srgbClr val="7080A0"/>
                </a:solidFill>
              </a:rPr>
              <a:t>PGVector</a:t>
            </a:r>
            <a:r>
              <a:rPr sz="1300" b="0" dirty="0">
                <a:solidFill>
                  <a:srgbClr val="7080A0"/>
                </a:solidFill>
              </a:rPr>
              <a:t>  ·  Redis  ·  </a:t>
            </a:r>
            <a:r>
              <a:rPr sz="1300" b="0" dirty="0" err="1">
                <a:solidFill>
                  <a:srgbClr val="7080A0"/>
                </a:solidFill>
              </a:rPr>
              <a:t>MinIO</a:t>
            </a:r>
            <a:endParaRPr sz="1300" b="0" dirty="0">
              <a:solidFill>
                <a:srgbClr val="7080A0"/>
              </a:solidFill>
            </a:endParaRPr>
          </a:p>
        </p:txBody>
      </p:sp>
      <p:pic>
        <p:nvPicPr>
          <p:cNvPr id="12" name="Picture 11">
            <a:extLst>
              <a:ext uri="{FF2B5EF4-FFF2-40B4-BE49-F238E27FC236}">
                <a16:creationId xmlns:a16="http://schemas.microsoft.com/office/drawing/2014/main" id="{0EC5CD26-4DF2-23D9-B363-3AA52F9E3778}"/>
              </a:ext>
            </a:extLst>
          </p:cNvPr>
          <p:cNvPicPr>
            <a:picLocks noChangeAspect="1"/>
          </p:cNvPicPr>
          <p:nvPr/>
        </p:nvPicPr>
        <p:blipFill>
          <a:blip r:embed="rId3"/>
          <a:srcRect l="17962" t="32733" r="14250" b="40471"/>
          <a:stretch>
            <a:fillRect/>
          </a:stretch>
        </p:blipFill>
        <p:spPr>
          <a:xfrm>
            <a:off x="645160" y="364537"/>
            <a:ext cx="2088804" cy="635518"/>
          </a:xfrm>
          <a:prstGeom prst="rect">
            <a:avLst/>
          </a:prstGeom>
        </p:spPr>
      </p:pic>
      <p:sp>
        <p:nvSpPr>
          <p:cNvPr id="13" name="TextBox 12">
            <a:extLst>
              <a:ext uri="{FF2B5EF4-FFF2-40B4-BE49-F238E27FC236}">
                <a16:creationId xmlns:a16="http://schemas.microsoft.com/office/drawing/2014/main" id="{3FF2A3FA-9061-F8BD-5897-A1F65DE80844}"/>
              </a:ext>
            </a:extLst>
          </p:cNvPr>
          <p:cNvSpPr txBox="1"/>
          <p:nvPr/>
        </p:nvSpPr>
        <p:spPr>
          <a:xfrm>
            <a:off x="3685307" y="4978908"/>
            <a:ext cx="5441369" cy="461665"/>
          </a:xfrm>
          <a:prstGeom prst="rect">
            <a:avLst/>
          </a:prstGeom>
          <a:noFill/>
        </p:spPr>
        <p:txBody>
          <a:bodyPr wrap="square">
            <a:spAutoFit/>
          </a:bodyPr>
          <a:lstStyle/>
          <a:p>
            <a:pPr algn="r"/>
            <a:r>
              <a:rPr lang="en-US" sz="2400" b="0" dirty="0">
                <a:solidFill>
                  <a:srgbClr val="7080A0"/>
                </a:solidFill>
              </a:rPr>
              <a:t>-Hariesh R</a:t>
            </a:r>
            <a:endParaRPr sz="2400" b="0" dirty="0">
              <a:solidFill>
                <a:srgbClr val="7080A0"/>
              </a:solidFill>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6032" y="164592"/>
            <a:ext cx="5486400" cy="640080"/>
          </a:xfrm>
          <a:prstGeom prst="rect">
            <a:avLst/>
          </a:prstGeom>
          <a:solidFill>
            <a:srgbClr val="3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201168"/>
            <a:ext cx="5303520" cy="502920"/>
          </a:xfrm>
          <a:prstGeom prst="rect">
            <a:avLst/>
          </a:prstGeom>
          <a:noFill/>
        </p:spPr>
        <p:txBody>
          <a:bodyPr wrap="square">
            <a:spAutoFit/>
          </a:bodyPr>
          <a:lstStyle/>
          <a:p>
            <a:pPr algn="l"/>
            <a:r>
              <a:rPr sz="1900" b="1">
                <a:solidFill>
                  <a:srgbClr val="FF6060"/>
                </a:solidFill>
              </a:rPr>
              <a:t>THE PROBLEM</a:t>
            </a:r>
          </a:p>
        </p:txBody>
      </p:sp>
      <p:sp>
        <p:nvSpPr>
          <p:cNvPr id="7" name="Rectangle 6"/>
          <p:cNvSpPr/>
          <p:nvPr/>
        </p:nvSpPr>
        <p:spPr>
          <a:xfrm>
            <a:off x="256032" y="896112"/>
            <a:ext cx="5486400" cy="1417320"/>
          </a:xfrm>
          <a:prstGeom prst="rect">
            <a:avLst/>
          </a:prstGeom>
          <a:solidFill>
            <a:srgbClr val="25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932688"/>
            <a:ext cx="5212080" cy="731520"/>
          </a:xfrm>
          <a:prstGeom prst="rect">
            <a:avLst/>
          </a:prstGeom>
          <a:noFill/>
        </p:spPr>
        <p:txBody>
          <a:bodyPr wrap="square">
            <a:spAutoFit/>
          </a:bodyPr>
          <a:lstStyle/>
          <a:p>
            <a:pPr algn="ctr"/>
            <a:r>
              <a:rPr sz="7200" b="1" dirty="0">
                <a:solidFill>
                  <a:srgbClr val="FF4545"/>
                </a:solidFill>
              </a:rPr>
              <a:t>1,000+</a:t>
            </a:r>
          </a:p>
        </p:txBody>
      </p:sp>
      <p:sp>
        <p:nvSpPr>
          <p:cNvPr id="9" name="TextBox 8"/>
          <p:cNvSpPr txBox="1"/>
          <p:nvPr/>
        </p:nvSpPr>
        <p:spPr>
          <a:xfrm>
            <a:off x="365760" y="1901952"/>
            <a:ext cx="5212080" cy="548640"/>
          </a:xfrm>
          <a:prstGeom prst="rect">
            <a:avLst/>
          </a:prstGeom>
          <a:noFill/>
        </p:spPr>
        <p:txBody>
          <a:bodyPr wrap="square">
            <a:spAutoFit/>
          </a:bodyPr>
          <a:lstStyle/>
          <a:p>
            <a:pPr algn="ctr"/>
            <a:r>
              <a:rPr sz="1700" b="0" dirty="0">
                <a:solidFill>
                  <a:srgbClr val="FFAAAA"/>
                </a:solidFill>
              </a:rPr>
              <a:t>Pages per client document package</a:t>
            </a:r>
          </a:p>
        </p:txBody>
      </p:sp>
      <p:sp>
        <p:nvSpPr>
          <p:cNvPr id="10" name="TextBox 9"/>
          <p:cNvSpPr txBox="1"/>
          <p:nvPr/>
        </p:nvSpPr>
        <p:spPr>
          <a:xfrm>
            <a:off x="320040" y="2423160"/>
            <a:ext cx="5303520" cy="4160520"/>
          </a:xfrm>
          <a:prstGeom prst="rect">
            <a:avLst/>
          </a:prstGeom>
          <a:noFill/>
        </p:spPr>
        <p:txBody>
          <a:bodyPr wrap="square">
            <a:spAutoFit/>
          </a:bodyPr>
          <a:lstStyle/>
          <a:p>
            <a:pPr algn="l"/>
            <a:r>
              <a:rPr sz="1250">
                <a:solidFill>
                  <a:srgbClr val="FFCCCC"/>
                </a:solidFill>
              </a:rPr>
              <a:t>  Engineering &amp; technical documents run into hundreds or
   thousands of pages per project</a:t>
            </a:r>
          </a:p>
          <a:p>
            <a:endParaRPr sz="1250">
              <a:solidFill>
                <a:srgbClr val="FFCCCC"/>
              </a:solidFill>
            </a:endParaRPr>
          </a:p>
          <a:p>
            <a:pPr algn="l"/>
            <a:r>
              <a:rPr sz="1250">
                <a:solidFill>
                  <a:srgbClr val="DDAAAA"/>
                </a:solidFill>
              </a:rPr>
              <a:t>  Analysts and engineers must manually read, cross-reference
   and search through dense PDFs</a:t>
            </a:r>
          </a:p>
          <a:p>
            <a:endParaRPr sz="1250">
              <a:solidFill>
                <a:srgbClr val="DDAAAA"/>
              </a:solidFill>
            </a:endParaRPr>
          </a:p>
          <a:p>
            <a:pPr algn="l"/>
            <a:r>
              <a:rPr sz="1250">
                <a:solidFill>
                  <a:srgbClr val="DDAAAA"/>
                </a:solidFill>
              </a:rPr>
              <a:t>  Critical values — revision numbers, tag IDs, design parameters
   — buried deep inside tables and appendices</a:t>
            </a:r>
          </a:p>
          <a:p>
            <a:endParaRPr sz="1250">
              <a:solidFill>
                <a:srgbClr val="DDAAAA"/>
              </a:solidFill>
            </a:endParaRPr>
          </a:p>
          <a:p>
            <a:pPr algn="l"/>
            <a:r>
              <a:rPr sz="1250">
                <a:solidFill>
                  <a:srgbClr val="DDAAAA"/>
                </a:solidFill>
              </a:rPr>
              <a:t>  A single query may need data from multiple documents,
   multiple revisions, multiple sections</a:t>
            </a:r>
          </a:p>
          <a:p>
            <a:endParaRPr sz="1250">
              <a:solidFill>
                <a:srgbClr val="DDAAAA"/>
              </a:solidFill>
            </a:endParaRPr>
          </a:p>
          <a:p>
            <a:pPr algn="l"/>
            <a:r>
              <a:rPr sz="1250">
                <a:solidFill>
                  <a:srgbClr val="DDAAAA"/>
                </a:solidFill>
              </a:rPr>
              <a:t>  Hours or days spent per document review cycle;
   errors from manual extraction are costly</a:t>
            </a:r>
          </a:p>
          <a:p>
            <a:endParaRPr sz="1250">
              <a:solidFill>
                <a:srgbClr val="DDAAAA"/>
              </a:solidFill>
            </a:endParaRPr>
          </a:p>
          <a:p>
            <a:pPr algn="l"/>
            <a:r>
              <a:rPr sz="1250">
                <a:solidFill>
                  <a:srgbClr val="DDAAAA"/>
                </a:solidFill>
              </a:rPr>
              <a:t>  No way to instantly compare specs across revisions
   or extract answers without opening every file</a:t>
            </a:r>
          </a:p>
          <a:p>
            <a:endParaRPr sz="1250">
              <a:solidFill>
                <a:srgbClr val="DDAAAA"/>
              </a:solidFill>
            </a:endParaRPr>
          </a:p>
        </p:txBody>
      </p:sp>
      <p:sp>
        <p:nvSpPr>
          <p:cNvPr id="11" name="Rectangle 10"/>
          <p:cNvSpPr/>
          <p:nvPr/>
        </p:nvSpPr>
        <p:spPr>
          <a:xfrm>
            <a:off x="5943600" y="91440"/>
            <a:ext cx="54864" cy="6675120"/>
          </a:xfrm>
          <a:prstGeom prst="rect">
            <a:avLst/>
          </a:prstGeom>
          <a:solidFill>
            <a:srgbClr val="304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33872" y="3108960"/>
            <a:ext cx="274320" cy="548640"/>
          </a:xfrm>
          <a:prstGeom prst="rect">
            <a:avLst/>
          </a:prstGeom>
          <a:noFill/>
        </p:spPr>
        <p:txBody>
          <a:bodyPr wrap="square">
            <a:spAutoFit/>
          </a:bodyPr>
          <a:lstStyle/>
          <a:p>
            <a:pPr algn="ctr"/>
            <a:r>
              <a:rPr sz="1300" b="1">
                <a:solidFill>
                  <a:srgbClr val="A0B4FF"/>
                </a:solidFill>
              </a:rPr>
              <a:t>VS</a:t>
            </a:r>
          </a:p>
        </p:txBody>
      </p:sp>
      <p:sp>
        <p:nvSpPr>
          <p:cNvPr id="13" name="Rectangle 12"/>
          <p:cNvSpPr/>
          <p:nvPr/>
        </p:nvSpPr>
        <p:spPr>
          <a:xfrm>
            <a:off x="6126480" y="164592"/>
            <a:ext cx="5760720" cy="640080"/>
          </a:xfrm>
          <a:prstGeom prst="rect">
            <a:avLst/>
          </a:prstGeom>
          <a:solidFill>
            <a:srgbClr val="06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0" y="201168"/>
            <a:ext cx="5486400" cy="502920"/>
          </a:xfrm>
          <a:prstGeom prst="rect">
            <a:avLst/>
          </a:prstGeom>
          <a:noFill/>
        </p:spPr>
        <p:txBody>
          <a:bodyPr wrap="square">
            <a:spAutoFit/>
          </a:bodyPr>
          <a:lstStyle/>
          <a:p>
            <a:pPr algn="l"/>
            <a:r>
              <a:rPr sz="1900" b="1">
                <a:solidFill>
                  <a:srgbClr val="5B8DFF"/>
                </a:solidFill>
              </a:rPr>
              <a:t>THE SOLUTION  —  KavinBase</a:t>
            </a:r>
          </a:p>
        </p:txBody>
      </p:sp>
      <p:sp>
        <p:nvSpPr>
          <p:cNvPr id="15" name="Rectangle 14"/>
          <p:cNvSpPr/>
          <p:nvPr/>
        </p:nvSpPr>
        <p:spPr>
          <a:xfrm>
            <a:off x="6126480" y="896112"/>
            <a:ext cx="5760720" cy="1417320"/>
          </a:xfrm>
          <a:prstGeom prst="rect">
            <a:avLst/>
          </a:prstGeom>
          <a:solidFill>
            <a:srgbClr val="06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932688"/>
            <a:ext cx="5486400" cy="685800"/>
          </a:xfrm>
          <a:prstGeom prst="rect">
            <a:avLst/>
          </a:prstGeom>
          <a:noFill/>
        </p:spPr>
        <p:txBody>
          <a:bodyPr wrap="square">
            <a:spAutoFit/>
          </a:bodyPr>
          <a:lstStyle/>
          <a:p>
            <a:pPr algn="ctr"/>
            <a:r>
              <a:rPr sz="4200" b="1">
                <a:solidFill>
                  <a:srgbClr val="5B8DFF"/>
                </a:solidFill>
              </a:rPr>
              <a:t>Instant AI Answers</a:t>
            </a:r>
          </a:p>
        </p:txBody>
      </p:sp>
      <p:sp>
        <p:nvSpPr>
          <p:cNvPr id="17" name="TextBox 16"/>
          <p:cNvSpPr txBox="1"/>
          <p:nvPr/>
        </p:nvSpPr>
        <p:spPr>
          <a:xfrm>
            <a:off x="6217920" y="1627632"/>
            <a:ext cx="5486400" cy="548640"/>
          </a:xfrm>
          <a:prstGeom prst="rect">
            <a:avLst/>
          </a:prstGeom>
          <a:noFill/>
        </p:spPr>
        <p:txBody>
          <a:bodyPr wrap="square">
            <a:spAutoFit/>
          </a:bodyPr>
          <a:lstStyle/>
          <a:p>
            <a:pPr algn="ctr"/>
            <a:r>
              <a:rPr sz="1700" b="0">
                <a:solidFill>
                  <a:srgbClr val="A0B4FF"/>
                </a:solidFill>
              </a:rPr>
              <a:t>from any document — in seconds, not hours</a:t>
            </a:r>
          </a:p>
        </p:txBody>
      </p:sp>
      <p:sp>
        <p:nvSpPr>
          <p:cNvPr id="18" name="TextBox 17"/>
          <p:cNvSpPr txBox="1"/>
          <p:nvPr/>
        </p:nvSpPr>
        <p:spPr>
          <a:xfrm>
            <a:off x="6172200" y="2423160"/>
            <a:ext cx="5669280" cy="4160520"/>
          </a:xfrm>
          <a:prstGeom prst="rect">
            <a:avLst/>
          </a:prstGeom>
          <a:noFill/>
        </p:spPr>
        <p:txBody>
          <a:bodyPr wrap="square">
            <a:spAutoFit/>
          </a:bodyPr>
          <a:lstStyle/>
          <a:p>
            <a:pPr algn="l"/>
            <a:r>
              <a:rPr sz="1300" b="1">
                <a:solidFill>
                  <a:srgbClr val="4ADE80"/>
                </a:solidFill>
              </a:rPr>
              <a:t>  + Upload once</a:t>
            </a:r>
          </a:p>
          <a:p>
            <a:pPr algn="l"/>
            <a:r>
              <a:rPr sz="1150">
                <a:solidFill>
                  <a:srgbClr val="CCD6F1"/>
                </a:solidFill>
              </a:rPr>
              <a:t>  Index the entire 1000-page package into PGVector
     with BAAI/bge-m3 embeddings — one-time operation</a:t>
            </a:r>
          </a:p>
          <a:p>
            <a:endParaRPr sz="1150">
              <a:solidFill>
                <a:srgbClr val="CCD6F1"/>
              </a:solidFill>
            </a:endParaRPr>
          </a:p>
          <a:p>
            <a:pPr algn="l"/>
            <a:r>
              <a:rPr sz="1300" b="1">
                <a:solidFill>
                  <a:srgbClr val="4ADE80"/>
                </a:solidFill>
              </a:rPr>
              <a:t>  + Ask in plain English</a:t>
            </a:r>
          </a:p>
          <a:p>
            <a:pPr algn="l"/>
            <a:r>
              <a:rPr sz="1150">
                <a:solidFill>
                  <a:srgbClr val="CCD6F1"/>
                </a:solidFill>
              </a:rPr>
              <a:t>  "What is the revision number of document X?"
     "List all tag numbers in section 4" — answered instantly</a:t>
            </a:r>
          </a:p>
          <a:p>
            <a:endParaRPr sz="1150">
              <a:solidFill>
                <a:srgbClr val="CCD6F1"/>
              </a:solidFill>
            </a:endParaRPr>
          </a:p>
          <a:p>
            <a:pPr algn="l"/>
            <a:r>
              <a:rPr sz="1300" b="1">
                <a:solidFill>
                  <a:srgbClr val="4ADE80"/>
                </a:solidFill>
              </a:rPr>
              <a:t>  + Hybrid RAG retrieval</a:t>
            </a:r>
          </a:p>
          <a:p>
            <a:pPr algn="l"/>
            <a:r>
              <a:rPr sz="1150">
                <a:solidFill>
                  <a:srgbClr val="CCD6F1"/>
                </a:solidFill>
              </a:rPr>
              <a:t>  Semantic vector search + BM25 keyword + FlashRank
     reranker ensures the right passage is always found</a:t>
            </a:r>
          </a:p>
          <a:p>
            <a:endParaRPr sz="1150">
              <a:solidFill>
                <a:srgbClr val="CCD6F1"/>
              </a:solidFill>
            </a:endParaRPr>
          </a:p>
          <a:p>
            <a:pPr algn="l"/>
            <a:r>
              <a:rPr sz="1300" b="1">
                <a:solidFill>
                  <a:srgbClr val="4ADE80"/>
                </a:solidFill>
              </a:rPr>
              <a:t>  + Cite every answer</a:t>
            </a:r>
          </a:p>
          <a:p>
            <a:pPr algn="l"/>
            <a:r>
              <a:rPr sz="1150">
                <a:solidFill>
                  <a:srgbClr val="CCD6F1"/>
                </a:solidFill>
              </a:rPr>
              <a:t>  Every response includes page number + section source
     — traceable back to the original document</a:t>
            </a:r>
          </a:p>
          <a:p>
            <a:endParaRPr sz="1150">
              <a:solidFill>
                <a:srgbClr val="CCD6F1"/>
              </a:solidFill>
            </a:endParaRPr>
          </a:p>
          <a:p>
            <a:pPr algn="l"/>
            <a:r>
              <a:rPr sz="1300" b="1">
                <a:solidFill>
                  <a:srgbClr val="4ADE80"/>
                </a:solidFill>
              </a:rPr>
              <a:t>  + Multi-document queries</a:t>
            </a:r>
          </a:p>
          <a:p>
            <a:pPr algn="l"/>
            <a:r>
              <a:rPr sz="1150">
                <a:solidFill>
                  <a:srgbClr val="CCD6F1"/>
                </a:solidFill>
              </a:rPr>
              <a:t>  Cross-reference specs, drawings and datasheets
     in a single natural-language question</a:t>
            </a:r>
          </a:p>
          <a:p>
            <a:endParaRPr sz="1150">
              <a:solidFill>
                <a:srgbClr val="CCD6F1"/>
              </a:solidFill>
            </a:endParaRPr>
          </a:p>
          <a:p>
            <a:pPr algn="l"/>
            <a:r>
              <a:rPr sz="1300" b="1">
                <a:solidFill>
                  <a:srgbClr val="4ADE80"/>
                </a:solidFill>
              </a:rPr>
              <a:t>  + Agentic quality gate</a:t>
            </a:r>
          </a:p>
          <a:p>
            <a:pPr algn="l"/>
            <a:r>
              <a:rPr sz="1150">
                <a:solidFill>
                  <a:srgbClr val="CCD6F1"/>
                </a:solidFill>
              </a:rPr>
              <a:t>  Built-in agent pipeline verifies factual accuracy
     before presenting the answer — no hallucinations</a:t>
            </a:r>
          </a:p>
          <a:p>
            <a:endParaRPr sz="1150">
              <a:solidFill>
                <a:srgbClr val="CCD6F1"/>
              </a:solidFill>
            </a:endParaRPr>
          </a:p>
        </p:txBody>
      </p:sp>
      <p:sp>
        <p:nvSpPr>
          <p:cNvPr id="21" name="AutoShape 2" descr="KAVIN logo on blue gradient background">
            <a:extLst>
              <a:ext uri="{FF2B5EF4-FFF2-40B4-BE49-F238E27FC236}">
                <a16:creationId xmlns:a16="http://schemas.microsoft.com/office/drawing/2014/main" id="{88D2929F-667E-2F29-DCD2-7514685176A6}"/>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2" name="Picture 21">
            <a:extLst>
              <a:ext uri="{FF2B5EF4-FFF2-40B4-BE49-F238E27FC236}">
                <a16:creationId xmlns:a16="http://schemas.microsoft.com/office/drawing/2014/main" id="{FD330756-1977-7783-18EC-A0E42E4E6973}"/>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
        <p:nvSpPr>
          <p:cNvPr id="24" name="TextBox 23">
            <a:extLst>
              <a:ext uri="{FF2B5EF4-FFF2-40B4-BE49-F238E27FC236}">
                <a16:creationId xmlns:a16="http://schemas.microsoft.com/office/drawing/2014/main" id="{B95EFF6E-D80C-52C1-DAF7-F62C9A574EB0}"/>
              </a:ext>
            </a:extLst>
          </p:cNvPr>
          <p:cNvSpPr txBox="1"/>
          <p:nvPr/>
        </p:nvSpPr>
        <p:spPr>
          <a:xfrm>
            <a:off x="3024909" y="2715736"/>
            <a:ext cx="6142182" cy="1477328"/>
          </a:xfrm>
          <a:prstGeom prst="rect">
            <a:avLst/>
          </a:prstGeom>
          <a:noFill/>
        </p:spPr>
        <p:txBody>
          <a:bodyPr wrap="square">
            <a:spAutoFit/>
          </a:bodyPr>
          <a:lstStyle/>
          <a:p>
            <a:r>
              <a:rPr lang="en-US" dirty="0"/>
              <a:t>Today, engineering and technical document packages can run into 1,000 pages or more. People spend a lot of time manually reading, comparing revisions, and finding values hidden in tables or appendices. This causes delay and increases the chance of human error</a:t>
            </a:r>
            <a:endParaRPr lang="en-IN"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System Architecture Overview</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Hybrid Sync/Async Platform with Multi-Layer Persistence</a:t>
            </a:r>
          </a:p>
        </p:txBody>
      </p:sp>
      <p:sp>
        <p:nvSpPr>
          <p:cNvPr id="6" name="TextBox 5"/>
          <p:cNvSpPr txBox="1"/>
          <p:nvPr/>
        </p:nvSpPr>
        <p:spPr>
          <a:xfrm>
            <a:off x="365760" y="1188720"/>
            <a:ext cx="4991244" cy="3000821"/>
          </a:xfrm>
          <a:prstGeom prst="rect">
            <a:avLst/>
          </a:prstGeom>
          <a:noFill/>
        </p:spPr>
        <p:txBody>
          <a:bodyPr wrap="square">
            <a:spAutoFit/>
          </a:bodyPr>
          <a:lstStyle/>
          <a:p>
            <a:pPr algn="l"/>
            <a:r>
              <a:rPr sz="1350" dirty="0">
                <a:solidFill>
                  <a:srgbClr val="CCD6F1"/>
                </a:solidFill>
              </a:rPr>
              <a:t>  ⚡  </a:t>
            </a:r>
            <a:r>
              <a:rPr sz="1350" dirty="0" err="1">
                <a:solidFill>
                  <a:srgbClr val="CCD6F1"/>
                </a:solidFill>
              </a:rPr>
              <a:t>FastAPI</a:t>
            </a:r>
            <a:r>
              <a:rPr sz="1350" dirty="0">
                <a:solidFill>
                  <a:srgbClr val="CCD6F1"/>
                </a:solidFill>
              </a:rPr>
              <a:t> (Python) backend – REST + SSE streaming endpoints</a:t>
            </a:r>
          </a:p>
          <a:p>
            <a:pPr algn="l"/>
            <a:r>
              <a:rPr sz="1350" dirty="0">
                <a:solidFill>
                  <a:srgbClr val="CCD6F1"/>
                </a:solidFill>
              </a:rPr>
              <a:t>  🌐  Next.js 14 (TypeScript/React) frontend – real-time token streaming UI</a:t>
            </a:r>
          </a:p>
          <a:p>
            <a:pPr algn="l"/>
            <a:r>
              <a:rPr sz="1350" dirty="0">
                <a:solidFill>
                  <a:srgbClr val="CCD6F1"/>
                </a:solidFill>
              </a:rPr>
              <a:t>  🔄  Celery workers – asynchronous, CPU-intensive PDF ingestion tasks</a:t>
            </a:r>
          </a:p>
          <a:p>
            <a:pPr algn="l"/>
            <a:r>
              <a:rPr sz="1350" dirty="0">
                <a:solidFill>
                  <a:srgbClr val="CCD6F1"/>
                </a:solidFill>
              </a:rPr>
              <a:t>  🗃️   </a:t>
            </a:r>
            <a:r>
              <a:rPr sz="1350" dirty="0" err="1">
                <a:solidFill>
                  <a:srgbClr val="CCD6F1"/>
                </a:solidFill>
              </a:rPr>
              <a:t>MinIO</a:t>
            </a:r>
            <a:r>
              <a:rPr sz="1350" dirty="0">
                <a:solidFill>
                  <a:srgbClr val="CCD6F1"/>
                </a:solidFill>
              </a:rPr>
              <a:t> – S3-compatible object storage for raw PDFs &amp; binary blobs</a:t>
            </a:r>
          </a:p>
          <a:p>
            <a:pPr algn="l"/>
            <a:r>
              <a:rPr sz="1350" dirty="0">
                <a:solidFill>
                  <a:srgbClr val="CCD6F1"/>
                </a:solidFill>
              </a:rPr>
              <a:t>  🔢  PostgreSQL + </a:t>
            </a:r>
            <a:r>
              <a:rPr sz="1350" dirty="0" err="1">
                <a:solidFill>
                  <a:srgbClr val="CCD6F1"/>
                </a:solidFill>
              </a:rPr>
              <a:t>PGVector</a:t>
            </a:r>
            <a:r>
              <a:rPr sz="1350" dirty="0">
                <a:solidFill>
                  <a:srgbClr val="CCD6F1"/>
                </a:solidFill>
              </a:rPr>
              <a:t> – relational store + 1024-dim vector index (BGE-M3)</a:t>
            </a:r>
          </a:p>
          <a:p>
            <a:pPr algn="l"/>
            <a:r>
              <a:rPr sz="1350" dirty="0">
                <a:solidFill>
                  <a:srgbClr val="CCD6F1"/>
                </a:solidFill>
              </a:rPr>
              <a:t>  ⚡  Redis – session cache, streaming state broker, Celery task queue</a:t>
            </a:r>
          </a:p>
          <a:p>
            <a:pPr algn="l"/>
            <a:r>
              <a:rPr sz="1350" dirty="0">
                <a:solidFill>
                  <a:srgbClr val="CCD6F1"/>
                </a:solidFill>
              </a:rPr>
              <a:t>  🔑  JWT-based authentication with scoped role permissions</a:t>
            </a:r>
          </a:p>
          <a:p>
            <a:pPr algn="l"/>
            <a:r>
              <a:rPr sz="1350" dirty="0">
                <a:solidFill>
                  <a:srgbClr val="CCD6F1"/>
                </a:solidFill>
              </a:rPr>
              <a:t>  🏗️   Modular Python backends: rag/, </a:t>
            </a:r>
            <a:r>
              <a:rPr sz="1350" dirty="0" err="1">
                <a:solidFill>
                  <a:srgbClr val="CCD6F1"/>
                </a:solidFill>
              </a:rPr>
              <a:t>llm</a:t>
            </a:r>
            <a:r>
              <a:rPr sz="1350" dirty="0">
                <a:solidFill>
                  <a:srgbClr val="CCD6F1"/>
                </a:solidFill>
              </a:rPr>
              <a:t>/, auth/, memory/, queue/, storage/</a:t>
            </a:r>
          </a:p>
        </p:txBody>
      </p:sp>
      <p:pic>
        <p:nvPicPr>
          <p:cNvPr id="13" name="Picture 12">
            <a:extLst>
              <a:ext uri="{FF2B5EF4-FFF2-40B4-BE49-F238E27FC236}">
                <a16:creationId xmlns:a16="http://schemas.microsoft.com/office/drawing/2014/main" id="{A0AC7C77-99F6-B3FD-CCF9-B7D4AEE62D4E}"/>
              </a:ext>
            </a:extLst>
          </p:cNvPr>
          <p:cNvPicPr>
            <a:picLocks noChangeAspect="1"/>
          </p:cNvPicPr>
          <p:nvPr/>
        </p:nvPicPr>
        <p:blipFill>
          <a:blip r:embed="rId3"/>
          <a:srcRect l="7637" t="1770" r="6058" b="13569"/>
          <a:stretch>
            <a:fillRect/>
          </a:stretch>
        </p:blipFill>
        <p:spPr>
          <a:xfrm>
            <a:off x="6260667" y="1321262"/>
            <a:ext cx="5645006" cy="5221316"/>
          </a:xfrm>
          <a:prstGeom prst="rect">
            <a:avLst/>
          </a:prstGeom>
        </p:spPr>
      </p:pic>
      <p:pic>
        <p:nvPicPr>
          <p:cNvPr id="16" name="Picture 15">
            <a:extLst>
              <a:ext uri="{FF2B5EF4-FFF2-40B4-BE49-F238E27FC236}">
                <a16:creationId xmlns:a16="http://schemas.microsoft.com/office/drawing/2014/main" id="{16F4AAE7-2C11-76EA-4B6B-19285B8C3E90}"/>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9849658" cy="461665"/>
          </a:xfrm>
          <a:prstGeom prst="rect">
            <a:avLst/>
          </a:prstGeom>
          <a:noFill/>
        </p:spPr>
        <p:txBody>
          <a:bodyPr wrap="square">
            <a:spAutoFit/>
          </a:bodyPr>
          <a:lstStyle/>
          <a:p>
            <a:pPr algn="l"/>
            <a:r>
              <a:rPr sz="2400" b="1" dirty="0">
                <a:solidFill>
                  <a:srgbClr val="FFFFFF"/>
                </a:solidFill>
              </a:rPr>
              <a:t>RAG Type: Advanced Hybrid Multi-Lane Retrieval-Augmented </a:t>
            </a:r>
            <a:r>
              <a:rPr sz="2000" b="1" dirty="0">
                <a:solidFill>
                  <a:srgbClr val="FFFFFF"/>
                </a:solidFill>
              </a:rPr>
              <a:t>Generation</a:t>
            </a:r>
            <a:endParaRPr sz="2400" b="1" dirty="0">
              <a:solidFill>
                <a:srgbClr val="FFFFFF"/>
              </a:solidFill>
            </a:endParaRPr>
          </a:p>
        </p:txBody>
      </p:sp>
      <p:sp>
        <p:nvSpPr>
          <p:cNvPr id="5" name="TextBox 4"/>
          <p:cNvSpPr txBox="1"/>
          <p:nvPr/>
        </p:nvSpPr>
        <p:spPr>
          <a:xfrm>
            <a:off x="378028" y="555915"/>
            <a:ext cx="10972800" cy="320040"/>
          </a:xfrm>
          <a:prstGeom prst="rect">
            <a:avLst/>
          </a:prstGeom>
          <a:noFill/>
        </p:spPr>
        <p:txBody>
          <a:bodyPr wrap="square">
            <a:spAutoFit/>
          </a:bodyPr>
          <a:lstStyle/>
          <a:p>
            <a:pPr algn="l"/>
            <a:r>
              <a:rPr sz="1300" b="0" dirty="0">
                <a:solidFill>
                  <a:srgbClr val="DFE9FF"/>
                </a:solidFill>
              </a:rPr>
              <a:t>Semantic Vector Search + Keyword BM25 + Cross-Encoder Reranking + Parent Resolution</a:t>
            </a:r>
          </a:p>
        </p:txBody>
      </p:sp>
      <p:sp>
        <p:nvSpPr>
          <p:cNvPr id="6" name="Rectangle 5"/>
          <p:cNvSpPr/>
          <p:nvPr/>
        </p:nvSpPr>
        <p:spPr>
          <a:xfrm>
            <a:off x="274320" y="1143000"/>
            <a:ext cx="11612880" cy="502920"/>
          </a:xfrm>
          <a:prstGeom prst="rect">
            <a:avLst/>
          </a:prstGeom>
          <a:solidFill>
            <a:srgbClr val="1A2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1247120" cy="411480"/>
          </a:xfrm>
          <a:prstGeom prst="rect">
            <a:avLst/>
          </a:prstGeom>
          <a:noFill/>
        </p:spPr>
        <p:txBody>
          <a:bodyPr wrap="square">
            <a:spAutoFit/>
          </a:bodyPr>
          <a:lstStyle/>
          <a:p>
            <a:pPr algn="ctr"/>
            <a:r>
              <a:rPr sz="1350" b="1">
                <a:solidFill>
                  <a:srgbClr val="FFC040"/>
                </a:solidFill>
              </a:rPr>
              <a:t>RAG Architecture:  Hybrid Retrieval  ·  Multi-Lane Chunking  ·  Reciprocal Rank Fusion (RRF)  ·  FlashRank Cross-Encoder Reranker</a:t>
            </a:r>
          </a:p>
        </p:txBody>
      </p:sp>
      <p:sp>
        <p:nvSpPr>
          <p:cNvPr id="8" name="TextBox 7"/>
          <p:cNvSpPr txBox="1"/>
          <p:nvPr/>
        </p:nvSpPr>
        <p:spPr>
          <a:xfrm>
            <a:off x="274320" y="1737360"/>
            <a:ext cx="5669280" cy="2377440"/>
          </a:xfrm>
          <a:prstGeom prst="rect">
            <a:avLst/>
          </a:prstGeom>
          <a:noFill/>
        </p:spPr>
        <p:txBody>
          <a:bodyPr wrap="square">
            <a:spAutoFit/>
          </a:bodyPr>
          <a:lstStyle/>
          <a:p>
            <a:pPr algn="l"/>
            <a:r>
              <a:rPr sz="1150">
                <a:solidFill>
                  <a:srgbClr val="CCD6F1"/>
                </a:solidFill>
              </a:rPr>
              <a:t>  RETRIEVAL MODES (per query intent):</a:t>
            </a:r>
          </a:p>
          <a:p>
            <a:pPr algn="l"/>
            <a:r>
              <a:rPr sz="1150">
                <a:solidFill>
                  <a:srgbClr val="CCD6F1"/>
                </a:solidFill>
              </a:rPr>
              <a:t>   • Fast Mode     – vector-only, 14 candidates, no rerank</a:t>
            </a:r>
          </a:p>
          <a:p>
            <a:pPr algn="l"/>
            <a:r>
              <a:rPr sz="1150">
                <a:solidFill>
                  <a:srgbClr val="CCD6F1"/>
                </a:solidFill>
              </a:rPr>
              <a:t>   • Balanced Mode – vector + keyword, 25 candidates, RRF + FlashRank</a:t>
            </a:r>
          </a:p>
          <a:p>
            <a:pPr algn="l"/>
            <a:r>
              <a:rPr sz="1150">
                <a:solidFill>
                  <a:srgbClr val="CCD6F1"/>
                </a:solidFill>
              </a:rPr>
              <a:t>   • High-Fidelity – vector + BM25, 40 candidates, full reranking + parent</a:t>
            </a:r>
          </a:p>
          <a:p>
            <a:pPr algn="l"/>
            <a:r>
              <a:rPr sz="1150">
                <a:solidFill>
                  <a:srgbClr val="CCD6F1"/>
                </a:solidFill>
              </a:rPr>
              <a:t>  </a:t>
            </a:r>
          </a:p>
          <a:p>
            <a:pPr algn="l"/>
            <a:r>
              <a:rPr sz="1150">
                <a:solidFill>
                  <a:srgbClr val="CCD6F1"/>
                </a:solidFill>
              </a:rPr>
              <a:t>  MULTI-LANE CHUNK SEARCH:</a:t>
            </a:r>
          </a:p>
          <a:p>
            <a:pPr algn="l"/>
            <a:r>
              <a:rPr sz="1150">
                <a:solidFill>
                  <a:srgbClr val="CCD6F1"/>
                </a:solidFill>
              </a:rPr>
              <a:t>   • Separate lanes for: text, parent-table, image, child-row</a:t>
            </a:r>
          </a:p>
          <a:p>
            <a:pPr algn="l"/>
            <a:r>
              <a:rPr sz="1150">
                <a:solidFill>
                  <a:srgbClr val="CCD6F1"/>
                </a:solidFill>
              </a:rPr>
              <a:t>   • Lane budgets prevent child rows dominating results</a:t>
            </a:r>
          </a:p>
          <a:p>
            <a:pPr algn="l"/>
            <a:r>
              <a:rPr sz="1150">
                <a:solidFill>
                  <a:srgbClr val="CCD6F1"/>
                </a:solidFill>
              </a:rPr>
              <a:t>   • Parent resolution fetches full table when child chunk matches</a:t>
            </a:r>
          </a:p>
          <a:p>
            <a:pPr algn="l"/>
            <a:r>
              <a:rPr sz="1150">
                <a:solidFill>
                  <a:srgbClr val="CCD6F1"/>
                </a:solidFill>
              </a:rPr>
              <a:t>  </a:t>
            </a:r>
          </a:p>
          <a:p>
            <a:pPr algn="l"/>
            <a:r>
              <a:rPr sz="1150">
                <a:solidFill>
                  <a:srgbClr val="CCD6F1"/>
                </a:solidFill>
              </a:rPr>
              <a:t>  RECIPROCAL RANK FUSION (RRF k=60):</a:t>
            </a:r>
          </a:p>
          <a:p>
            <a:pPr algn="l"/>
            <a:r>
              <a:rPr sz="1150">
                <a:solidFill>
                  <a:srgbClr val="CCD6F1"/>
                </a:solidFill>
              </a:rPr>
              <a:t>   • Fuses vector similarity ranks + keyword BM25 ranks</a:t>
            </a:r>
          </a:p>
          <a:p>
            <a:pPr algn="l"/>
            <a:r>
              <a:rPr sz="1150">
                <a:solidFill>
                  <a:srgbClr val="CCD6F1"/>
                </a:solidFill>
              </a:rPr>
              <a:t>   • Score: 1/(k + rank_vector) + 1/(k + rank_keyword) + 0.01×kw_score</a:t>
            </a:r>
          </a:p>
        </p:txBody>
      </p:sp>
      <p:sp>
        <p:nvSpPr>
          <p:cNvPr id="9" name="TextBox 8"/>
          <p:cNvSpPr txBox="1"/>
          <p:nvPr/>
        </p:nvSpPr>
        <p:spPr>
          <a:xfrm>
            <a:off x="5759944" y="1696257"/>
            <a:ext cx="5760720" cy="2377440"/>
          </a:xfrm>
          <a:prstGeom prst="rect">
            <a:avLst/>
          </a:prstGeom>
          <a:noFill/>
        </p:spPr>
        <p:txBody>
          <a:bodyPr wrap="square">
            <a:spAutoFit/>
          </a:bodyPr>
          <a:lstStyle/>
          <a:p>
            <a:pPr algn="l"/>
            <a:r>
              <a:rPr sz="1150" dirty="0">
                <a:solidFill>
                  <a:srgbClr val="CCD6F1"/>
                </a:solidFill>
              </a:rPr>
              <a:t>  SCORING MULTIPLIERS (per chunk):</a:t>
            </a:r>
          </a:p>
          <a:p>
            <a:pPr algn="l"/>
            <a:r>
              <a:rPr sz="1150" dirty="0">
                <a:solidFill>
                  <a:srgbClr val="CCD6F1"/>
                </a:solidFill>
              </a:rPr>
              <a:t>   • Element type weight  (Title=1.0, </a:t>
            </a:r>
            <a:r>
              <a:rPr sz="1150" dirty="0" err="1">
                <a:solidFill>
                  <a:srgbClr val="CCD6F1"/>
                </a:solidFill>
              </a:rPr>
              <a:t>NarrativeText</a:t>
            </a:r>
            <a:r>
              <a:rPr sz="1150" dirty="0">
                <a:solidFill>
                  <a:srgbClr val="CCD6F1"/>
                </a:solidFill>
              </a:rPr>
              <a:t>=0.9, Table=0.6)</a:t>
            </a:r>
          </a:p>
          <a:p>
            <a:pPr algn="l"/>
            <a:r>
              <a:rPr sz="1150" dirty="0">
                <a:solidFill>
                  <a:srgbClr val="CCD6F1"/>
                </a:solidFill>
              </a:rPr>
              <a:t>   • Extraction source    (</a:t>
            </a:r>
            <a:r>
              <a:rPr sz="1150" dirty="0" err="1">
                <a:solidFill>
                  <a:srgbClr val="CCD6F1"/>
                </a:solidFill>
              </a:rPr>
              <a:t>PyMuPDF</a:t>
            </a:r>
            <a:r>
              <a:rPr sz="1150" dirty="0">
                <a:solidFill>
                  <a:srgbClr val="CCD6F1"/>
                </a:solidFill>
              </a:rPr>
              <a:t>=1.0, </a:t>
            </a:r>
            <a:r>
              <a:rPr sz="1150" dirty="0" err="1">
                <a:solidFill>
                  <a:srgbClr val="CCD6F1"/>
                </a:solidFill>
              </a:rPr>
              <a:t>Docling</a:t>
            </a:r>
            <a:r>
              <a:rPr sz="1150" dirty="0">
                <a:solidFill>
                  <a:srgbClr val="CCD6F1"/>
                </a:solidFill>
              </a:rPr>
              <a:t>=0.9, Unstructured=0.8)</a:t>
            </a:r>
          </a:p>
          <a:p>
            <a:pPr algn="l"/>
            <a:r>
              <a:rPr sz="1150" dirty="0">
                <a:solidFill>
                  <a:srgbClr val="CCD6F1"/>
                </a:solidFill>
              </a:rPr>
              <a:t>   • Quality score        (0.55 – 1.0 range)</a:t>
            </a:r>
          </a:p>
          <a:p>
            <a:pPr algn="l"/>
            <a:r>
              <a:rPr sz="1150" dirty="0">
                <a:solidFill>
                  <a:srgbClr val="CCD6F1"/>
                </a:solidFill>
              </a:rPr>
              <a:t>   • OCR noise penalty    (×0.6 if OCR used)</a:t>
            </a:r>
          </a:p>
          <a:p>
            <a:pPr algn="l"/>
            <a:r>
              <a:rPr sz="1150" dirty="0">
                <a:solidFill>
                  <a:srgbClr val="CCD6F1"/>
                </a:solidFill>
              </a:rPr>
              <a:t>   • Section-query overlap boost  (up to +8%)</a:t>
            </a:r>
          </a:p>
          <a:p>
            <a:pPr algn="l"/>
            <a:r>
              <a:rPr sz="1150" dirty="0">
                <a:solidFill>
                  <a:srgbClr val="CCD6F1"/>
                </a:solidFill>
              </a:rPr>
              <a:t>  </a:t>
            </a:r>
          </a:p>
          <a:p>
            <a:pPr algn="l"/>
            <a:r>
              <a:rPr sz="1150" dirty="0">
                <a:solidFill>
                  <a:srgbClr val="CCD6F1"/>
                </a:solidFill>
              </a:rPr>
              <a:t>  RERANKER: </a:t>
            </a:r>
            <a:r>
              <a:rPr sz="1150" dirty="0" err="1">
                <a:solidFill>
                  <a:srgbClr val="CCD6F1"/>
                </a:solidFill>
              </a:rPr>
              <a:t>FlashRank</a:t>
            </a:r>
            <a:r>
              <a:rPr sz="1150" dirty="0">
                <a:solidFill>
                  <a:srgbClr val="CCD6F1"/>
                </a:solidFill>
              </a:rPr>
              <a:t> (ms-marco-MiniLM-L-12-v2)</a:t>
            </a:r>
          </a:p>
          <a:p>
            <a:pPr algn="l"/>
            <a:r>
              <a:rPr sz="1150" dirty="0">
                <a:solidFill>
                  <a:srgbClr val="CCD6F1"/>
                </a:solidFill>
              </a:rPr>
              <a:t>   • Cross-encoder re-scores top candidates</a:t>
            </a:r>
          </a:p>
          <a:p>
            <a:pPr algn="l"/>
            <a:r>
              <a:rPr sz="1150" dirty="0">
                <a:solidFill>
                  <a:srgbClr val="CCD6F1"/>
                </a:solidFill>
              </a:rPr>
              <a:t>   • Final score = max(</a:t>
            </a:r>
            <a:r>
              <a:rPr sz="1150" dirty="0" err="1">
                <a:solidFill>
                  <a:srgbClr val="CCD6F1"/>
                </a:solidFill>
              </a:rPr>
              <a:t>rerank×multiplier</a:t>
            </a:r>
            <a:r>
              <a:rPr sz="1150" dirty="0">
                <a:solidFill>
                  <a:srgbClr val="CCD6F1"/>
                </a:solidFill>
              </a:rPr>
              <a:t>, </a:t>
            </a:r>
            <a:r>
              <a:rPr sz="1150" dirty="0" err="1">
                <a:solidFill>
                  <a:srgbClr val="CCD6F1"/>
                </a:solidFill>
              </a:rPr>
              <a:t>retrieval_score</a:t>
            </a:r>
            <a:r>
              <a:rPr sz="1150" dirty="0">
                <a:solidFill>
                  <a:srgbClr val="CCD6F1"/>
                </a:solidFill>
              </a:rPr>
              <a:t>)</a:t>
            </a:r>
          </a:p>
          <a:p>
            <a:pPr algn="l"/>
            <a:r>
              <a:rPr sz="1150" dirty="0">
                <a:solidFill>
                  <a:srgbClr val="CCD6F1"/>
                </a:solidFill>
              </a:rPr>
              <a:t>  </a:t>
            </a:r>
          </a:p>
          <a:p>
            <a:pPr algn="l"/>
            <a:r>
              <a:rPr sz="1150" dirty="0">
                <a:solidFill>
                  <a:srgbClr val="CCD6F1"/>
                </a:solidFill>
              </a:rPr>
              <a:t>  VECTOR DB: PostgreSQL </a:t>
            </a:r>
            <a:r>
              <a:rPr sz="1150" dirty="0" err="1">
                <a:solidFill>
                  <a:srgbClr val="CCD6F1"/>
                </a:solidFill>
              </a:rPr>
              <a:t>PGVector</a:t>
            </a:r>
            <a:endParaRPr sz="1150" dirty="0">
              <a:solidFill>
                <a:srgbClr val="CCD6F1"/>
              </a:solidFill>
            </a:endParaRPr>
          </a:p>
          <a:p>
            <a:pPr algn="l"/>
            <a:r>
              <a:rPr sz="1150" dirty="0">
                <a:solidFill>
                  <a:srgbClr val="CCD6F1"/>
                </a:solidFill>
              </a:rPr>
              <a:t>   • Embedding: BAAI/bge-m3 (1024-dim)</a:t>
            </a:r>
          </a:p>
          <a:p>
            <a:pPr algn="l"/>
            <a:r>
              <a:rPr sz="1150" dirty="0">
                <a:solidFill>
                  <a:srgbClr val="CCD6F1"/>
                </a:solidFill>
              </a:rPr>
              <a:t>   • Metadata-filtered </a:t>
            </a:r>
            <a:r>
              <a:rPr sz="1150" dirty="0" err="1">
                <a:solidFill>
                  <a:srgbClr val="CCD6F1"/>
                </a:solidFill>
              </a:rPr>
              <a:t>similarity_search</a:t>
            </a:r>
            <a:r>
              <a:rPr sz="1150" dirty="0">
                <a:solidFill>
                  <a:srgbClr val="CCD6F1"/>
                </a:solidFill>
              </a:rPr>
              <a:t> per collection</a:t>
            </a:r>
          </a:p>
        </p:txBody>
      </p:sp>
      <p:sp>
        <p:nvSpPr>
          <p:cNvPr id="12" name="AutoShape 4" descr="Hybrid RAG system architecture flowchart">
            <a:extLst>
              <a:ext uri="{FF2B5EF4-FFF2-40B4-BE49-F238E27FC236}">
                <a16:creationId xmlns:a16="http://schemas.microsoft.com/office/drawing/2014/main" id="{19BAA45F-7689-3954-A4F0-2B34C771CA7F}"/>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B5D2B875-D657-6623-F0A0-E867854707F7}"/>
              </a:ext>
            </a:extLst>
          </p:cNvPr>
          <p:cNvPicPr>
            <a:picLocks noChangeAspect="1"/>
          </p:cNvPicPr>
          <p:nvPr/>
        </p:nvPicPr>
        <p:blipFill>
          <a:blip r:embed="rId3"/>
          <a:srcRect l="2547" t="3435" r="2189" b="25859"/>
          <a:stretch>
            <a:fillRect/>
          </a:stretch>
        </p:blipFill>
        <p:spPr>
          <a:xfrm>
            <a:off x="429895" y="1782850"/>
            <a:ext cx="11457305" cy="4818148"/>
          </a:xfrm>
          <a:prstGeom prst="rect">
            <a:avLst/>
          </a:prstGeom>
        </p:spPr>
      </p:pic>
      <p:pic>
        <p:nvPicPr>
          <p:cNvPr id="16" name="Picture 15">
            <a:extLst>
              <a:ext uri="{FF2B5EF4-FFF2-40B4-BE49-F238E27FC236}">
                <a16:creationId xmlns:a16="http://schemas.microsoft.com/office/drawing/2014/main" id="{4B3010DD-0E9F-812D-F2AE-13C0F393168E}"/>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F40EC-C8EE-0E34-EEFC-AF0848DD6E4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8FAFFC-C5D0-7578-A51A-98AB62983657}"/>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3E3C388-CAA9-9E48-EE3B-0C107AC9A35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04BE6C7-5266-AA8C-2EFB-3FCD8188C21E}"/>
              </a:ext>
            </a:extLst>
          </p:cNvPr>
          <p:cNvSpPr txBox="1"/>
          <p:nvPr/>
        </p:nvSpPr>
        <p:spPr>
          <a:xfrm>
            <a:off x="365760" y="109728"/>
            <a:ext cx="9277004" cy="461665"/>
          </a:xfrm>
          <a:prstGeom prst="rect">
            <a:avLst/>
          </a:prstGeom>
          <a:noFill/>
        </p:spPr>
        <p:txBody>
          <a:bodyPr wrap="square">
            <a:spAutoFit/>
          </a:bodyPr>
          <a:lstStyle/>
          <a:p>
            <a:pPr algn="l"/>
            <a:r>
              <a:rPr sz="2400" b="1" dirty="0">
                <a:solidFill>
                  <a:srgbClr val="FFFFFF"/>
                </a:solidFill>
              </a:rPr>
              <a:t>RAG Type: Advanced Hybrid Multi-Lane Retrieval-Augmented </a:t>
            </a:r>
            <a:r>
              <a:rPr sz="2000" b="1" dirty="0">
                <a:solidFill>
                  <a:srgbClr val="FFFFFF"/>
                </a:solidFill>
              </a:rPr>
              <a:t>Generation</a:t>
            </a:r>
            <a:endParaRPr sz="2400" b="1" dirty="0">
              <a:solidFill>
                <a:srgbClr val="FFFFFF"/>
              </a:solidFill>
            </a:endParaRPr>
          </a:p>
        </p:txBody>
      </p:sp>
      <p:sp>
        <p:nvSpPr>
          <p:cNvPr id="5" name="TextBox 4">
            <a:extLst>
              <a:ext uri="{FF2B5EF4-FFF2-40B4-BE49-F238E27FC236}">
                <a16:creationId xmlns:a16="http://schemas.microsoft.com/office/drawing/2014/main" id="{0A23F205-5C38-14C7-36E0-78E9B3201EBF}"/>
              </a:ext>
            </a:extLst>
          </p:cNvPr>
          <p:cNvSpPr txBox="1"/>
          <p:nvPr/>
        </p:nvSpPr>
        <p:spPr>
          <a:xfrm>
            <a:off x="365760" y="657521"/>
            <a:ext cx="10972800" cy="320040"/>
          </a:xfrm>
          <a:prstGeom prst="rect">
            <a:avLst/>
          </a:prstGeom>
          <a:noFill/>
        </p:spPr>
        <p:txBody>
          <a:bodyPr wrap="square">
            <a:spAutoFit/>
          </a:bodyPr>
          <a:lstStyle/>
          <a:p>
            <a:pPr algn="l"/>
            <a:r>
              <a:rPr sz="1300" b="0" dirty="0">
                <a:solidFill>
                  <a:srgbClr val="DFE9FF"/>
                </a:solidFill>
              </a:rPr>
              <a:t>Semantic Vector Search + Keyword BM25 + Cross-Encoder Reranking + Parent Resolution</a:t>
            </a:r>
          </a:p>
        </p:txBody>
      </p:sp>
      <p:sp>
        <p:nvSpPr>
          <p:cNvPr id="6" name="Rectangle 5">
            <a:extLst>
              <a:ext uri="{FF2B5EF4-FFF2-40B4-BE49-F238E27FC236}">
                <a16:creationId xmlns:a16="http://schemas.microsoft.com/office/drawing/2014/main" id="{8CB8F72B-F120-BA94-1C66-CFCB18CB9C1E}"/>
              </a:ext>
            </a:extLst>
          </p:cNvPr>
          <p:cNvSpPr/>
          <p:nvPr/>
        </p:nvSpPr>
        <p:spPr>
          <a:xfrm>
            <a:off x="274320" y="1143000"/>
            <a:ext cx="11612880" cy="502920"/>
          </a:xfrm>
          <a:prstGeom prst="rect">
            <a:avLst/>
          </a:prstGeom>
          <a:solidFill>
            <a:srgbClr val="1A2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7FB9B21-FF5A-BECD-2067-D33EF585A712}"/>
              </a:ext>
            </a:extLst>
          </p:cNvPr>
          <p:cNvSpPr txBox="1"/>
          <p:nvPr/>
        </p:nvSpPr>
        <p:spPr>
          <a:xfrm>
            <a:off x="457200" y="1188720"/>
            <a:ext cx="11247120" cy="411480"/>
          </a:xfrm>
          <a:prstGeom prst="rect">
            <a:avLst/>
          </a:prstGeom>
          <a:noFill/>
        </p:spPr>
        <p:txBody>
          <a:bodyPr wrap="square">
            <a:spAutoFit/>
          </a:bodyPr>
          <a:lstStyle/>
          <a:p>
            <a:pPr algn="ctr"/>
            <a:r>
              <a:rPr sz="1350" b="1">
                <a:solidFill>
                  <a:srgbClr val="FFC040"/>
                </a:solidFill>
              </a:rPr>
              <a:t>RAG Architecture:  Hybrid Retrieval  ·  Multi-Lane Chunking  ·  Reciprocal Rank Fusion (RRF)  ·  FlashRank Cross-Encoder Reranker</a:t>
            </a:r>
          </a:p>
        </p:txBody>
      </p:sp>
      <p:sp>
        <p:nvSpPr>
          <p:cNvPr id="8" name="TextBox 7">
            <a:extLst>
              <a:ext uri="{FF2B5EF4-FFF2-40B4-BE49-F238E27FC236}">
                <a16:creationId xmlns:a16="http://schemas.microsoft.com/office/drawing/2014/main" id="{F91C5D03-B6E6-25CE-0473-A8E5CB6BD636}"/>
              </a:ext>
            </a:extLst>
          </p:cNvPr>
          <p:cNvSpPr txBox="1"/>
          <p:nvPr/>
        </p:nvSpPr>
        <p:spPr>
          <a:xfrm>
            <a:off x="274320" y="1737360"/>
            <a:ext cx="5669280" cy="2377440"/>
          </a:xfrm>
          <a:prstGeom prst="rect">
            <a:avLst/>
          </a:prstGeom>
          <a:noFill/>
        </p:spPr>
        <p:txBody>
          <a:bodyPr wrap="square">
            <a:spAutoFit/>
          </a:bodyPr>
          <a:lstStyle/>
          <a:p>
            <a:pPr algn="l"/>
            <a:r>
              <a:rPr sz="1150" dirty="0">
                <a:solidFill>
                  <a:srgbClr val="CCD6F1"/>
                </a:solidFill>
              </a:rPr>
              <a:t>  RETRIEVAL MODES (per query intent):</a:t>
            </a:r>
          </a:p>
          <a:p>
            <a:pPr algn="l"/>
            <a:r>
              <a:rPr sz="1150" dirty="0">
                <a:solidFill>
                  <a:srgbClr val="CCD6F1"/>
                </a:solidFill>
              </a:rPr>
              <a:t>   • Fast Mode     – vector-only, 14 candidates, no </a:t>
            </a:r>
            <a:r>
              <a:rPr sz="1150" dirty="0" err="1">
                <a:solidFill>
                  <a:srgbClr val="CCD6F1"/>
                </a:solidFill>
              </a:rPr>
              <a:t>rerank</a:t>
            </a:r>
            <a:endParaRPr sz="1150" dirty="0">
              <a:solidFill>
                <a:srgbClr val="CCD6F1"/>
              </a:solidFill>
            </a:endParaRPr>
          </a:p>
          <a:p>
            <a:pPr algn="l"/>
            <a:r>
              <a:rPr sz="1150" dirty="0">
                <a:solidFill>
                  <a:srgbClr val="CCD6F1"/>
                </a:solidFill>
              </a:rPr>
              <a:t>   • Balanced Mode – vector + keyword, 25 candidates, RRF + </a:t>
            </a:r>
            <a:r>
              <a:rPr sz="1150" dirty="0" err="1">
                <a:solidFill>
                  <a:srgbClr val="CCD6F1"/>
                </a:solidFill>
              </a:rPr>
              <a:t>FlashRank</a:t>
            </a:r>
            <a:endParaRPr sz="1150" dirty="0">
              <a:solidFill>
                <a:srgbClr val="CCD6F1"/>
              </a:solidFill>
            </a:endParaRPr>
          </a:p>
          <a:p>
            <a:pPr algn="l"/>
            <a:r>
              <a:rPr sz="1150" dirty="0">
                <a:solidFill>
                  <a:srgbClr val="CCD6F1"/>
                </a:solidFill>
              </a:rPr>
              <a:t>   • High-Fidelity – vector + BM25, 40 candidates, full reranking + parent</a:t>
            </a:r>
          </a:p>
          <a:p>
            <a:pPr algn="l"/>
            <a:r>
              <a:rPr sz="1150" dirty="0">
                <a:solidFill>
                  <a:srgbClr val="CCD6F1"/>
                </a:solidFill>
              </a:rPr>
              <a:t>  </a:t>
            </a:r>
          </a:p>
          <a:p>
            <a:pPr algn="l"/>
            <a:r>
              <a:rPr sz="1150" dirty="0">
                <a:solidFill>
                  <a:srgbClr val="CCD6F1"/>
                </a:solidFill>
              </a:rPr>
              <a:t>  MULTI-LANE CHUNK SEARCH:</a:t>
            </a:r>
          </a:p>
          <a:p>
            <a:pPr algn="l"/>
            <a:r>
              <a:rPr sz="1150" dirty="0">
                <a:solidFill>
                  <a:srgbClr val="CCD6F1"/>
                </a:solidFill>
              </a:rPr>
              <a:t>   • Separate lanes for: text, parent-table, image, child-row</a:t>
            </a:r>
          </a:p>
          <a:p>
            <a:pPr algn="l"/>
            <a:r>
              <a:rPr sz="1150" dirty="0">
                <a:solidFill>
                  <a:srgbClr val="CCD6F1"/>
                </a:solidFill>
              </a:rPr>
              <a:t>   • Lane budgets prevent child rows dominating results</a:t>
            </a:r>
          </a:p>
          <a:p>
            <a:pPr algn="l"/>
            <a:r>
              <a:rPr sz="1150" dirty="0">
                <a:solidFill>
                  <a:srgbClr val="CCD6F1"/>
                </a:solidFill>
              </a:rPr>
              <a:t>   • Parent resolution fetches full table when child chunk matches</a:t>
            </a:r>
          </a:p>
          <a:p>
            <a:pPr algn="l"/>
            <a:r>
              <a:rPr sz="1150" dirty="0">
                <a:solidFill>
                  <a:srgbClr val="CCD6F1"/>
                </a:solidFill>
              </a:rPr>
              <a:t>  </a:t>
            </a:r>
          </a:p>
          <a:p>
            <a:pPr algn="l"/>
            <a:r>
              <a:rPr sz="1150" dirty="0">
                <a:solidFill>
                  <a:srgbClr val="CCD6F1"/>
                </a:solidFill>
              </a:rPr>
              <a:t>  RECIPROCAL RANK FUSION (RRF k=60):</a:t>
            </a:r>
          </a:p>
          <a:p>
            <a:pPr algn="l"/>
            <a:r>
              <a:rPr sz="1150" dirty="0">
                <a:solidFill>
                  <a:srgbClr val="CCD6F1"/>
                </a:solidFill>
              </a:rPr>
              <a:t>   • Fuses vector similarity ranks + keyword BM25 ranks</a:t>
            </a:r>
          </a:p>
          <a:p>
            <a:pPr algn="l"/>
            <a:r>
              <a:rPr sz="1150" dirty="0">
                <a:solidFill>
                  <a:srgbClr val="CCD6F1"/>
                </a:solidFill>
              </a:rPr>
              <a:t>   • Score: 1/(k + </a:t>
            </a:r>
            <a:r>
              <a:rPr sz="1150" dirty="0" err="1">
                <a:solidFill>
                  <a:srgbClr val="CCD6F1"/>
                </a:solidFill>
              </a:rPr>
              <a:t>rank_vector</a:t>
            </a:r>
            <a:r>
              <a:rPr sz="1150" dirty="0">
                <a:solidFill>
                  <a:srgbClr val="CCD6F1"/>
                </a:solidFill>
              </a:rPr>
              <a:t>) + 1/(k + </a:t>
            </a:r>
            <a:r>
              <a:rPr sz="1150" dirty="0" err="1">
                <a:solidFill>
                  <a:srgbClr val="CCD6F1"/>
                </a:solidFill>
              </a:rPr>
              <a:t>rank_keyword</a:t>
            </a:r>
            <a:r>
              <a:rPr sz="1150" dirty="0">
                <a:solidFill>
                  <a:srgbClr val="CCD6F1"/>
                </a:solidFill>
              </a:rPr>
              <a:t>) + 0.01×kw_score</a:t>
            </a:r>
          </a:p>
        </p:txBody>
      </p:sp>
      <p:sp>
        <p:nvSpPr>
          <p:cNvPr id="9" name="TextBox 8">
            <a:extLst>
              <a:ext uri="{FF2B5EF4-FFF2-40B4-BE49-F238E27FC236}">
                <a16:creationId xmlns:a16="http://schemas.microsoft.com/office/drawing/2014/main" id="{884F22A9-0444-C5BE-6997-5D0797102EEE}"/>
              </a:ext>
            </a:extLst>
          </p:cNvPr>
          <p:cNvSpPr txBox="1"/>
          <p:nvPr/>
        </p:nvSpPr>
        <p:spPr>
          <a:xfrm>
            <a:off x="5759944" y="1696257"/>
            <a:ext cx="5760720" cy="2377440"/>
          </a:xfrm>
          <a:prstGeom prst="rect">
            <a:avLst/>
          </a:prstGeom>
          <a:noFill/>
        </p:spPr>
        <p:txBody>
          <a:bodyPr wrap="square">
            <a:spAutoFit/>
          </a:bodyPr>
          <a:lstStyle/>
          <a:p>
            <a:pPr algn="l"/>
            <a:r>
              <a:rPr sz="1150" dirty="0">
                <a:solidFill>
                  <a:srgbClr val="CCD6F1"/>
                </a:solidFill>
              </a:rPr>
              <a:t>  SCORING MULTIPLIERS (per chunk):</a:t>
            </a:r>
          </a:p>
          <a:p>
            <a:pPr algn="l"/>
            <a:r>
              <a:rPr sz="1150" dirty="0">
                <a:solidFill>
                  <a:srgbClr val="CCD6F1"/>
                </a:solidFill>
              </a:rPr>
              <a:t>   • Element type weight  (Title=1.0, </a:t>
            </a:r>
            <a:r>
              <a:rPr sz="1150" dirty="0" err="1">
                <a:solidFill>
                  <a:srgbClr val="CCD6F1"/>
                </a:solidFill>
              </a:rPr>
              <a:t>NarrativeText</a:t>
            </a:r>
            <a:r>
              <a:rPr sz="1150" dirty="0">
                <a:solidFill>
                  <a:srgbClr val="CCD6F1"/>
                </a:solidFill>
              </a:rPr>
              <a:t>=0.9, Table=0.6)</a:t>
            </a:r>
          </a:p>
          <a:p>
            <a:pPr algn="l"/>
            <a:r>
              <a:rPr sz="1150" dirty="0">
                <a:solidFill>
                  <a:srgbClr val="CCD6F1"/>
                </a:solidFill>
              </a:rPr>
              <a:t>   • Extraction source    (</a:t>
            </a:r>
            <a:r>
              <a:rPr sz="1150" dirty="0" err="1">
                <a:solidFill>
                  <a:srgbClr val="CCD6F1"/>
                </a:solidFill>
              </a:rPr>
              <a:t>PyMuPDF</a:t>
            </a:r>
            <a:r>
              <a:rPr sz="1150" dirty="0">
                <a:solidFill>
                  <a:srgbClr val="CCD6F1"/>
                </a:solidFill>
              </a:rPr>
              <a:t>=1.0, </a:t>
            </a:r>
            <a:r>
              <a:rPr sz="1150" dirty="0" err="1">
                <a:solidFill>
                  <a:srgbClr val="CCD6F1"/>
                </a:solidFill>
              </a:rPr>
              <a:t>Docling</a:t>
            </a:r>
            <a:r>
              <a:rPr sz="1150" dirty="0">
                <a:solidFill>
                  <a:srgbClr val="CCD6F1"/>
                </a:solidFill>
              </a:rPr>
              <a:t>=0.9, Unstructured=0.8)</a:t>
            </a:r>
          </a:p>
          <a:p>
            <a:pPr algn="l"/>
            <a:r>
              <a:rPr sz="1150" dirty="0">
                <a:solidFill>
                  <a:srgbClr val="CCD6F1"/>
                </a:solidFill>
              </a:rPr>
              <a:t>   • Quality score        (0.55 – 1.0 range)</a:t>
            </a:r>
          </a:p>
          <a:p>
            <a:pPr algn="l"/>
            <a:r>
              <a:rPr sz="1150" dirty="0">
                <a:solidFill>
                  <a:srgbClr val="CCD6F1"/>
                </a:solidFill>
              </a:rPr>
              <a:t>   • OCR noise penalty    (×0.6 if OCR used)</a:t>
            </a:r>
          </a:p>
          <a:p>
            <a:pPr algn="l"/>
            <a:r>
              <a:rPr sz="1150" dirty="0">
                <a:solidFill>
                  <a:srgbClr val="CCD6F1"/>
                </a:solidFill>
              </a:rPr>
              <a:t>   • Section-query overlap boost  (up to +8%)</a:t>
            </a:r>
          </a:p>
          <a:p>
            <a:pPr algn="l"/>
            <a:r>
              <a:rPr sz="1150" dirty="0">
                <a:solidFill>
                  <a:srgbClr val="CCD6F1"/>
                </a:solidFill>
              </a:rPr>
              <a:t>  </a:t>
            </a:r>
          </a:p>
          <a:p>
            <a:pPr algn="l"/>
            <a:r>
              <a:rPr sz="1150" dirty="0">
                <a:solidFill>
                  <a:srgbClr val="CCD6F1"/>
                </a:solidFill>
              </a:rPr>
              <a:t>  RERANKER: </a:t>
            </a:r>
            <a:r>
              <a:rPr sz="1150" dirty="0" err="1">
                <a:solidFill>
                  <a:srgbClr val="CCD6F1"/>
                </a:solidFill>
              </a:rPr>
              <a:t>FlashRank</a:t>
            </a:r>
            <a:r>
              <a:rPr sz="1150" dirty="0">
                <a:solidFill>
                  <a:srgbClr val="CCD6F1"/>
                </a:solidFill>
              </a:rPr>
              <a:t> (ms-marco-MiniLM-L-12-v2)</a:t>
            </a:r>
          </a:p>
          <a:p>
            <a:pPr algn="l"/>
            <a:r>
              <a:rPr sz="1150" dirty="0">
                <a:solidFill>
                  <a:srgbClr val="CCD6F1"/>
                </a:solidFill>
              </a:rPr>
              <a:t>   • Cross-encoder re-scores top candidates</a:t>
            </a:r>
          </a:p>
          <a:p>
            <a:pPr algn="l"/>
            <a:r>
              <a:rPr sz="1150" dirty="0">
                <a:solidFill>
                  <a:srgbClr val="CCD6F1"/>
                </a:solidFill>
              </a:rPr>
              <a:t>   • Final score = max(</a:t>
            </a:r>
            <a:r>
              <a:rPr sz="1150" dirty="0" err="1">
                <a:solidFill>
                  <a:srgbClr val="CCD6F1"/>
                </a:solidFill>
              </a:rPr>
              <a:t>rerank×multiplier</a:t>
            </a:r>
            <a:r>
              <a:rPr sz="1150" dirty="0">
                <a:solidFill>
                  <a:srgbClr val="CCD6F1"/>
                </a:solidFill>
              </a:rPr>
              <a:t>, </a:t>
            </a:r>
            <a:r>
              <a:rPr sz="1150" dirty="0" err="1">
                <a:solidFill>
                  <a:srgbClr val="CCD6F1"/>
                </a:solidFill>
              </a:rPr>
              <a:t>retrieval_score</a:t>
            </a:r>
            <a:r>
              <a:rPr sz="1150" dirty="0">
                <a:solidFill>
                  <a:srgbClr val="CCD6F1"/>
                </a:solidFill>
              </a:rPr>
              <a:t>)</a:t>
            </a:r>
          </a:p>
          <a:p>
            <a:pPr algn="l"/>
            <a:r>
              <a:rPr sz="1150" dirty="0">
                <a:solidFill>
                  <a:srgbClr val="CCD6F1"/>
                </a:solidFill>
              </a:rPr>
              <a:t>  </a:t>
            </a:r>
          </a:p>
          <a:p>
            <a:pPr algn="l"/>
            <a:r>
              <a:rPr sz="1150" dirty="0">
                <a:solidFill>
                  <a:srgbClr val="CCD6F1"/>
                </a:solidFill>
              </a:rPr>
              <a:t>  VECTOR DB: PostgreSQL </a:t>
            </a:r>
            <a:r>
              <a:rPr sz="1150" dirty="0" err="1">
                <a:solidFill>
                  <a:srgbClr val="CCD6F1"/>
                </a:solidFill>
              </a:rPr>
              <a:t>PGVector</a:t>
            </a:r>
            <a:endParaRPr sz="1150" dirty="0">
              <a:solidFill>
                <a:srgbClr val="CCD6F1"/>
              </a:solidFill>
            </a:endParaRPr>
          </a:p>
          <a:p>
            <a:pPr algn="l"/>
            <a:r>
              <a:rPr sz="1150" dirty="0">
                <a:solidFill>
                  <a:srgbClr val="CCD6F1"/>
                </a:solidFill>
              </a:rPr>
              <a:t>   • Embedding: BAAI/bge-m3 (1024-dim)</a:t>
            </a:r>
          </a:p>
          <a:p>
            <a:pPr algn="l"/>
            <a:r>
              <a:rPr sz="1150" dirty="0">
                <a:solidFill>
                  <a:srgbClr val="CCD6F1"/>
                </a:solidFill>
              </a:rPr>
              <a:t>   • Metadata-filtered </a:t>
            </a:r>
            <a:r>
              <a:rPr sz="1150" dirty="0" err="1">
                <a:solidFill>
                  <a:srgbClr val="CCD6F1"/>
                </a:solidFill>
              </a:rPr>
              <a:t>similarity_search</a:t>
            </a:r>
            <a:r>
              <a:rPr sz="1150" dirty="0">
                <a:solidFill>
                  <a:srgbClr val="CCD6F1"/>
                </a:solidFill>
              </a:rPr>
              <a:t> per collection</a:t>
            </a:r>
          </a:p>
        </p:txBody>
      </p:sp>
      <p:sp>
        <p:nvSpPr>
          <p:cNvPr id="12" name="AutoShape 4" descr="Hybrid RAG system architecture flowchart">
            <a:extLst>
              <a:ext uri="{FF2B5EF4-FFF2-40B4-BE49-F238E27FC236}">
                <a16:creationId xmlns:a16="http://schemas.microsoft.com/office/drawing/2014/main" id="{85FA1C56-32D0-3348-07EE-FAADED13F5DC}"/>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9D34217C-47D5-DF54-5229-EAF651BCBD12}"/>
              </a:ext>
            </a:extLst>
          </p:cNvPr>
          <p:cNvPicPr>
            <a:picLocks noChangeAspect="1"/>
          </p:cNvPicPr>
          <p:nvPr/>
        </p:nvPicPr>
        <p:blipFill>
          <a:blip r:embed="rId3"/>
          <a:srcRect l="2547" t="3435" r="2189" b="25859"/>
          <a:stretch>
            <a:fillRect/>
          </a:stretch>
        </p:blipFill>
        <p:spPr>
          <a:xfrm>
            <a:off x="457200" y="4371571"/>
            <a:ext cx="10972024" cy="2229657"/>
          </a:xfrm>
          <a:prstGeom prst="rect">
            <a:avLst/>
          </a:prstGeom>
        </p:spPr>
      </p:pic>
      <p:pic>
        <p:nvPicPr>
          <p:cNvPr id="10" name="Picture 9">
            <a:extLst>
              <a:ext uri="{FF2B5EF4-FFF2-40B4-BE49-F238E27FC236}">
                <a16:creationId xmlns:a16="http://schemas.microsoft.com/office/drawing/2014/main" id="{DEC00D78-DD70-18F2-E8C6-A31699C991F8}"/>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207010450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LLM Inventory &amp; Model Architecture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Local GGUF / Hugging Face Models · External API (Groq / xAI) · Dedicated Auxiliary Models</a:t>
            </a:r>
          </a:p>
        </p:txBody>
      </p:sp>
      <p:sp>
        <p:nvSpPr>
          <p:cNvPr id="6" name="Rectangle 5"/>
          <p:cNvSpPr/>
          <p:nvPr/>
        </p:nvSpPr>
        <p:spPr>
          <a:xfrm>
            <a:off x="256032" y="1115568"/>
            <a:ext cx="202082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2608" y="1153668"/>
            <a:ext cx="1965960" cy="265176"/>
          </a:xfrm>
          <a:prstGeom prst="rect">
            <a:avLst/>
          </a:prstGeom>
          <a:noFill/>
        </p:spPr>
        <p:txBody>
          <a:bodyPr wrap="square">
            <a:spAutoFit/>
          </a:bodyPr>
          <a:lstStyle/>
          <a:p>
            <a:pPr algn="l"/>
            <a:r>
              <a:rPr sz="1150" b="1">
                <a:solidFill>
                  <a:srgbClr val="FFC040"/>
                </a:solidFill>
              </a:rPr>
              <a:t>Role</a:t>
            </a:r>
          </a:p>
        </p:txBody>
      </p:sp>
      <p:sp>
        <p:nvSpPr>
          <p:cNvPr id="8" name="Rectangle 7"/>
          <p:cNvSpPr/>
          <p:nvPr/>
        </p:nvSpPr>
        <p:spPr>
          <a:xfrm>
            <a:off x="2377440" y="1115568"/>
            <a:ext cx="238658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14016" y="1153668"/>
            <a:ext cx="2331720" cy="265176"/>
          </a:xfrm>
          <a:prstGeom prst="rect">
            <a:avLst/>
          </a:prstGeom>
          <a:noFill/>
        </p:spPr>
        <p:txBody>
          <a:bodyPr wrap="square">
            <a:spAutoFit/>
          </a:bodyPr>
          <a:lstStyle/>
          <a:p>
            <a:pPr algn="l"/>
            <a:r>
              <a:rPr sz="1150" b="1">
                <a:solidFill>
                  <a:srgbClr val="FFC040"/>
                </a:solidFill>
              </a:rPr>
              <a:t>Model Name</a:t>
            </a:r>
          </a:p>
        </p:txBody>
      </p:sp>
      <p:sp>
        <p:nvSpPr>
          <p:cNvPr id="10" name="Rectangle 9"/>
          <p:cNvSpPr/>
          <p:nvPr/>
        </p:nvSpPr>
        <p:spPr>
          <a:xfrm>
            <a:off x="4892040" y="1115568"/>
            <a:ext cx="275234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28616" y="1153668"/>
            <a:ext cx="2697480" cy="265176"/>
          </a:xfrm>
          <a:prstGeom prst="rect">
            <a:avLst/>
          </a:prstGeom>
          <a:noFill/>
        </p:spPr>
        <p:txBody>
          <a:bodyPr wrap="square">
            <a:spAutoFit/>
          </a:bodyPr>
          <a:lstStyle/>
          <a:p>
            <a:pPr algn="l"/>
            <a:r>
              <a:rPr sz="1150" b="1">
                <a:solidFill>
                  <a:srgbClr val="FFC040"/>
                </a:solidFill>
              </a:rPr>
              <a:t>Backend Type</a:t>
            </a:r>
          </a:p>
        </p:txBody>
      </p:sp>
      <p:sp>
        <p:nvSpPr>
          <p:cNvPr id="12" name="Rectangle 11"/>
          <p:cNvSpPr/>
          <p:nvPr/>
        </p:nvSpPr>
        <p:spPr>
          <a:xfrm>
            <a:off x="7772400" y="1115568"/>
            <a:ext cx="179222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08976" y="1153668"/>
            <a:ext cx="1737360" cy="265176"/>
          </a:xfrm>
          <a:prstGeom prst="rect">
            <a:avLst/>
          </a:prstGeom>
          <a:noFill/>
        </p:spPr>
        <p:txBody>
          <a:bodyPr wrap="square">
            <a:spAutoFit/>
          </a:bodyPr>
          <a:lstStyle/>
          <a:p>
            <a:pPr algn="l"/>
            <a:r>
              <a:rPr sz="1150" b="1">
                <a:solidFill>
                  <a:srgbClr val="FFC040"/>
                </a:solidFill>
              </a:rPr>
              <a:t>Provider</a:t>
            </a:r>
          </a:p>
        </p:txBody>
      </p:sp>
      <p:sp>
        <p:nvSpPr>
          <p:cNvPr id="14" name="Rectangle 13"/>
          <p:cNvSpPr/>
          <p:nvPr/>
        </p:nvSpPr>
        <p:spPr>
          <a:xfrm>
            <a:off x="9692640" y="1115568"/>
            <a:ext cx="215798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29216" y="1153668"/>
            <a:ext cx="2103120" cy="265176"/>
          </a:xfrm>
          <a:prstGeom prst="rect">
            <a:avLst/>
          </a:prstGeom>
          <a:noFill/>
        </p:spPr>
        <p:txBody>
          <a:bodyPr wrap="square">
            <a:spAutoFit/>
          </a:bodyPr>
          <a:lstStyle/>
          <a:p>
            <a:pPr algn="l"/>
            <a:r>
              <a:rPr sz="1150" b="1">
                <a:solidFill>
                  <a:srgbClr val="FFC040"/>
                </a:solidFill>
              </a:rPr>
              <a:t>Primary Use-case</a:t>
            </a:r>
          </a:p>
        </p:txBody>
      </p:sp>
      <p:sp>
        <p:nvSpPr>
          <p:cNvPr id="16" name="Rectangle 15"/>
          <p:cNvSpPr/>
          <p:nvPr/>
        </p:nvSpPr>
        <p:spPr>
          <a:xfrm>
            <a:off x="256032" y="1380744"/>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608" y="1406144"/>
            <a:ext cx="1965960" cy="265176"/>
          </a:xfrm>
          <a:prstGeom prst="rect">
            <a:avLst/>
          </a:prstGeom>
          <a:noFill/>
        </p:spPr>
        <p:txBody>
          <a:bodyPr wrap="square">
            <a:spAutoFit/>
          </a:bodyPr>
          <a:lstStyle/>
          <a:p>
            <a:pPr algn="l"/>
            <a:r>
              <a:rPr sz="1050" b="0">
                <a:solidFill>
                  <a:srgbClr val="5B8DFF"/>
                </a:solidFill>
              </a:rPr>
              <a:t>💬 Lite Chat (rank-1)</a:t>
            </a:r>
          </a:p>
        </p:txBody>
      </p:sp>
      <p:sp>
        <p:nvSpPr>
          <p:cNvPr id="18" name="Rectangle 17"/>
          <p:cNvSpPr/>
          <p:nvPr/>
        </p:nvSpPr>
        <p:spPr>
          <a:xfrm>
            <a:off x="2377440" y="1380744"/>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14016" y="1406144"/>
            <a:ext cx="2331720" cy="265176"/>
          </a:xfrm>
          <a:prstGeom prst="rect">
            <a:avLst/>
          </a:prstGeom>
          <a:noFill/>
        </p:spPr>
        <p:txBody>
          <a:bodyPr wrap="square">
            <a:spAutoFit/>
          </a:bodyPr>
          <a:lstStyle/>
          <a:p>
            <a:pPr algn="l"/>
            <a:r>
              <a:rPr sz="1050" b="0">
                <a:solidFill>
                  <a:srgbClr val="CCD6F1"/>
                </a:solidFill>
              </a:rPr>
              <a:t>Llama 3.1 8B Instruct Q4_K_M</a:t>
            </a:r>
          </a:p>
        </p:txBody>
      </p:sp>
      <p:sp>
        <p:nvSpPr>
          <p:cNvPr id="20" name="Rectangle 19"/>
          <p:cNvSpPr/>
          <p:nvPr/>
        </p:nvSpPr>
        <p:spPr>
          <a:xfrm>
            <a:off x="4892040" y="1380744"/>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28616" y="1406144"/>
            <a:ext cx="2697480" cy="265176"/>
          </a:xfrm>
          <a:prstGeom prst="rect">
            <a:avLst/>
          </a:prstGeom>
          <a:noFill/>
        </p:spPr>
        <p:txBody>
          <a:bodyPr wrap="square">
            <a:spAutoFit/>
          </a:bodyPr>
          <a:lstStyle/>
          <a:p>
            <a:pPr algn="l"/>
            <a:r>
              <a:rPr sz="1050" b="0">
                <a:solidFill>
                  <a:srgbClr val="CCD6F1"/>
                </a:solidFill>
              </a:rPr>
              <a:t>GGUF (llama_cpp)</a:t>
            </a:r>
          </a:p>
        </p:txBody>
      </p:sp>
      <p:sp>
        <p:nvSpPr>
          <p:cNvPr id="22" name="Rectangle 21"/>
          <p:cNvSpPr/>
          <p:nvPr/>
        </p:nvSpPr>
        <p:spPr>
          <a:xfrm>
            <a:off x="7772400" y="1380744"/>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08976" y="1406144"/>
            <a:ext cx="1737360" cy="265176"/>
          </a:xfrm>
          <a:prstGeom prst="rect">
            <a:avLst/>
          </a:prstGeom>
          <a:noFill/>
        </p:spPr>
        <p:txBody>
          <a:bodyPr wrap="square">
            <a:spAutoFit/>
          </a:bodyPr>
          <a:lstStyle/>
          <a:p>
            <a:pPr algn="l"/>
            <a:r>
              <a:rPr sz="1050" b="0">
                <a:solidFill>
                  <a:srgbClr val="CCD6F1"/>
                </a:solidFill>
              </a:rPr>
              <a:t>Primary local chat – GPU preferred</a:t>
            </a:r>
          </a:p>
        </p:txBody>
      </p:sp>
      <p:sp>
        <p:nvSpPr>
          <p:cNvPr id="24" name="Rectangle 23"/>
          <p:cNvSpPr/>
          <p:nvPr/>
        </p:nvSpPr>
        <p:spPr>
          <a:xfrm>
            <a:off x="256032" y="1645920"/>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608" y="1671320"/>
            <a:ext cx="1965960" cy="265176"/>
          </a:xfrm>
          <a:prstGeom prst="rect">
            <a:avLst/>
          </a:prstGeom>
          <a:noFill/>
        </p:spPr>
        <p:txBody>
          <a:bodyPr wrap="square">
            <a:spAutoFit/>
          </a:bodyPr>
          <a:lstStyle/>
          <a:p>
            <a:pPr algn="l"/>
            <a:r>
              <a:rPr sz="1050" b="0">
                <a:solidFill>
                  <a:srgbClr val="5B8DFF"/>
                </a:solidFill>
              </a:rPr>
              <a:t>💬 Lite Chat (rank-2)</a:t>
            </a:r>
          </a:p>
        </p:txBody>
      </p:sp>
      <p:sp>
        <p:nvSpPr>
          <p:cNvPr id="26" name="Rectangle 25"/>
          <p:cNvSpPr/>
          <p:nvPr/>
        </p:nvSpPr>
        <p:spPr>
          <a:xfrm>
            <a:off x="2377440" y="1645920"/>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414016" y="1671320"/>
            <a:ext cx="2331720" cy="265176"/>
          </a:xfrm>
          <a:prstGeom prst="rect">
            <a:avLst/>
          </a:prstGeom>
          <a:noFill/>
        </p:spPr>
        <p:txBody>
          <a:bodyPr wrap="square">
            <a:spAutoFit/>
          </a:bodyPr>
          <a:lstStyle/>
          <a:p>
            <a:pPr algn="l"/>
            <a:r>
              <a:rPr sz="1050" b="0">
                <a:solidFill>
                  <a:srgbClr val="CCD6F1"/>
                </a:solidFill>
              </a:rPr>
              <a:t>Qwen 2.5 7B Instruct Q4_K_M</a:t>
            </a:r>
          </a:p>
        </p:txBody>
      </p:sp>
      <p:sp>
        <p:nvSpPr>
          <p:cNvPr id="28" name="Rectangle 27"/>
          <p:cNvSpPr/>
          <p:nvPr/>
        </p:nvSpPr>
        <p:spPr>
          <a:xfrm>
            <a:off x="4892040" y="1645920"/>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28616" y="1671320"/>
            <a:ext cx="2697480" cy="265176"/>
          </a:xfrm>
          <a:prstGeom prst="rect">
            <a:avLst/>
          </a:prstGeom>
          <a:noFill/>
        </p:spPr>
        <p:txBody>
          <a:bodyPr wrap="square">
            <a:spAutoFit/>
          </a:bodyPr>
          <a:lstStyle/>
          <a:p>
            <a:pPr algn="l"/>
            <a:r>
              <a:rPr sz="1050" b="0">
                <a:solidFill>
                  <a:srgbClr val="CCD6F1"/>
                </a:solidFill>
              </a:rPr>
              <a:t>GGUF (llama_cpp)</a:t>
            </a:r>
          </a:p>
        </p:txBody>
      </p:sp>
      <p:sp>
        <p:nvSpPr>
          <p:cNvPr id="30" name="Rectangle 29"/>
          <p:cNvSpPr/>
          <p:nvPr/>
        </p:nvSpPr>
        <p:spPr>
          <a:xfrm>
            <a:off x="7772400" y="1645920"/>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808976" y="1671320"/>
            <a:ext cx="1737360" cy="265176"/>
          </a:xfrm>
          <a:prstGeom prst="rect">
            <a:avLst/>
          </a:prstGeom>
          <a:noFill/>
        </p:spPr>
        <p:txBody>
          <a:bodyPr wrap="square">
            <a:spAutoFit/>
          </a:bodyPr>
          <a:lstStyle/>
          <a:p>
            <a:pPr algn="l"/>
            <a:r>
              <a:rPr sz="1050" b="0">
                <a:solidFill>
                  <a:srgbClr val="CCD6F1"/>
                </a:solidFill>
              </a:rPr>
              <a:t>GGUF fallback chat model</a:t>
            </a:r>
          </a:p>
        </p:txBody>
      </p:sp>
      <p:sp>
        <p:nvSpPr>
          <p:cNvPr id="32" name="Rectangle 31"/>
          <p:cNvSpPr/>
          <p:nvPr/>
        </p:nvSpPr>
        <p:spPr>
          <a:xfrm>
            <a:off x="256032" y="1911096"/>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608" y="1936496"/>
            <a:ext cx="1965960" cy="265176"/>
          </a:xfrm>
          <a:prstGeom prst="rect">
            <a:avLst/>
          </a:prstGeom>
          <a:noFill/>
        </p:spPr>
        <p:txBody>
          <a:bodyPr wrap="square">
            <a:spAutoFit/>
          </a:bodyPr>
          <a:lstStyle/>
          <a:p>
            <a:pPr algn="l"/>
            <a:r>
              <a:rPr sz="1050" b="0">
                <a:solidFill>
                  <a:srgbClr val="5B8DFF"/>
                </a:solidFill>
              </a:rPr>
              <a:t>💬 Lite Chat (light)</a:t>
            </a:r>
          </a:p>
        </p:txBody>
      </p:sp>
      <p:sp>
        <p:nvSpPr>
          <p:cNvPr id="34" name="Rectangle 33"/>
          <p:cNvSpPr/>
          <p:nvPr/>
        </p:nvSpPr>
        <p:spPr>
          <a:xfrm>
            <a:off x="2377440" y="1911096"/>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414016" y="1936496"/>
            <a:ext cx="2331720" cy="265176"/>
          </a:xfrm>
          <a:prstGeom prst="rect">
            <a:avLst/>
          </a:prstGeom>
          <a:noFill/>
        </p:spPr>
        <p:txBody>
          <a:bodyPr wrap="square">
            <a:spAutoFit/>
          </a:bodyPr>
          <a:lstStyle/>
          <a:p>
            <a:pPr algn="l"/>
            <a:r>
              <a:rPr sz="1050" b="0">
                <a:solidFill>
                  <a:srgbClr val="CCD6F1"/>
                </a:solidFill>
              </a:rPr>
              <a:t>Qwen 2.5 3B Instruct Q4_K_M</a:t>
            </a:r>
          </a:p>
        </p:txBody>
      </p:sp>
      <p:sp>
        <p:nvSpPr>
          <p:cNvPr id="36" name="Rectangle 35"/>
          <p:cNvSpPr/>
          <p:nvPr/>
        </p:nvSpPr>
        <p:spPr>
          <a:xfrm>
            <a:off x="4892040" y="1911096"/>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28616" y="1936496"/>
            <a:ext cx="2697480" cy="265176"/>
          </a:xfrm>
          <a:prstGeom prst="rect">
            <a:avLst/>
          </a:prstGeom>
          <a:noFill/>
        </p:spPr>
        <p:txBody>
          <a:bodyPr wrap="square">
            <a:spAutoFit/>
          </a:bodyPr>
          <a:lstStyle/>
          <a:p>
            <a:pPr algn="l"/>
            <a:r>
              <a:rPr sz="1050" b="0">
                <a:solidFill>
                  <a:srgbClr val="CCD6F1"/>
                </a:solidFill>
              </a:rPr>
              <a:t>GGUF (llama_cpp)</a:t>
            </a:r>
          </a:p>
        </p:txBody>
      </p:sp>
      <p:sp>
        <p:nvSpPr>
          <p:cNvPr id="38" name="Rectangle 37"/>
          <p:cNvSpPr/>
          <p:nvPr/>
        </p:nvSpPr>
        <p:spPr>
          <a:xfrm>
            <a:off x="7772400" y="1911096"/>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808976" y="1936496"/>
            <a:ext cx="1737360" cy="265176"/>
          </a:xfrm>
          <a:prstGeom prst="rect">
            <a:avLst/>
          </a:prstGeom>
          <a:noFill/>
        </p:spPr>
        <p:txBody>
          <a:bodyPr wrap="square">
            <a:spAutoFit/>
          </a:bodyPr>
          <a:lstStyle/>
          <a:p>
            <a:pPr algn="l"/>
            <a:r>
              <a:rPr sz="1050" b="0">
                <a:solidFill>
                  <a:srgbClr val="CCD6F1"/>
                </a:solidFill>
              </a:rPr>
              <a:t>CPU-first developer setup model</a:t>
            </a:r>
          </a:p>
        </p:txBody>
      </p:sp>
      <p:sp>
        <p:nvSpPr>
          <p:cNvPr id="40" name="Rectangle 39"/>
          <p:cNvSpPr/>
          <p:nvPr/>
        </p:nvSpPr>
        <p:spPr>
          <a:xfrm>
            <a:off x="256032" y="2176272"/>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2608" y="2201672"/>
            <a:ext cx="1965960" cy="265176"/>
          </a:xfrm>
          <a:prstGeom prst="rect">
            <a:avLst/>
          </a:prstGeom>
          <a:noFill/>
        </p:spPr>
        <p:txBody>
          <a:bodyPr wrap="square">
            <a:spAutoFit/>
          </a:bodyPr>
          <a:lstStyle/>
          <a:p>
            <a:pPr algn="l"/>
            <a:r>
              <a:rPr sz="1050" b="0">
                <a:solidFill>
                  <a:srgbClr val="5B8DFF"/>
                </a:solidFill>
              </a:rPr>
              <a:t>💬 Lite Chat (mini)</a:t>
            </a:r>
          </a:p>
        </p:txBody>
      </p:sp>
      <p:sp>
        <p:nvSpPr>
          <p:cNvPr id="42" name="Rectangle 41"/>
          <p:cNvSpPr/>
          <p:nvPr/>
        </p:nvSpPr>
        <p:spPr>
          <a:xfrm>
            <a:off x="2377440" y="2176272"/>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414016" y="2201672"/>
            <a:ext cx="2331720" cy="265176"/>
          </a:xfrm>
          <a:prstGeom prst="rect">
            <a:avLst/>
          </a:prstGeom>
          <a:noFill/>
        </p:spPr>
        <p:txBody>
          <a:bodyPr wrap="square">
            <a:spAutoFit/>
          </a:bodyPr>
          <a:lstStyle/>
          <a:p>
            <a:pPr algn="l"/>
            <a:r>
              <a:rPr sz="1050" b="0">
                <a:solidFill>
                  <a:srgbClr val="CCD6F1"/>
                </a:solidFill>
              </a:rPr>
              <a:t>Qwen 2.5 1.5B Instruct Q4_K_M</a:t>
            </a:r>
          </a:p>
        </p:txBody>
      </p:sp>
      <p:sp>
        <p:nvSpPr>
          <p:cNvPr id="44" name="Rectangle 43"/>
          <p:cNvSpPr/>
          <p:nvPr/>
        </p:nvSpPr>
        <p:spPr>
          <a:xfrm>
            <a:off x="4892040" y="2176272"/>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928616" y="2201672"/>
            <a:ext cx="2697480" cy="265176"/>
          </a:xfrm>
          <a:prstGeom prst="rect">
            <a:avLst/>
          </a:prstGeom>
          <a:noFill/>
        </p:spPr>
        <p:txBody>
          <a:bodyPr wrap="square">
            <a:spAutoFit/>
          </a:bodyPr>
          <a:lstStyle/>
          <a:p>
            <a:pPr algn="l"/>
            <a:r>
              <a:rPr sz="1050" b="0">
                <a:solidFill>
                  <a:srgbClr val="CCD6F1"/>
                </a:solidFill>
              </a:rPr>
              <a:t>GGUF (llama_cpp)</a:t>
            </a:r>
          </a:p>
        </p:txBody>
      </p:sp>
      <p:sp>
        <p:nvSpPr>
          <p:cNvPr id="46" name="Rectangle 45"/>
          <p:cNvSpPr/>
          <p:nvPr/>
        </p:nvSpPr>
        <p:spPr>
          <a:xfrm>
            <a:off x="7772400" y="2176272"/>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808976" y="2201672"/>
            <a:ext cx="1737360" cy="265176"/>
          </a:xfrm>
          <a:prstGeom prst="rect">
            <a:avLst/>
          </a:prstGeom>
          <a:noFill/>
        </p:spPr>
        <p:txBody>
          <a:bodyPr wrap="square">
            <a:spAutoFit/>
          </a:bodyPr>
          <a:lstStyle/>
          <a:p>
            <a:pPr algn="l"/>
            <a:r>
              <a:rPr sz="1050" b="0">
                <a:solidFill>
                  <a:srgbClr val="CCD6F1"/>
                </a:solidFill>
              </a:rPr>
              <a:t>Ultra-light CPU chat model</a:t>
            </a:r>
          </a:p>
        </p:txBody>
      </p:sp>
      <p:sp>
        <p:nvSpPr>
          <p:cNvPr id="48" name="Rectangle 47"/>
          <p:cNvSpPr/>
          <p:nvPr/>
        </p:nvSpPr>
        <p:spPr>
          <a:xfrm>
            <a:off x="256032" y="2441448"/>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92608" y="2466848"/>
            <a:ext cx="1965960" cy="265176"/>
          </a:xfrm>
          <a:prstGeom prst="rect">
            <a:avLst/>
          </a:prstGeom>
          <a:noFill/>
        </p:spPr>
        <p:txBody>
          <a:bodyPr wrap="square">
            <a:spAutoFit/>
          </a:bodyPr>
          <a:lstStyle/>
          <a:p>
            <a:pPr algn="l"/>
            <a:r>
              <a:rPr sz="1050" b="0">
                <a:solidFill>
                  <a:srgbClr val="5B8DFF"/>
                </a:solidFill>
              </a:rPr>
              <a:t>🧠 Base Chat (GPU)</a:t>
            </a:r>
          </a:p>
        </p:txBody>
      </p:sp>
      <p:sp>
        <p:nvSpPr>
          <p:cNvPr id="50" name="Rectangle 49"/>
          <p:cNvSpPr/>
          <p:nvPr/>
        </p:nvSpPr>
        <p:spPr>
          <a:xfrm>
            <a:off x="2377440" y="2441448"/>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414016" y="2466848"/>
            <a:ext cx="2331720" cy="265176"/>
          </a:xfrm>
          <a:prstGeom prst="rect">
            <a:avLst/>
          </a:prstGeom>
          <a:noFill/>
        </p:spPr>
        <p:txBody>
          <a:bodyPr wrap="square">
            <a:spAutoFit/>
          </a:bodyPr>
          <a:lstStyle/>
          <a:p>
            <a:pPr algn="l"/>
            <a:r>
              <a:rPr sz="1050" b="0">
                <a:solidFill>
                  <a:srgbClr val="CCD6F1"/>
                </a:solidFill>
              </a:rPr>
              <a:t>Qwen 2.5 7B Instruct (HF)</a:t>
            </a:r>
          </a:p>
        </p:txBody>
      </p:sp>
      <p:sp>
        <p:nvSpPr>
          <p:cNvPr id="52" name="Rectangle 51"/>
          <p:cNvSpPr/>
          <p:nvPr/>
        </p:nvSpPr>
        <p:spPr>
          <a:xfrm>
            <a:off x="4892040" y="2441448"/>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928616" y="2466848"/>
            <a:ext cx="2697480" cy="265176"/>
          </a:xfrm>
          <a:prstGeom prst="rect">
            <a:avLst/>
          </a:prstGeom>
          <a:noFill/>
        </p:spPr>
        <p:txBody>
          <a:bodyPr wrap="square">
            <a:spAutoFit/>
          </a:bodyPr>
          <a:lstStyle/>
          <a:p>
            <a:pPr algn="l"/>
            <a:r>
              <a:rPr sz="1050" b="0">
                <a:solidFill>
                  <a:srgbClr val="CCD6F1"/>
                </a:solidFill>
              </a:rPr>
              <a:t>Hugging Face Transformers</a:t>
            </a:r>
          </a:p>
        </p:txBody>
      </p:sp>
      <p:sp>
        <p:nvSpPr>
          <p:cNvPr id="54" name="Rectangle 53"/>
          <p:cNvSpPr/>
          <p:nvPr/>
        </p:nvSpPr>
        <p:spPr>
          <a:xfrm>
            <a:off x="7772400" y="2441448"/>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808976" y="2466848"/>
            <a:ext cx="1737360" cy="265176"/>
          </a:xfrm>
          <a:prstGeom prst="rect">
            <a:avLst/>
          </a:prstGeom>
          <a:noFill/>
        </p:spPr>
        <p:txBody>
          <a:bodyPr wrap="square">
            <a:spAutoFit/>
          </a:bodyPr>
          <a:lstStyle/>
          <a:p>
            <a:pPr algn="l"/>
            <a:r>
              <a:rPr sz="1050" b="0">
                <a:solidFill>
                  <a:srgbClr val="CCD6F1"/>
                </a:solidFill>
              </a:rPr>
              <a:t>Full HF inference on CUDA</a:t>
            </a:r>
          </a:p>
        </p:txBody>
      </p:sp>
      <p:sp>
        <p:nvSpPr>
          <p:cNvPr id="56" name="Rectangle 55"/>
          <p:cNvSpPr/>
          <p:nvPr/>
        </p:nvSpPr>
        <p:spPr>
          <a:xfrm>
            <a:off x="256032" y="2706624"/>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92608" y="2732024"/>
            <a:ext cx="1965960" cy="265176"/>
          </a:xfrm>
          <a:prstGeom prst="rect">
            <a:avLst/>
          </a:prstGeom>
          <a:noFill/>
        </p:spPr>
        <p:txBody>
          <a:bodyPr wrap="square">
            <a:spAutoFit/>
          </a:bodyPr>
          <a:lstStyle/>
          <a:p>
            <a:pPr algn="l"/>
            <a:r>
              <a:rPr sz="1050" b="0">
                <a:solidFill>
                  <a:srgbClr val="5B8DFF"/>
                </a:solidFill>
              </a:rPr>
              <a:t>🧠 Base Chat (CPU)</a:t>
            </a:r>
          </a:p>
        </p:txBody>
      </p:sp>
      <p:sp>
        <p:nvSpPr>
          <p:cNvPr id="58" name="Rectangle 57"/>
          <p:cNvSpPr/>
          <p:nvPr/>
        </p:nvSpPr>
        <p:spPr>
          <a:xfrm>
            <a:off x="2377440" y="2706624"/>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414016" y="2732024"/>
            <a:ext cx="2331720" cy="265176"/>
          </a:xfrm>
          <a:prstGeom prst="rect">
            <a:avLst/>
          </a:prstGeom>
          <a:noFill/>
        </p:spPr>
        <p:txBody>
          <a:bodyPr wrap="square">
            <a:spAutoFit/>
          </a:bodyPr>
          <a:lstStyle/>
          <a:p>
            <a:pPr algn="l"/>
            <a:r>
              <a:rPr sz="1050" b="0">
                <a:solidFill>
                  <a:srgbClr val="CCD6F1"/>
                </a:solidFill>
              </a:rPr>
              <a:t>Qwen 2.5 3B Instruct (HF)</a:t>
            </a:r>
          </a:p>
        </p:txBody>
      </p:sp>
      <p:sp>
        <p:nvSpPr>
          <p:cNvPr id="60" name="Rectangle 59"/>
          <p:cNvSpPr/>
          <p:nvPr/>
        </p:nvSpPr>
        <p:spPr>
          <a:xfrm>
            <a:off x="4892040" y="2706624"/>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928616" y="2732024"/>
            <a:ext cx="2697480" cy="265176"/>
          </a:xfrm>
          <a:prstGeom prst="rect">
            <a:avLst/>
          </a:prstGeom>
          <a:noFill/>
        </p:spPr>
        <p:txBody>
          <a:bodyPr wrap="square">
            <a:spAutoFit/>
          </a:bodyPr>
          <a:lstStyle/>
          <a:p>
            <a:pPr algn="l"/>
            <a:r>
              <a:rPr sz="1050" b="0">
                <a:solidFill>
                  <a:srgbClr val="CCD6F1"/>
                </a:solidFill>
              </a:rPr>
              <a:t>Hugging Face Transformers</a:t>
            </a:r>
          </a:p>
        </p:txBody>
      </p:sp>
      <p:sp>
        <p:nvSpPr>
          <p:cNvPr id="62" name="Rectangle 61"/>
          <p:cNvSpPr/>
          <p:nvPr/>
        </p:nvSpPr>
        <p:spPr>
          <a:xfrm>
            <a:off x="7772400" y="2706624"/>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808976" y="2732024"/>
            <a:ext cx="1737360" cy="265176"/>
          </a:xfrm>
          <a:prstGeom prst="rect">
            <a:avLst/>
          </a:prstGeom>
          <a:noFill/>
        </p:spPr>
        <p:txBody>
          <a:bodyPr wrap="square">
            <a:spAutoFit/>
          </a:bodyPr>
          <a:lstStyle/>
          <a:p>
            <a:pPr algn="l"/>
            <a:r>
              <a:rPr sz="1050" b="0">
                <a:solidFill>
                  <a:srgbClr val="CCD6F1"/>
                </a:solidFill>
              </a:rPr>
              <a:t>CPU-safe HF chat model</a:t>
            </a:r>
          </a:p>
        </p:txBody>
      </p:sp>
      <p:sp>
        <p:nvSpPr>
          <p:cNvPr id="64" name="Rectangle 63"/>
          <p:cNvSpPr/>
          <p:nvPr/>
        </p:nvSpPr>
        <p:spPr>
          <a:xfrm>
            <a:off x="256032" y="2971800"/>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92608" y="2997200"/>
            <a:ext cx="1965960" cy="265176"/>
          </a:xfrm>
          <a:prstGeom prst="rect">
            <a:avLst/>
          </a:prstGeom>
          <a:noFill/>
        </p:spPr>
        <p:txBody>
          <a:bodyPr wrap="square">
            <a:spAutoFit/>
          </a:bodyPr>
          <a:lstStyle/>
          <a:p>
            <a:pPr algn="l"/>
            <a:r>
              <a:rPr sz="1050" b="0">
                <a:solidFill>
                  <a:srgbClr val="5B8DFF"/>
                </a:solidFill>
              </a:rPr>
              <a:t>🤖 Agent Router</a:t>
            </a:r>
          </a:p>
        </p:txBody>
      </p:sp>
      <p:sp>
        <p:nvSpPr>
          <p:cNvPr id="66" name="Rectangle 65"/>
          <p:cNvSpPr/>
          <p:nvPr/>
        </p:nvSpPr>
        <p:spPr>
          <a:xfrm>
            <a:off x="2377440" y="2971800"/>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414016" y="2997200"/>
            <a:ext cx="2331720" cy="265176"/>
          </a:xfrm>
          <a:prstGeom prst="rect">
            <a:avLst/>
          </a:prstGeom>
          <a:noFill/>
        </p:spPr>
        <p:txBody>
          <a:bodyPr wrap="square">
            <a:spAutoFit/>
          </a:bodyPr>
          <a:lstStyle/>
          <a:p>
            <a:pPr algn="l"/>
            <a:r>
              <a:rPr sz="1050" b="0">
                <a:solidFill>
                  <a:srgbClr val="CCD6F1"/>
                </a:solidFill>
              </a:rPr>
              <a:t>Qwen 2.5 0.5B Q4 (GGUF)</a:t>
            </a:r>
          </a:p>
        </p:txBody>
      </p:sp>
      <p:sp>
        <p:nvSpPr>
          <p:cNvPr id="68" name="Rectangle 67"/>
          <p:cNvSpPr/>
          <p:nvPr/>
        </p:nvSpPr>
        <p:spPr>
          <a:xfrm>
            <a:off x="4892040" y="2971800"/>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928616" y="2997200"/>
            <a:ext cx="2697480" cy="265176"/>
          </a:xfrm>
          <a:prstGeom prst="rect">
            <a:avLst/>
          </a:prstGeom>
          <a:noFill/>
        </p:spPr>
        <p:txBody>
          <a:bodyPr wrap="square">
            <a:spAutoFit/>
          </a:bodyPr>
          <a:lstStyle/>
          <a:p>
            <a:pPr algn="l"/>
            <a:r>
              <a:rPr sz="1050" b="0">
                <a:solidFill>
                  <a:srgbClr val="CCD6F1"/>
                </a:solidFill>
              </a:rPr>
              <a:t>GGUF (llama_cpp)</a:t>
            </a:r>
          </a:p>
        </p:txBody>
      </p:sp>
      <p:sp>
        <p:nvSpPr>
          <p:cNvPr id="70" name="Rectangle 69"/>
          <p:cNvSpPr/>
          <p:nvPr/>
        </p:nvSpPr>
        <p:spPr>
          <a:xfrm>
            <a:off x="7772400" y="2971800"/>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808976" y="2997200"/>
            <a:ext cx="1737360" cy="265176"/>
          </a:xfrm>
          <a:prstGeom prst="rect">
            <a:avLst/>
          </a:prstGeom>
          <a:noFill/>
        </p:spPr>
        <p:txBody>
          <a:bodyPr wrap="square">
            <a:spAutoFit/>
          </a:bodyPr>
          <a:lstStyle/>
          <a:p>
            <a:pPr algn="l"/>
            <a:r>
              <a:rPr sz="1050" b="0">
                <a:solidFill>
                  <a:srgbClr val="CCD6F1"/>
                </a:solidFill>
              </a:rPr>
              <a:t>Hidden routing, extraction, gate decisions</a:t>
            </a:r>
          </a:p>
        </p:txBody>
      </p:sp>
      <p:sp>
        <p:nvSpPr>
          <p:cNvPr id="72" name="Rectangle 71"/>
          <p:cNvSpPr/>
          <p:nvPr/>
        </p:nvSpPr>
        <p:spPr>
          <a:xfrm>
            <a:off x="256032" y="3236976"/>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92608" y="3262376"/>
            <a:ext cx="1965960" cy="265176"/>
          </a:xfrm>
          <a:prstGeom prst="rect">
            <a:avLst/>
          </a:prstGeom>
          <a:noFill/>
        </p:spPr>
        <p:txBody>
          <a:bodyPr wrap="square">
            <a:spAutoFit/>
          </a:bodyPr>
          <a:lstStyle/>
          <a:p>
            <a:pPr algn="l"/>
            <a:r>
              <a:rPr sz="1050" b="0">
                <a:solidFill>
                  <a:srgbClr val="5B8DFF"/>
                </a:solidFill>
              </a:rPr>
              <a:t>📐 Embedding</a:t>
            </a:r>
          </a:p>
        </p:txBody>
      </p:sp>
      <p:sp>
        <p:nvSpPr>
          <p:cNvPr id="74" name="Rectangle 73"/>
          <p:cNvSpPr/>
          <p:nvPr/>
        </p:nvSpPr>
        <p:spPr>
          <a:xfrm>
            <a:off x="2377440" y="3236976"/>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414016" y="3262376"/>
            <a:ext cx="2331720" cy="265176"/>
          </a:xfrm>
          <a:prstGeom prst="rect">
            <a:avLst/>
          </a:prstGeom>
          <a:noFill/>
        </p:spPr>
        <p:txBody>
          <a:bodyPr wrap="square">
            <a:spAutoFit/>
          </a:bodyPr>
          <a:lstStyle/>
          <a:p>
            <a:pPr algn="l"/>
            <a:r>
              <a:rPr sz="1050" b="0">
                <a:solidFill>
                  <a:srgbClr val="CCD6F1"/>
                </a:solidFill>
              </a:rPr>
              <a:t>BAAI/bge-m3 (1024-dim)</a:t>
            </a:r>
          </a:p>
        </p:txBody>
      </p:sp>
      <p:sp>
        <p:nvSpPr>
          <p:cNvPr id="76" name="Rectangle 75"/>
          <p:cNvSpPr/>
          <p:nvPr/>
        </p:nvSpPr>
        <p:spPr>
          <a:xfrm>
            <a:off x="4892040" y="3236976"/>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928616" y="3262376"/>
            <a:ext cx="2697480" cy="265176"/>
          </a:xfrm>
          <a:prstGeom prst="rect">
            <a:avLst/>
          </a:prstGeom>
          <a:noFill/>
        </p:spPr>
        <p:txBody>
          <a:bodyPr wrap="square">
            <a:spAutoFit/>
          </a:bodyPr>
          <a:lstStyle/>
          <a:p>
            <a:pPr algn="l"/>
            <a:r>
              <a:rPr sz="1050" b="0">
                <a:solidFill>
                  <a:srgbClr val="CCD6F1"/>
                </a:solidFill>
              </a:rPr>
              <a:t>Hugging Face Sentence Transformer</a:t>
            </a:r>
          </a:p>
        </p:txBody>
      </p:sp>
      <p:sp>
        <p:nvSpPr>
          <p:cNvPr id="78" name="Rectangle 77"/>
          <p:cNvSpPr/>
          <p:nvPr/>
        </p:nvSpPr>
        <p:spPr>
          <a:xfrm>
            <a:off x="7772400" y="3236976"/>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808976" y="3262376"/>
            <a:ext cx="1737360" cy="265176"/>
          </a:xfrm>
          <a:prstGeom prst="rect">
            <a:avLst/>
          </a:prstGeom>
          <a:noFill/>
        </p:spPr>
        <p:txBody>
          <a:bodyPr wrap="square">
            <a:spAutoFit/>
          </a:bodyPr>
          <a:lstStyle/>
          <a:p>
            <a:pPr algn="l"/>
            <a:r>
              <a:rPr sz="1050" b="0">
                <a:solidFill>
                  <a:srgbClr val="CCD6F1"/>
                </a:solidFill>
              </a:rPr>
              <a:t>Ingestion + retrieval vector embedding</a:t>
            </a:r>
          </a:p>
        </p:txBody>
      </p:sp>
      <p:sp>
        <p:nvSpPr>
          <p:cNvPr id="80" name="Rectangle 79"/>
          <p:cNvSpPr/>
          <p:nvPr/>
        </p:nvSpPr>
        <p:spPr>
          <a:xfrm>
            <a:off x="256032" y="3502152"/>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292608" y="3527552"/>
            <a:ext cx="1965960" cy="265176"/>
          </a:xfrm>
          <a:prstGeom prst="rect">
            <a:avLst/>
          </a:prstGeom>
          <a:noFill/>
        </p:spPr>
        <p:txBody>
          <a:bodyPr wrap="square">
            <a:spAutoFit/>
          </a:bodyPr>
          <a:lstStyle/>
          <a:p>
            <a:pPr algn="l"/>
            <a:r>
              <a:rPr sz="1050" b="0">
                <a:solidFill>
                  <a:srgbClr val="5B8DFF"/>
                </a:solidFill>
              </a:rPr>
              <a:t>🏷️  Intent Classifier</a:t>
            </a:r>
          </a:p>
        </p:txBody>
      </p:sp>
      <p:sp>
        <p:nvSpPr>
          <p:cNvPr id="82" name="Rectangle 81"/>
          <p:cNvSpPr/>
          <p:nvPr/>
        </p:nvSpPr>
        <p:spPr>
          <a:xfrm>
            <a:off x="2377440" y="3502152"/>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2414016" y="3527552"/>
            <a:ext cx="2331720" cy="265176"/>
          </a:xfrm>
          <a:prstGeom prst="rect">
            <a:avLst/>
          </a:prstGeom>
          <a:noFill/>
        </p:spPr>
        <p:txBody>
          <a:bodyPr wrap="square">
            <a:spAutoFit/>
          </a:bodyPr>
          <a:lstStyle/>
          <a:p>
            <a:pPr algn="l"/>
            <a:r>
              <a:rPr sz="1050" b="0">
                <a:solidFill>
                  <a:srgbClr val="CCD6F1"/>
                </a:solidFill>
              </a:rPr>
              <a:t>facebook/bart-large-mnli</a:t>
            </a:r>
          </a:p>
        </p:txBody>
      </p:sp>
      <p:sp>
        <p:nvSpPr>
          <p:cNvPr id="84" name="Rectangle 83"/>
          <p:cNvSpPr/>
          <p:nvPr/>
        </p:nvSpPr>
        <p:spPr>
          <a:xfrm>
            <a:off x="4892040" y="3502152"/>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4928616" y="3527552"/>
            <a:ext cx="2697480" cy="265176"/>
          </a:xfrm>
          <a:prstGeom prst="rect">
            <a:avLst/>
          </a:prstGeom>
          <a:noFill/>
        </p:spPr>
        <p:txBody>
          <a:bodyPr wrap="square">
            <a:spAutoFit/>
          </a:bodyPr>
          <a:lstStyle/>
          <a:p>
            <a:pPr algn="l"/>
            <a:r>
              <a:rPr sz="1050" b="0">
                <a:solidFill>
                  <a:srgbClr val="CCD6F1"/>
                </a:solidFill>
              </a:rPr>
              <a:t>Zero-shot NLI pipeline</a:t>
            </a:r>
          </a:p>
        </p:txBody>
      </p:sp>
      <p:sp>
        <p:nvSpPr>
          <p:cNvPr id="86" name="Rectangle 85"/>
          <p:cNvSpPr/>
          <p:nvPr/>
        </p:nvSpPr>
        <p:spPr>
          <a:xfrm>
            <a:off x="7772400" y="3502152"/>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808976" y="3527552"/>
            <a:ext cx="1737360" cy="265176"/>
          </a:xfrm>
          <a:prstGeom prst="rect">
            <a:avLst/>
          </a:prstGeom>
          <a:noFill/>
        </p:spPr>
        <p:txBody>
          <a:bodyPr wrap="square">
            <a:spAutoFit/>
          </a:bodyPr>
          <a:lstStyle/>
          <a:p>
            <a:pPr algn="l"/>
            <a:r>
              <a:rPr sz="1050" b="0">
                <a:solidFill>
                  <a:srgbClr val="CCD6F1"/>
                </a:solidFill>
              </a:rPr>
              <a:t>Query intent classification (MNLI)</a:t>
            </a:r>
          </a:p>
        </p:txBody>
      </p:sp>
      <p:sp>
        <p:nvSpPr>
          <p:cNvPr id="88" name="Rectangle 87"/>
          <p:cNvSpPr/>
          <p:nvPr/>
        </p:nvSpPr>
        <p:spPr>
          <a:xfrm>
            <a:off x="256032" y="3767328"/>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292608" y="3792728"/>
            <a:ext cx="1965960" cy="265176"/>
          </a:xfrm>
          <a:prstGeom prst="rect">
            <a:avLst/>
          </a:prstGeom>
          <a:noFill/>
        </p:spPr>
        <p:txBody>
          <a:bodyPr wrap="square">
            <a:spAutoFit/>
          </a:bodyPr>
          <a:lstStyle/>
          <a:p>
            <a:pPr algn="l"/>
            <a:r>
              <a:rPr sz="1050" b="0">
                <a:solidFill>
                  <a:srgbClr val="5B8DFF"/>
                </a:solidFill>
              </a:rPr>
              <a:t>📊 Table Detector</a:t>
            </a:r>
          </a:p>
        </p:txBody>
      </p:sp>
      <p:sp>
        <p:nvSpPr>
          <p:cNvPr id="90" name="Rectangle 89"/>
          <p:cNvSpPr/>
          <p:nvPr/>
        </p:nvSpPr>
        <p:spPr>
          <a:xfrm>
            <a:off x="2377440" y="3767328"/>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2414016" y="3792728"/>
            <a:ext cx="2331720" cy="265176"/>
          </a:xfrm>
          <a:prstGeom prst="rect">
            <a:avLst/>
          </a:prstGeom>
          <a:noFill/>
        </p:spPr>
        <p:txBody>
          <a:bodyPr wrap="square">
            <a:spAutoFit/>
          </a:bodyPr>
          <a:lstStyle/>
          <a:p>
            <a:pPr algn="l"/>
            <a:r>
              <a:rPr sz="1050" b="0">
                <a:solidFill>
                  <a:srgbClr val="CCD6F1"/>
                </a:solidFill>
              </a:rPr>
              <a:t>microsoft/table-transformer</a:t>
            </a:r>
          </a:p>
        </p:txBody>
      </p:sp>
      <p:sp>
        <p:nvSpPr>
          <p:cNvPr id="92" name="Rectangle 91"/>
          <p:cNvSpPr/>
          <p:nvPr/>
        </p:nvSpPr>
        <p:spPr>
          <a:xfrm>
            <a:off x="4892040" y="3767328"/>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4928616" y="3792728"/>
            <a:ext cx="2697480" cy="265176"/>
          </a:xfrm>
          <a:prstGeom prst="rect">
            <a:avLst/>
          </a:prstGeom>
          <a:noFill/>
        </p:spPr>
        <p:txBody>
          <a:bodyPr wrap="square">
            <a:spAutoFit/>
          </a:bodyPr>
          <a:lstStyle/>
          <a:p>
            <a:pPr algn="l"/>
            <a:r>
              <a:rPr sz="1050" b="0">
                <a:solidFill>
                  <a:srgbClr val="CCD6F1"/>
                </a:solidFill>
              </a:rPr>
              <a:t>Hugging Face Vision</a:t>
            </a:r>
          </a:p>
        </p:txBody>
      </p:sp>
      <p:sp>
        <p:nvSpPr>
          <p:cNvPr id="94" name="Rectangle 93"/>
          <p:cNvSpPr/>
          <p:nvPr/>
        </p:nvSpPr>
        <p:spPr>
          <a:xfrm>
            <a:off x="7772400" y="3767328"/>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7808976" y="3792728"/>
            <a:ext cx="1737360" cy="265176"/>
          </a:xfrm>
          <a:prstGeom prst="rect">
            <a:avLst/>
          </a:prstGeom>
          <a:noFill/>
        </p:spPr>
        <p:txBody>
          <a:bodyPr wrap="square">
            <a:spAutoFit/>
          </a:bodyPr>
          <a:lstStyle/>
          <a:p>
            <a:pPr algn="l"/>
            <a:r>
              <a:rPr sz="1050" b="0">
                <a:solidFill>
                  <a:srgbClr val="CCD6F1"/>
                </a:solidFill>
              </a:rPr>
              <a:t>Unstructured hi_res table structure</a:t>
            </a:r>
          </a:p>
        </p:txBody>
      </p:sp>
      <p:sp>
        <p:nvSpPr>
          <p:cNvPr id="96" name="Rectangle 95"/>
          <p:cNvSpPr/>
          <p:nvPr/>
        </p:nvSpPr>
        <p:spPr>
          <a:xfrm>
            <a:off x="256032" y="4032504"/>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292608" y="4057904"/>
            <a:ext cx="1965960" cy="265176"/>
          </a:xfrm>
          <a:prstGeom prst="rect">
            <a:avLst/>
          </a:prstGeom>
          <a:noFill/>
        </p:spPr>
        <p:txBody>
          <a:bodyPr wrap="square">
            <a:spAutoFit/>
          </a:bodyPr>
          <a:lstStyle/>
          <a:p>
            <a:pPr algn="l"/>
            <a:r>
              <a:rPr sz="1050" b="0">
                <a:solidFill>
                  <a:srgbClr val="5B8DFF"/>
                </a:solidFill>
              </a:rPr>
              <a:t>🖼️  Layout Model</a:t>
            </a:r>
          </a:p>
        </p:txBody>
      </p:sp>
      <p:sp>
        <p:nvSpPr>
          <p:cNvPr id="98" name="Rectangle 97"/>
          <p:cNvSpPr/>
          <p:nvPr/>
        </p:nvSpPr>
        <p:spPr>
          <a:xfrm>
            <a:off x="2377440" y="4032504"/>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2414016" y="4057904"/>
            <a:ext cx="2331720" cy="265176"/>
          </a:xfrm>
          <a:prstGeom prst="rect">
            <a:avLst/>
          </a:prstGeom>
          <a:noFill/>
        </p:spPr>
        <p:txBody>
          <a:bodyPr wrap="square">
            <a:spAutoFit/>
          </a:bodyPr>
          <a:lstStyle/>
          <a:p>
            <a:pPr algn="l"/>
            <a:r>
              <a:rPr sz="1050" b="0">
                <a:solidFill>
                  <a:srgbClr val="CCD6F1"/>
                </a:solidFill>
              </a:rPr>
              <a:t>unstructuredio/yolox_l0.05</a:t>
            </a:r>
          </a:p>
        </p:txBody>
      </p:sp>
      <p:sp>
        <p:nvSpPr>
          <p:cNvPr id="100" name="Rectangle 99"/>
          <p:cNvSpPr/>
          <p:nvPr/>
        </p:nvSpPr>
        <p:spPr>
          <a:xfrm>
            <a:off x="4892040" y="4032504"/>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4928616" y="4057904"/>
            <a:ext cx="2697480" cy="265176"/>
          </a:xfrm>
          <a:prstGeom prst="rect">
            <a:avLst/>
          </a:prstGeom>
          <a:noFill/>
        </p:spPr>
        <p:txBody>
          <a:bodyPr wrap="square">
            <a:spAutoFit/>
          </a:bodyPr>
          <a:lstStyle/>
          <a:p>
            <a:pPr algn="l"/>
            <a:r>
              <a:rPr sz="1050" b="0">
                <a:solidFill>
                  <a:srgbClr val="CCD6F1"/>
                </a:solidFill>
              </a:rPr>
              <a:t>ONNX (YOLOX)</a:t>
            </a:r>
          </a:p>
        </p:txBody>
      </p:sp>
      <p:sp>
        <p:nvSpPr>
          <p:cNvPr id="102" name="Rectangle 101"/>
          <p:cNvSpPr/>
          <p:nvPr/>
        </p:nvSpPr>
        <p:spPr>
          <a:xfrm>
            <a:off x="7772400" y="4032504"/>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7808976" y="4057904"/>
            <a:ext cx="1737360" cy="265176"/>
          </a:xfrm>
          <a:prstGeom prst="rect">
            <a:avLst/>
          </a:prstGeom>
          <a:noFill/>
        </p:spPr>
        <p:txBody>
          <a:bodyPr wrap="square">
            <a:spAutoFit/>
          </a:bodyPr>
          <a:lstStyle/>
          <a:p>
            <a:pPr algn="l"/>
            <a:r>
              <a:rPr sz="1050" b="0">
                <a:solidFill>
                  <a:srgbClr val="CCD6F1"/>
                </a:solidFill>
              </a:rPr>
              <a:t>PDF page layout detection (Unstructured)</a:t>
            </a:r>
          </a:p>
        </p:txBody>
      </p:sp>
      <p:sp>
        <p:nvSpPr>
          <p:cNvPr id="104" name="Rectangle 103"/>
          <p:cNvSpPr/>
          <p:nvPr/>
        </p:nvSpPr>
        <p:spPr>
          <a:xfrm>
            <a:off x="256032" y="4297680"/>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292608" y="4323080"/>
            <a:ext cx="1965960" cy="265176"/>
          </a:xfrm>
          <a:prstGeom prst="rect">
            <a:avLst/>
          </a:prstGeom>
          <a:noFill/>
        </p:spPr>
        <p:txBody>
          <a:bodyPr wrap="square">
            <a:spAutoFit/>
          </a:bodyPr>
          <a:lstStyle/>
          <a:p>
            <a:pPr algn="l"/>
            <a:r>
              <a:rPr sz="1050" b="0">
                <a:solidFill>
                  <a:srgbClr val="5B8DFF"/>
                </a:solidFill>
              </a:rPr>
              <a:t>📝 Reranker</a:t>
            </a:r>
          </a:p>
        </p:txBody>
      </p:sp>
      <p:sp>
        <p:nvSpPr>
          <p:cNvPr id="106" name="Rectangle 105"/>
          <p:cNvSpPr/>
          <p:nvPr/>
        </p:nvSpPr>
        <p:spPr>
          <a:xfrm>
            <a:off x="2377440" y="4297680"/>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2414016" y="4323080"/>
            <a:ext cx="2331720" cy="265176"/>
          </a:xfrm>
          <a:prstGeom prst="rect">
            <a:avLst/>
          </a:prstGeom>
          <a:noFill/>
        </p:spPr>
        <p:txBody>
          <a:bodyPr wrap="square">
            <a:spAutoFit/>
          </a:bodyPr>
          <a:lstStyle/>
          <a:p>
            <a:pPr algn="l"/>
            <a:r>
              <a:rPr sz="1050" b="0">
                <a:solidFill>
                  <a:srgbClr val="CCD6F1"/>
                </a:solidFill>
              </a:rPr>
              <a:t>ms-marco-MiniLM-L-12-v2</a:t>
            </a:r>
          </a:p>
        </p:txBody>
      </p:sp>
      <p:sp>
        <p:nvSpPr>
          <p:cNvPr id="108" name="Rectangle 107"/>
          <p:cNvSpPr/>
          <p:nvPr/>
        </p:nvSpPr>
        <p:spPr>
          <a:xfrm>
            <a:off x="4892040" y="4297680"/>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4928616" y="4323080"/>
            <a:ext cx="2697480" cy="265176"/>
          </a:xfrm>
          <a:prstGeom prst="rect">
            <a:avLst/>
          </a:prstGeom>
          <a:noFill/>
        </p:spPr>
        <p:txBody>
          <a:bodyPr wrap="square">
            <a:spAutoFit/>
          </a:bodyPr>
          <a:lstStyle/>
          <a:p>
            <a:pPr algn="l"/>
            <a:r>
              <a:rPr sz="1050" b="0">
                <a:solidFill>
                  <a:srgbClr val="CCD6F1"/>
                </a:solidFill>
              </a:rPr>
              <a:t>FlashRank cross-encoder</a:t>
            </a:r>
          </a:p>
        </p:txBody>
      </p:sp>
      <p:sp>
        <p:nvSpPr>
          <p:cNvPr id="110" name="Rectangle 109"/>
          <p:cNvSpPr/>
          <p:nvPr/>
        </p:nvSpPr>
        <p:spPr>
          <a:xfrm>
            <a:off x="7772400" y="4297680"/>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7808976" y="4323080"/>
            <a:ext cx="1737360" cy="265176"/>
          </a:xfrm>
          <a:prstGeom prst="rect">
            <a:avLst/>
          </a:prstGeom>
          <a:noFill/>
        </p:spPr>
        <p:txBody>
          <a:bodyPr wrap="square">
            <a:spAutoFit/>
          </a:bodyPr>
          <a:lstStyle/>
          <a:p>
            <a:pPr algn="l"/>
            <a:r>
              <a:rPr sz="1050" b="0">
                <a:solidFill>
                  <a:srgbClr val="CCD6F1"/>
                </a:solidFill>
              </a:rPr>
              <a:t>Post-retrieval chunk reranking</a:t>
            </a:r>
          </a:p>
        </p:txBody>
      </p:sp>
      <p:sp>
        <p:nvSpPr>
          <p:cNvPr id="112" name="Rectangle 111"/>
          <p:cNvSpPr/>
          <p:nvPr/>
        </p:nvSpPr>
        <p:spPr>
          <a:xfrm>
            <a:off x="256032" y="4562856"/>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292608" y="4588256"/>
            <a:ext cx="1965960" cy="265176"/>
          </a:xfrm>
          <a:prstGeom prst="rect">
            <a:avLst/>
          </a:prstGeom>
          <a:noFill/>
        </p:spPr>
        <p:txBody>
          <a:bodyPr wrap="square">
            <a:spAutoFit/>
          </a:bodyPr>
          <a:lstStyle/>
          <a:p>
            <a:pPr algn="l"/>
            <a:r>
              <a:rPr sz="1050" b="0">
                <a:solidFill>
                  <a:srgbClr val="5B8DFF"/>
                </a:solidFill>
              </a:rPr>
              <a:t>🌐 Net (Groq)</a:t>
            </a:r>
          </a:p>
        </p:txBody>
      </p:sp>
      <p:sp>
        <p:nvSpPr>
          <p:cNvPr id="114" name="Rectangle 113"/>
          <p:cNvSpPr/>
          <p:nvPr/>
        </p:nvSpPr>
        <p:spPr>
          <a:xfrm>
            <a:off x="2377440" y="4562856"/>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2414016" y="4588256"/>
            <a:ext cx="2331720" cy="265176"/>
          </a:xfrm>
          <a:prstGeom prst="rect">
            <a:avLst/>
          </a:prstGeom>
          <a:noFill/>
        </p:spPr>
        <p:txBody>
          <a:bodyPr wrap="square">
            <a:spAutoFit/>
          </a:bodyPr>
          <a:lstStyle/>
          <a:p>
            <a:pPr algn="l"/>
            <a:r>
              <a:rPr sz="1050" b="0">
                <a:solidFill>
                  <a:srgbClr val="CCD6F1"/>
                </a:solidFill>
              </a:rPr>
              <a:t>llama-3.1-8b-instant</a:t>
            </a:r>
          </a:p>
        </p:txBody>
      </p:sp>
      <p:sp>
        <p:nvSpPr>
          <p:cNvPr id="116" name="Rectangle 115"/>
          <p:cNvSpPr/>
          <p:nvPr/>
        </p:nvSpPr>
        <p:spPr>
          <a:xfrm>
            <a:off x="4892040" y="4562856"/>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4928616" y="4588256"/>
            <a:ext cx="2697480" cy="265176"/>
          </a:xfrm>
          <a:prstGeom prst="rect">
            <a:avLst/>
          </a:prstGeom>
          <a:noFill/>
        </p:spPr>
        <p:txBody>
          <a:bodyPr wrap="square">
            <a:spAutoFit/>
          </a:bodyPr>
          <a:lstStyle/>
          <a:p>
            <a:pPr algn="l"/>
            <a:r>
              <a:rPr sz="1050" b="0">
                <a:solidFill>
                  <a:srgbClr val="CCD6F1"/>
                </a:solidFill>
              </a:rPr>
              <a:t>Groq REST API</a:t>
            </a:r>
          </a:p>
        </p:txBody>
      </p:sp>
      <p:sp>
        <p:nvSpPr>
          <p:cNvPr id="118" name="Rectangle 117"/>
          <p:cNvSpPr/>
          <p:nvPr/>
        </p:nvSpPr>
        <p:spPr>
          <a:xfrm>
            <a:off x="7772400" y="4562856"/>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7808976" y="4588256"/>
            <a:ext cx="1737360" cy="265176"/>
          </a:xfrm>
          <a:prstGeom prst="rect">
            <a:avLst/>
          </a:prstGeom>
          <a:noFill/>
        </p:spPr>
        <p:txBody>
          <a:bodyPr wrap="square">
            <a:spAutoFit/>
          </a:bodyPr>
          <a:lstStyle/>
          <a:p>
            <a:pPr algn="l"/>
            <a:r>
              <a:rPr sz="1050" b="0">
                <a:solidFill>
                  <a:srgbClr val="CCD6F1"/>
                </a:solidFill>
              </a:rPr>
              <a:t>External API streaming – rank 1 &amp; 2</a:t>
            </a:r>
          </a:p>
        </p:txBody>
      </p:sp>
      <p:sp>
        <p:nvSpPr>
          <p:cNvPr id="120" name="Rectangle 119"/>
          <p:cNvSpPr/>
          <p:nvPr/>
        </p:nvSpPr>
        <p:spPr>
          <a:xfrm>
            <a:off x="256032" y="4828032"/>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292608" y="4853432"/>
            <a:ext cx="1965960" cy="265176"/>
          </a:xfrm>
          <a:prstGeom prst="rect">
            <a:avLst/>
          </a:prstGeom>
          <a:noFill/>
        </p:spPr>
        <p:txBody>
          <a:bodyPr wrap="square">
            <a:spAutoFit/>
          </a:bodyPr>
          <a:lstStyle/>
          <a:p>
            <a:pPr algn="l"/>
            <a:r>
              <a:rPr sz="1050" b="0">
                <a:solidFill>
                  <a:srgbClr val="5B8DFF"/>
                </a:solidFill>
              </a:rPr>
              <a:t>🌐 Net (xAI)</a:t>
            </a:r>
          </a:p>
        </p:txBody>
      </p:sp>
      <p:sp>
        <p:nvSpPr>
          <p:cNvPr id="122" name="Rectangle 121"/>
          <p:cNvSpPr/>
          <p:nvPr/>
        </p:nvSpPr>
        <p:spPr>
          <a:xfrm>
            <a:off x="2377440" y="4828032"/>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2414016" y="4853432"/>
            <a:ext cx="2331720" cy="265176"/>
          </a:xfrm>
          <a:prstGeom prst="rect">
            <a:avLst/>
          </a:prstGeom>
          <a:noFill/>
        </p:spPr>
        <p:txBody>
          <a:bodyPr wrap="square">
            <a:spAutoFit/>
          </a:bodyPr>
          <a:lstStyle/>
          <a:p>
            <a:pPr algn="l"/>
            <a:r>
              <a:rPr sz="1050" b="0">
                <a:solidFill>
                  <a:srgbClr val="CCD6F1"/>
                </a:solidFill>
              </a:rPr>
              <a:t>grok-beta</a:t>
            </a:r>
          </a:p>
        </p:txBody>
      </p:sp>
      <p:sp>
        <p:nvSpPr>
          <p:cNvPr id="124" name="Rectangle 123"/>
          <p:cNvSpPr/>
          <p:nvPr/>
        </p:nvSpPr>
        <p:spPr>
          <a:xfrm>
            <a:off x="4892040" y="4828032"/>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4928616" y="4853432"/>
            <a:ext cx="2697480" cy="265176"/>
          </a:xfrm>
          <a:prstGeom prst="rect">
            <a:avLst/>
          </a:prstGeom>
          <a:noFill/>
        </p:spPr>
        <p:txBody>
          <a:bodyPr wrap="square">
            <a:spAutoFit/>
          </a:bodyPr>
          <a:lstStyle/>
          <a:p>
            <a:pPr algn="l"/>
            <a:r>
              <a:rPr sz="1050" b="0">
                <a:solidFill>
                  <a:srgbClr val="CCD6F1"/>
                </a:solidFill>
              </a:rPr>
              <a:t>xAI Grok REST API</a:t>
            </a:r>
          </a:p>
        </p:txBody>
      </p:sp>
      <p:sp>
        <p:nvSpPr>
          <p:cNvPr id="126" name="Rectangle 125"/>
          <p:cNvSpPr/>
          <p:nvPr/>
        </p:nvSpPr>
        <p:spPr>
          <a:xfrm>
            <a:off x="7772400" y="4828032"/>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7808976" y="4853432"/>
            <a:ext cx="1737360" cy="265176"/>
          </a:xfrm>
          <a:prstGeom prst="rect">
            <a:avLst/>
          </a:prstGeom>
          <a:noFill/>
        </p:spPr>
        <p:txBody>
          <a:bodyPr wrap="square">
            <a:spAutoFit/>
          </a:bodyPr>
          <a:lstStyle/>
          <a:p>
            <a:pPr algn="l"/>
            <a:r>
              <a:rPr sz="1050" b="0">
                <a:solidFill>
                  <a:srgbClr val="CCD6F1"/>
                </a:solidFill>
              </a:rPr>
              <a:t>External API streaming – Grok provider</a:t>
            </a:r>
          </a:p>
        </p:txBody>
      </p:sp>
      <p:pic>
        <p:nvPicPr>
          <p:cNvPr id="128" name="Picture 127">
            <a:extLst>
              <a:ext uri="{FF2B5EF4-FFF2-40B4-BE49-F238E27FC236}">
                <a16:creationId xmlns:a16="http://schemas.microsoft.com/office/drawing/2014/main" id="{1159CF5C-643E-E0D3-0C7E-233E48D82F7C}"/>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Ingestion Pipeline – Step-by-Step Flowchart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PDF → Preprocess → Filter → Group → Chunk → Enrich → Embed → PGVector</a:t>
            </a:r>
          </a:p>
        </p:txBody>
      </p:sp>
      <p:sp>
        <p:nvSpPr>
          <p:cNvPr id="6" name="Rectangle 5"/>
          <p:cNvSpPr/>
          <p:nvPr/>
        </p:nvSpPr>
        <p:spPr>
          <a:xfrm>
            <a:off x="25603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 y="1216152"/>
            <a:ext cx="1508760" cy="320040"/>
          </a:xfrm>
          <a:prstGeom prst="rect">
            <a:avLst/>
          </a:prstGeom>
          <a:noFill/>
        </p:spPr>
        <p:txBody>
          <a:bodyPr wrap="square">
            <a:spAutoFit/>
          </a:bodyPr>
          <a:lstStyle/>
          <a:p>
            <a:pPr algn="l"/>
            <a:r>
              <a:rPr sz="1100" b="1">
                <a:solidFill>
                  <a:srgbClr val="5B8DFF"/>
                </a:solidFill>
              </a:rPr>
              <a:t>1️⃣  Upload</a:t>
            </a:r>
          </a:p>
        </p:txBody>
      </p:sp>
      <p:sp>
        <p:nvSpPr>
          <p:cNvPr id="9" name="TextBox 8"/>
          <p:cNvSpPr txBox="1"/>
          <p:nvPr/>
        </p:nvSpPr>
        <p:spPr>
          <a:xfrm>
            <a:off x="310896" y="1554480"/>
            <a:ext cx="1508760" cy="868680"/>
          </a:xfrm>
          <a:prstGeom prst="rect">
            <a:avLst/>
          </a:prstGeom>
          <a:noFill/>
        </p:spPr>
        <p:txBody>
          <a:bodyPr wrap="square">
            <a:spAutoFit/>
          </a:bodyPr>
          <a:lstStyle/>
          <a:p>
            <a:pPr algn="l"/>
            <a:r>
              <a:rPr sz="950" b="0">
                <a:solidFill>
                  <a:srgbClr val="CCD6F1"/>
                </a:solidFill>
              </a:rPr>
              <a:t>User drags PDF in Next.js UI.
Stored in MinIO (S3).
Job ID created in Redis.</a:t>
            </a:r>
          </a:p>
        </p:txBody>
      </p:sp>
      <p:sp>
        <p:nvSpPr>
          <p:cNvPr id="10" name="TextBox 9"/>
          <p:cNvSpPr txBox="1"/>
          <p:nvPr/>
        </p:nvSpPr>
        <p:spPr>
          <a:xfrm>
            <a:off x="1874520" y="1700784"/>
            <a:ext cx="91440"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96596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965960" y="1170432"/>
            <a:ext cx="1600200" cy="1325880"/>
          </a:xfrm>
          <a:prstGeom prst="rect">
            <a:avLst/>
          </a:prstGeom>
          <a:noFill/>
          <a:ln w="25400">
            <a:solidFill>
              <a:srgbClr val="7C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20824" y="1216152"/>
            <a:ext cx="1508760" cy="320040"/>
          </a:xfrm>
          <a:prstGeom prst="rect">
            <a:avLst/>
          </a:prstGeom>
          <a:noFill/>
        </p:spPr>
        <p:txBody>
          <a:bodyPr wrap="square">
            <a:spAutoFit/>
          </a:bodyPr>
          <a:lstStyle/>
          <a:p>
            <a:pPr algn="l"/>
            <a:r>
              <a:rPr sz="1100" b="1">
                <a:solidFill>
                  <a:srgbClr val="7C5AFF"/>
                </a:solidFill>
              </a:rPr>
              <a:t>2️⃣  Preprocess</a:t>
            </a:r>
          </a:p>
        </p:txBody>
      </p:sp>
      <p:sp>
        <p:nvSpPr>
          <p:cNvPr id="14" name="TextBox 13"/>
          <p:cNvSpPr txBox="1"/>
          <p:nvPr/>
        </p:nvSpPr>
        <p:spPr>
          <a:xfrm>
            <a:off x="2020824" y="1554480"/>
            <a:ext cx="1508760" cy="868680"/>
          </a:xfrm>
          <a:prstGeom prst="rect">
            <a:avLst/>
          </a:prstGeom>
          <a:noFill/>
        </p:spPr>
        <p:txBody>
          <a:bodyPr wrap="square">
            <a:spAutoFit/>
          </a:bodyPr>
          <a:lstStyle/>
          <a:p>
            <a:pPr algn="l"/>
            <a:r>
              <a:rPr sz="950" b="0">
                <a:solidFill>
                  <a:srgbClr val="CCD6F1"/>
                </a:solidFill>
              </a:rPr>
              <a:t>stream_pdf_to_elements()
Choose: PyPDF / PyMuPDF4LLM
/ Unstructured / Docling
/ Table Preprocessor</a:t>
            </a:r>
          </a:p>
        </p:txBody>
      </p:sp>
      <p:sp>
        <p:nvSpPr>
          <p:cNvPr id="15" name="TextBox 14"/>
          <p:cNvSpPr txBox="1"/>
          <p:nvPr/>
        </p:nvSpPr>
        <p:spPr>
          <a:xfrm>
            <a:off x="3584448" y="1700784"/>
            <a:ext cx="91440"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675888"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75888" y="1170432"/>
            <a:ext cx="1600200" cy="1325880"/>
          </a:xfrm>
          <a:prstGeom prst="rect">
            <a:avLst/>
          </a:prstGeom>
          <a:noFill/>
          <a:ln w="25400">
            <a:solidFill>
              <a:srgbClr val="E06C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30752" y="1216152"/>
            <a:ext cx="1508760" cy="320040"/>
          </a:xfrm>
          <a:prstGeom prst="rect">
            <a:avLst/>
          </a:prstGeom>
          <a:noFill/>
        </p:spPr>
        <p:txBody>
          <a:bodyPr wrap="square">
            <a:spAutoFit/>
          </a:bodyPr>
          <a:lstStyle/>
          <a:p>
            <a:pPr algn="l"/>
            <a:r>
              <a:rPr sz="1100" b="1">
                <a:solidFill>
                  <a:srgbClr val="E06C20"/>
                </a:solidFill>
              </a:rPr>
              <a:t>3️⃣  Filter</a:t>
            </a:r>
          </a:p>
        </p:txBody>
      </p:sp>
      <p:sp>
        <p:nvSpPr>
          <p:cNvPr id="19" name="TextBox 18"/>
          <p:cNvSpPr txBox="1"/>
          <p:nvPr/>
        </p:nvSpPr>
        <p:spPr>
          <a:xfrm>
            <a:off x="3730752" y="1554480"/>
            <a:ext cx="1508760" cy="868680"/>
          </a:xfrm>
          <a:prstGeom prst="rect">
            <a:avLst/>
          </a:prstGeom>
          <a:noFill/>
        </p:spPr>
        <p:txBody>
          <a:bodyPr wrap="square">
            <a:spAutoFit/>
          </a:bodyPr>
          <a:lstStyle/>
          <a:p>
            <a:pPr algn="l"/>
            <a:r>
              <a:rPr sz="950" b="0">
                <a:solidFill>
                  <a:srgbClr val="CCD6F1"/>
                </a:solidFill>
              </a:rPr>
              <a:t>Remove headers, footers,
boilerplate, image noise.
Version-tracked FILTER_VERSION.</a:t>
            </a:r>
          </a:p>
        </p:txBody>
      </p:sp>
      <p:sp>
        <p:nvSpPr>
          <p:cNvPr id="20" name="TextBox 19"/>
          <p:cNvSpPr txBox="1"/>
          <p:nvPr/>
        </p:nvSpPr>
        <p:spPr>
          <a:xfrm>
            <a:off x="5294376" y="1700784"/>
            <a:ext cx="91440"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385816"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385816" y="1170432"/>
            <a:ext cx="1600200" cy="132588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40680" y="1216152"/>
            <a:ext cx="1508760" cy="320040"/>
          </a:xfrm>
          <a:prstGeom prst="rect">
            <a:avLst/>
          </a:prstGeom>
          <a:noFill/>
        </p:spPr>
        <p:txBody>
          <a:bodyPr wrap="square">
            <a:spAutoFit/>
          </a:bodyPr>
          <a:lstStyle/>
          <a:p>
            <a:pPr algn="l"/>
            <a:r>
              <a:rPr sz="1100" b="1">
                <a:solidFill>
                  <a:srgbClr val="7C3AED"/>
                </a:solidFill>
              </a:rPr>
              <a:t>4️⃣  Group Blocks</a:t>
            </a:r>
          </a:p>
        </p:txBody>
      </p:sp>
      <p:sp>
        <p:nvSpPr>
          <p:cNvPr id="24" name="TextBox 23"/>
          <p:cNvSpPr txBox="1"/>
          <p:nvPr/>
        </p:nvSpPr>
        <p:spPr>
          <a:xfrm>
            <a:off x="5440680" y="1554480"/>
            <a:ext cx="1508760" cy="868680"/>
          </a:xfrm>
          <a:prstGeom prst="rect">
            <a:avLst/>
          </a:prstGeom>
          <a:noFill/>
        </p:spPr>
        <p:txBody>
          <a:bodyPr wrap="square">
            <a:spAutoFit/>
          </a:bodyPr>
          <a:lstStyle/>
          <a:p>
            <a:pPr algn="l"/>
            <a:r>
              <a:rPr sz="950" b="0">
                <a:solidFill>
                  <a:srgbClr val="CCD6F1"/>
                </a:solidFill>
              </a:rPr>
              <a:t>build_grouped_blocks()
Merge OCR fragments into
clean logical text blocks.</a:t>
            </a:r>
          </a:p>
        </p:txBody>
      </p:sp>
      <p:sp>
        <p:nvSpPr>
          <p:cNvPr id="25" name="TextBox 24"/>
          <p:cNvSpPr txBox="1"/>
          <p:nvPr/>
        </p:nvSpPr>
        <p:spPr>
          <a:xfrm>
            <a:off x="7004304" y="1700784"/>
            <a:ext cx="91440"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7095744"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095744" y="1170432"/>
            <a:ext cx="1600200" cy="132588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50608" y="1216152"/>
            <a:ext cx="1508760" cy="320040"/>
          </a:xfrm>
          <a:prstGeom prst="rect">
            <a:avLst/>
          </a:prstGeom>
          <a:noFill/>
        </p:spPr>
        <p:txBody>
          <a:bodyPr wrap="square">
            <a:spAutoFit/>
          </a:bodyPr>
          <a:lstStyle/>
          <a:p>
            <a:pPr algn="l"/>
            <a:r>
              <a:rPr sz="1100" b="1">
                <a:solidFill>
                  <a:srgbClr val="4ADE80"/>
                </a:solidFill>
              </a:rPr>
              <a:t>5️⃣  Chunk</a:t>
            </a:r>
          </a:p>
        </p:txBody>
      </p:sp>
      <p:sp>
        <p:nvSpPr>
          <p:cNvPr id="29" name="TextBox 28"/>
          <p:cNvSpPr txBox="1"/>
          <p:nvPr/>
        </p:nvSpPr>
        <p:spPr>
          <a:xfrm>
            <a:off x="7150608" y="1554480"/>
            <a:ext cx="1508760" cy="868680"/>
          </a:xfrm>
          <a:prstGeom prst="rect">
            <a:avLst/>
          </a:prstGeom>
          <a:noFill/>
        </p:spPr>
        <p:txBody>
          <a:bodyPr wrap="square">
            <a:spAutoFit/>
          </a:bodyPr>
          <a:lstStyle/>
          <a:p>
            <a:pPr algn="l"/>
            <a:r>
              <a:rPr sz="950" b="0">
                <a:solidFill>
                  <a:srgbClr val="CCD6F1"/>
                </a:solidFill>
              </a:rPr>
              <a:t>ContextAwareChunker
Doc-type aware config:
spec 3500 / proc 800 / report 2000</a:t>
            </a:r>
          </a:p>
        </p:txBody>
      </p:sp>
      <p:sp>
        <p:nvSpPr>
          <p:cNvPr id="30" name="TextBox 29"/>
          <p:cNvSpPr txBox="1"/>
          <p:nvPr/>
        </p:nvSpPr>
        <p:spPr>
          <a:xfrm>
            <a:off x="8714232" y="1700784"/>
            <a:ext cx="91440"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80567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805672" y="1170432"/>
            <a:ext cx="1600200" cy="1325880"/>
          </a:xfrm>
          <a:prstGeom prst="rect">
            <a:avLst/>
          </a:prstGeom>
          <a:noFill/>
          <a:ln w="25400">
            <a:solidFill>
              <a:srgbClr val="E0A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60536" y="1216152"/>
            <a:ext cx="1508760" cy="320040"/>
          </a:xfrm>
          <a:prstGeom prst="rect">
            <a:avLst/>
          </a:prstGeom>
          <a:noFill/>
        </p:spPr>
        <p:txBody>
          <a:bodyPr wrap="square">
            <a:spAutoFit/>
          </a:bodyPr>
          <a:lstStyle/>
          <a:p>
            <a:pPr algn="l"/>
            <a:r>
              <a:rPr sz="1100" b="1">
                <a:solidFill>
                  <a:srgbClr val="E0A020"/>
                </a:solidFill>
              </a:rPr>
              <a:t>6️⃣  Enrich</a:t>
            </a:r>
          </a:p>
        </p:txBody>
      </p:sp>
      <p:sp>
        <p:nvSpPr>
          <p:cNvPr id="34" name="TextBox 33"/>
          <p:cNvSpPr txBox="1"/>
          <p:nvPr/>
        </p:nvSpPr>
        <p:spPr>
          <a:xfrm>
            <a:off x="8860536" y="1554480"/>
            <a:ext cx="1508760" cy="868680"/>
          </a:xfrm>
          <a:prstGeom prst="rect">
            <a:avLst/>
          </a:prstGeom>
          <a:noFill/>
        </p:spPr>
        <p:txBody>
          <a:bodyPr wrap="square">
            <a:spAutoFit/>
          </a:bodyPr>
          <a:lstStyle/>
          <a:p>
            <a:pPr algn="l"/>
            <a:r>
              <a:rPr sz="950" b="0">
                <a:solidFill>
                  <a:srgbClr val="CCD6F1"/>
                </a:solidFill>
              </a:rPr>
              <a:t>Metadata injection:
doc_id, revision, page, section,
quality_score, chunk_type.</a:t>
            </a:r>
          </a:p>
        </p:txBody>
      </p:sp>
      <p:sp>
        <p:nvSpPr>
          <p:cNvPr id="35" name="TextBox 34"/>
          <p:cNvSpPr txBox="1"/>
          <p:nvPr/>
        </p:nvSpPr>
        <p:spPr>
          <a:xfrm>
            <a:off x="10424160" y="1700784"/>
            <a:ext cx="91440"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1051560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515600"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70464" y="1216152"/>
            <a:ext cx="1508760" cy="320040"/>
          </a:xfrm>
          <a:prstGeom prst="rect">
            <a:avLst/>
          </a:prstGeom>
          <a:noFill/>
        </p:spPr>
        <p:txBody>
          <a:bodyPr wrap="square">
            <a:spAutoFit/>
          </a:bodyPr>
          <a:lstStyle/>
          <a:p>
            <a:pPr algn="l"/>
            <a:r>
              <a:rPr sz="1100" b="1">
                <a:solidFill>
                  <a:srgbClr val="5B8DFF"/>
                </a:solidFill>
              </a:rPr>
              <a:t>7️⃣  Embed &amp; Ingest</a:t>
            </a:r>
          </a:p>
        </p:txBody>
      </p:sp>
      <p:sp>
        <p:nvSpPr>
          <p:cNvPr id="39" name="TextBox 38"/>
          <p:cNvSpPr txBox="1"/>
          <p:nvPr/>
        </p:nvSpPr>
        <p:spPr>
          <a:xfrm>
            <a:off x="10570464" y="1554480"/>
            <a:ext cx="1508760" cy="868680"/>
          </a:xfrm>
          <a:prstGeom prst="rect">
            <a:avLst/>
          </a:prstGeom>
          <a:noFill/>
        </p:spPr>
        <p:txBody>
          <a:bodyPr wrap="square">
            <a:spAutoFit/>
          </a:bodyPr>
          <a:lstStyle/>
          <a:p>
            <a:pPr algn="l"/>
            <a:r>
              <a:rPr sz="950" b="0">
                <a:solidFill>
                  <a:srgbClr val="CCD6F1"/>
                </a:solidFill>
              </a:rPr>
              <a:t>BAAI/bge-m3 → 1024-dim vector
ingest_to_pgvector()
Revision-safe upsert.</a:t>
            </a:r>
          </a:p>
        </p:txBody>
      </p:sp>
      <p:sp>
        <p:nvSpPr>
          <p:cNvPr id="40" name="Rectangle 39"/>
          <p:cNvSpPr/>
          <p:nvPr/>
        </p:nvSpPr>
        <p:spPr>
          <a:xfrm>
            <a:off x="256032" y="2633472"/>
            <a:ext cx="11667744" cy="502920"/>
          </a:xfrm>
          <a:prstGeom prst="rect">
            <a:avLst/>
          </a:prstGeom>
          <a:solidFill>
            <a:srgbClr val="101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5760" y="2679192"/>
            <a:ext cx="11338560" cy="411480"/>
          </a:xfrm>
          <a:prstGeom prst="rect">
            <a:avLst/>
          </a:prstGeom>
          <a:noFill/>
        </p:spPr>
        <p:txBody>
          <a:bodyPr wrap="square">
            <a:spAutoFit/>
          </a:bodyPr>
          <a:lstStyle/>
          <a:p>
            <a:pPr algn="ctr"/>
            <a:r>
              <a:rPr sz="1200" b="0">
                <a:solidFill>
                  <a:srgbClr val="A0B4FF"/>
                </a:solidFill>
              </a:rPr>
              <a:t>RAG Ingest Modes:   Fast (pypdf, no tables)   ·   Balanced (hi_res + table structure, no images)   ·   High-Fidelity (hi_res + tables + images extracted)</a:t>
            </a:r>
          </a:p>
        </p:txBody>
      </p:sp>
      <p:sp>
        <p:nvSpPr>
          <p:cNvPr id="42" name="TextBox 41"/>
          <p:cNvSpPr txBox="1"/>
          <p:nvPr/>
        </p:nvSpPr>
        <p:spPr>
          <a:xfrm>
            <a:off x="256032" y="3255264"/>
            <a:ext cx="4389120" cy="3246120"/>
          </a:xfrm>
          <a:prstGeom prst="rect">
            <a:avLst/>
          </a:prstGeom>
          <a:noFill/>
        </p:spPr>
        <p:txBody>
          <a:bodyPr wrap="square">
            <a:spAutoFit/>
          </a:bodyPr>
          <a:lstStyle/>
          <a:p>
            <a:pPr algn="l"/>
            <a:r>
              <a:rPr sz="1200" dirty="0">
                <a:solidFill>
                  <a:srgbClr val="CCD6F1"/>
                </a:solidFill>
              </a:rPr>
              <a:t>  PRE-PROCESSORS AVAILABLE:</a:t>
            </a:r>
          </a:p>
          <a:p>
            <a:pPr algn="l"/>
            <a:r>
              <a:rPr sz="1200" dirty="0">
                <a:solidFill>
                  <a:srgbClr val="CCD6F1"/>
                </a:solidFill>
              </a:rPr>
              <a:t>    • </a:t>
            </a:r>
            <a:r>
              <a:rPr sz="1200" dirty="0" err="1">
                <a:solidFill>
                  <a:srgbClr val="CCD6F1"/>
                </a:solidFill>
              </a:rPr>
              <a:t>pypdf_text</a:t>
            </a:r>
            <a:r>
              <a:rPr sz="1200" dirty="0">
                <a:solidFill>
                  <a:srgbClr val="CCD6F1"/>
                </a:solidFill>
              </a:rPr>
              <a:t>      – lightweight text extraction (</a:t>
            </a:r>
            <a:r>
              <a:rPr sz="1200" dirty="0" err="1">
                <a:solidFill>
                  <a:srgbClr val="CCD6F1"/>
                </a:solidFill>
              </a:rPr>
              <a:t>PyPDF</a:t>
            </a:r>
            <a:r>
              <a:rPr sz="1200" dirty="0">
                <a:solidFill>
                  <a:srgbClr val="CCD6F1"/>
                </a:solidFill>
              </a:rPr>
              <a:t>)</a:t>
            </a:r>
          </a:p>
          <a:p>
            <a:pPr algn="l"/>
            <a:r>
              <a:rPr sz="1200" dirty="0">
                <a:solidFill>
                  <a:srgbClr val="CCD6F1"/>
                </a:solidFill>
              </a:rPr>
              <a:t>    • pymupdf4llm    – rich markdown extraction (</a:t>
            </a:r>
            <a:r>
              <a:rPr sz="1200" dirty="0" err="1">
                <a:solidFill>
                  <a:srgbClr val="CCD6F1"/>
                </a:solidFill>
              </a:rPr>
              <a:t>PyMuPDF</a:t>
            </a:r>
            <a:r>
              <a:rPr sz="1200" dirty="0">
                <a:solidFill>
                  <a:srgbClr val="CCD6F1"/>
                </a:solidFill>
              </a:rPr>
              <a:t>)</a:t>
            </a:r>
          </a:p>
          <a:p>
            <a:pPr algn="l"/>
            <a:r>
              <a:rPr sz="1200" dirty="0">
                <a:solidFill>
                  <a:srgbClr val="CCD6F1"/>
                </a:solidFill>
              </a:rPr>
              <a:t>    • unstructured   – </a:t>
            </a:r>
            <a:r>
              <a:rPr sz="1200" dirty="0" err="1">
                <a:solidFill>
                  <a:srgbClr val="CCD6F1"/>
                </a:solidFill>
              </a:rPr>
              <a:t>hi_res</a:t>
            </a:r>
            <a:r>
              <a:rPr sz="1200" dirty="0">
                <a:solidFill>
                  <a:srgbClr val="CCD6F1"/>
                </a:solidFill>
              </a:rPr>
              <a:t> layout + OCR (Tesseract/YOLOX)</a:t>
            </a:r>
          </a:p>
          <a:p>
            <a:pPr algn="l"/>
            <a:r>
              <a:rPr sz="1200" dirty="0">
                <a:solidFill>
                  <a:srgbClr val="CCD6F1"/>
                </a:solidFill>
              </a:rPr>
              <a:t>    • </a:t>
            </a:r>
            <a:r>
              <a:rPr sz="1200" dirty="0" err="1">
                <a:solidFill>
                  <a:srgbClr val="CCD6F1"/>
                </a:solidFill>
              </a:rPr>
              <a:t>docling</a:t>
            </a:r>
            <a:r>
              <a:rPr sz="1200" dirty="0">
                <a:solidFill>
                  <a:srgbClr val="CCD6F1"/>
                </a:solidFill>
              </a:rPr>
              <a:t>         – academic-grade extraction with table/formula support</a:t>
            </a:r>
          </a:p>
          <a:p>
            <a:pPr algn="l"/>
            <a:r>
              <a:rPr sz="1200" dirty="0">
                <a:solidFill>
                  <a:srgbClr val="CCD6F1"/>
                </a:solidFill>
              </a:rPr>
              <a:t>    • </a:t>
            </a:r>
            <a:r>
              <a:rPr sz="1200" dirty="0" err="1">
                <a:solidFill>
                  <a:srgbClr val="CCD6F1"/>
                </a:solidFill>
              </a:rPr>
              <a:t>table_preprocessor</a:t>
            </a:r>
            <a:r>
              <a:rPr sz="1200" dirty="0">
                <a:solidFill>
                  <a:srgbClr val="CCD6F1"/>
                </a:solidFill>
              </a:rPr>
              <a:t> – </a:t>
            </a:r>
            <a:r>
              <a:rPr sz="1200" dirty="0" err="1">
                <a:solidFill>
                  <a:srgbClr val="CCD6F1"/>
                </a:solidFill>
              </a:rPr>
              <a:t>specialised</a:t>
            </a:r>
            <a:r>
              <a:rPr sz="1200" dirty="0">
                <a:solidFill>
                  <a:srgbClr val="CCD6F1"/>
                </a:solidFill>
              </a:rPr>
              <a:t> </a:t>
            </a:r>
            <a:r>
              <a:rPr sz="1200" dirty="0" err="1">
                <a:solidFill>
                  <a:srgbClr val="CCD6F1"/>
                </a:solidFill>
              </a:rPr>
              <a:t>Docling</a:t>
            </a:r>
            <a:r>
              <a:rPr sz="1200" dirty="0">
                <a:solidFill>
                  <a:srgbClr val="CCD6F1"/>
                </a:solidFill>
              </a:rPr>
              <a:t>-backed table-focused pipeline</a:t>
            </a:r>
          </a:p>
        </p:txBody>
      </p:sp>
      <p:sp>
        <p:nvSpPr>
          <p:cNvPr id="43" name="TextBox 42"/>
          <p:cNvSpPr txBox="1"/>
          <p:nvPr/>
        </p:nvSpPr>
        <p:spPr>
          <a:xfrm>
            <a:off x="4709160" y="3255264"/>
            <a:ext cx="3017520" cy="3246120"/>
          </a:xfrm>
          <a:prstGeom prst="rect">
            <a:avLst/>
          </a:prstGeom>
          <a:noFill/>
        </p:spPr>
        <p:txBody>
          <a:bodyPr wrap="square">
            <a:spAutoFit/>
          </a:bodyPr>
          <a:lstStyle/>
          <a:p>
            <a:pPr algn="l"/>
            <a:r>
              <a:rPr sz="1200">
                <a:solidFill>
                  <a:srgbClr val="CCD6F1"/>
                </a:solidFill>
              </a:rPr>
              <a:t>  DOC-TYPE CHUNKING:</a:t>
            </a:r>
          </a:p>
          <a:p>
            <a:pPr algn="l"/>
            <a:r>
              <a:rPr sz="1200">
                <a:solidFill>
                  <a:srgbClr val="CCD6F1"/>
                </a:solidFill>
              </a:rPr>
              <a:t>    Specification → 3500 / 500</a:t>
            </a:r>
          </a:p>
          <a:p>
            <a:pPr algn="l"/>
            <a:r>
              <a:rPr sz="1200">
                <a:solidFill>
                  <a:srgbClr val="CCD6F1"/>
                </a:solidFill>
              </a:rPr>
              <a:t>    Procedure/SOP → 800 / 100</a:t>
            </a:r>
          </a:p>
          <a:p>
            <a:pPr algn="l"/>
            <a:r>
              <a:rPr sz="1200">
                <a:solidFill>
                  <a:srgbClr val="CCD6F1"/>
                </a:solidFill>
              </a:rPr>
              <a:t>    Report        → 2000 / 300</a:t>
            </a:r>
          </a:p>
          <a:p>
            <a:pPr algn="l"/>
            <a:r>
              <a:rPr sz="1200">
                <a:solidFill>
                  <a:srgbClr val="CCD6F1"/>
                </a:solidFill>
              </a:rPr>
              <a:t>    Drawing/P&amp;ID  → 1000 / 150</a:t>
            </a:r>
          </a:p>
          <a:p>
            <a:pPr algn="l"/>
            <a:r>
              <a:rPr sz="1200">
                <a:solidFill>
                  <a:srgbClr val="CCD6F1"/>
                </a:solidFill>
              </a:rPr>
              <a:t>    Datasheet     → 1500 / 200</a:t>
            </a:r>
          </a:p>
          <a:p>
            <a:pPr algn="l"/>
            <a:r>
              <a:rPr sz="1200">
                <a:solidFill>
                  <a:srgbClr val="CCD6F1"/>
                </a:solidFill>
              </a:rPr>
              <a:t>    Default       → 3000 / 400</a:t>
            </a:r>
          </a:p>
        </p:txBody>
      </p:sp>
      <p:pic>
        <p:nvPicPr>
          <p:cNvPr id="44" name="Picture 43" descr="flowchart_ingestion.png"/>
          <p:cNvPicPr>
            <a:picLocks noChangeAspect="1"/>
          </p:cNvPicPr>
          <p:nvPr/>
        </p:nvPicPr>
        <p:blipFill>
          <a:blip r:embed="rId3"/>
          <a:stretch>
            <a:fillRect/>
          </a:stretch>
        </p:blipFill>
        <p:spPr>
          <a:xfrm>
            <a:off x="7818120" y="3154680"/>
            <a:ext cx="4114800" cy="3474720"/>
          </a:xfrm>
          <a:prstGeom prst="rect">
            <a:avLst/>
          </a:prstGeom>
        </p:spPr>
      </p:pic>
      <p:pic>
        <p:nvPicPr>
          <p:cNvPr id="45" name="Picture 44">
            <a:extLst>
              <a:ext uri="{FF2B5EF4-FFF2-40B4-BE49-F238E27FC236}">
                <a16:creationId xmlns:a16="http://schemas.microsoft.com/office/drawing/2014/main" id="{B1C3561D-4FD0-1C02-99D0-CE3F21A80AFF}"/>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Query Pipeline – Step-by-Step Flowchart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User Question → Intent → Multi-Lane Retrieval → RRF → Rerank → Agentic Review → Stream</a:t>
            </a:r>
          </a:p>
        </p:txBody>
      </p:sp>
      <p:sp>
        <p:nvSpPr>
          <p:cNvPr id="6" name="Rectangle 5"/>
          <p:cNvSpPr/>
          <p:nvPr/>
        </p:nvSpPr>
        <p:spPr>
          <a:xfrm>
            <a:off x="25603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 y="1216152"/>
            <a:ext cx="1508760" cy="320040"/>
          </a:xfrm>
          <a:prstGeom prst="rect">
            <a:avLst/>
          </a:prstGeom>
          <a:noFill/>
        </p:spPr>
        <p:txBody>
          <a:bodyPr wrap="square">
            <a:spAutoFit/>
          </a:bodyPr>
          <a:lstStyle/>
          <a:p>
            <a:pPr algn="l"/>
            <a:r>
              <a:rPr sz="1100" b="1">
                <a:solidFill>
                  <a:srgbClr val="5B8DFF"/>
                </a:solidFill>
              </a:rPr>
              <a:t>1️⃣  User Query</a:t>
            </a:r>
          </a:p>
        </p:txBody>
      </p:sp>
      <p:sp>
        <p:nvSpPr>
          <p:cNvPr id="9" name="TextBox 8"/>
          <p:cNvSpPr txBox="1"/>
          <p:nvPr/>
        </p:nvSpPr>
        <p:spPr>
          <a:xfrm>
            <a:off x="310896" y="1554480"/>
            <a:ext cx="1508760" cy="868680"/>
          </a:xfrm>
          <a:prstGeom prst="rect">
            <a:avLst/>
          </a:prstGeom>
          <a:noFill/>
        </p:spPr>
        <p:txBody>
          <a:bodyPr wrap="square">
            <a:spAutoFit/>
          </a:bodyPr>
          <a:lstStyle/>
          <a:p>
            <a:pPr algn="l"/>
            <a:r>
              <a:rPr sz="950" b="0">
                <a:solidFill>
                  <a:srgbClr val="CCD6F1"/>
                </a:solidFill>
              </a:rPr>
              <a:t>Next.js sends question
+ session_id + model_id
via SSE stream endpoint.</a:t>
            </a:r>
          </a:p>
        </p:txBody>
      </p:sp>
      <p:sp>
        <p:nvSpPr>
          <p:cNvPr id="10" name="TextBox 9"/>
          <p:cNvSpPr txBox="1"/>
          <p:nvPr/>
        </p:nvSpPr>
        <p:spPr>
          <a:xfrm>
            <a:off x="1874520" y="1700784"/>
            <a:ext cx="91440"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96596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965960" y="1170432"/>
            <a:ext cx="1600200" cy="1325880"/>
          </a:xfrm>
          <a:prstGeom prst="rect">
            <a:avLst/>
          </a:prstGeom>
          <a:noFill/>
          <a:ln w="25400">
            <a:solidFill>
              <a:srgbClr val="705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20824" y="1216152"/>
            <a:ext cx="1508760" cy="320040"/>
          </a:xfrm>
          <a:prstGeom prst="rect">
            <a:avLst/>
          </a:prstGeom>
          <a:noFill/>
        </p:spPr>
        <p:txBody>
          <a:bodyPr wrap="square">
            <a:spAutoFit/>
          </a:bodyPr>
          <a:lstStyle/>
          <a:p>
            <a:pPr algn="l"/>
            <a:r>
              <a:rPr sz="1100" b="1">
                <a:solidFill>
                  <a:srgbClr val="7050FF"/>
                </a:solidFill>
              </a:rPr>
              <a:t>2️⃣  Intent Class.</a:t>
            </a:r>
          </a:p>
        </p:txBody>
      </p:sp>
      <p:sp>
        <p:nvSpPr>
          <p:cNvPr id="14" name="TextBox 13"/>
          <p:cNvSpPr txBox="1"/>
          <p:nvPr/>
        </p:nvSpPr>
        <p:spPr>
          <a:xfrm>
            <a:off x="2020824" y="1554480"/>
            <a:ext cx="1508760" cy="868680"/>
          </a:xfrm>
          <a:prstGeom prst="rect">
            <a:avLst/>
          </a:prstGeom>
          <a:noFill/>
        </p:spPr>
        <p:txBody>
          <a:bodyPr wrap="square">
            <a:spAutoFit/>
          </a:bodyPr>
          <a:lstStyle/>
          <a:p>
            <a:pPr algn="l"/>
            <a:r>
              <a:rPr sz="950" b="0">
                <a:solidFill>
                  <a:srgbClr val="CCD6F1"/>
                </a:solidFill>
              </a:rPr>
              <a:t>BART-large-MNLI classifies:
summary / factual / compare
/ procedure / greeting</a:t>
            </a:r>
          </a:p>
        </p:txBody>
      </p:sp>
      <p:sp>
        <p:nvSpPr>
          <p:cNvPr id="15" name="TextBox 14"/>
          <p:cNvSpPr txBox="1"/>
          <p:nvPr/>
        </p:nvSpPr>
        <p:spPr>
          <a:xfrm>
            <a:off x="3584448" y="1700784"/>
            <a:ext cx="91440"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675888"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75888" y="1170432"/>
            <a:ext cx="1600200" cy="132588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30752" y="1216152"/>
            <a:ext cx="1508760" cy="320040"/>
          </a:xfrm>
          <a:prstGeom prst="rect">
            <a:avLst/>
          </a:prstGeom>
          <a:noFill/>
        </p:spPr>
        <p:txBody>
          <a:bodyPr wrap="square">
            <a:spAutoFit/>
          </a:bodyPr>
          <a:lstStyle/>
          <a:p>
            <a:pPr algn="l"/>
            <a:r>
              <a:rPr sz="1100" b="1">
                <a:solidFill>
                  <a:srgbClr val="7C3AED"/>
                </a:solidFill>
              </a:rPr>
              <a:t>3️⃣  Retrieval Mode</a:t>
            </a:r>
          </a:p>
        </p:txBody>
      </p:sp>
      <p:sp>
        <p:nvSpPr>
          <p:cNvPr id="19" name="TextBox 18"/>
          <p:cNvSpPr txBox="1"/>
          <p:nvPr/>
        </p:nvSpPr>
        <p:spPr>
          <a:xfrm>
            <a:off x="3730752" y="1554480"/>
            <a:ext cx="1508760" cy="868680"/>
          </a:xfrm>
          <a:prstGeom prst="rect">
            <a:avLst/>
          </a:prstGeom>
          <a:noFill/>
        </p:spPr>
        <p:txBody>
          <a:bodyPr wrap="square">
            <a:spAutoFit/>
          </a:bodyPr>
          <a:lstStyle/>
          <a:p>
            <a:pPr algn="l"/>
            <a:r>
              <a:rPr sz="950" b="0">
                <a:solidFill>
                  <a:srgbClr val="CCD6F1"/>
                </a:solidFill>
              </a:rPr>
              <a:t>Auto-selects:
Fast / Balanced / High-Fidelity
based on intent label.</a:t>
            </a:r>
          </a:p>
        </p:txBody>
      </p:sp>
      <p:sp>
        <p:nvSpPr>
          <p:cNvPr id="20" name="TextBox 19"/>
          <p:cNvSpPr txBox="1"/>
          <p:nvPr/>
        </p:nvSpPr>
        <p:spPr>
          <a:xfrm>
            <a:off x="5294376" y="1700784"/>
            <a:ext cx="91440"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385816"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385816" y="1170432"/>
            <a:ext cx="1600200" cy="1325880"/>
          </a:xfrm>
          <a:prstGeom prst="rect">
            <a:avLst/>
          </a:prstGeom>
          <a:noFill/>
          <a:ln w="25400">
            <a:solidFill>
              <a:srgbClr val="E06C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40680" y="1216152"/>
            <a:ext cx="1508760" cy="320040"/>
          </a:xfrm>
          <a:prstGeom prst="rect">
            <a:avLst/>
          </a:prstGeom>
          <a:noFill/>
        </p:spPr>
        <p:txBody>
          <a:bodyPr wrap="square">
            <a:spAutoFit/>
          </a:bodyPr>
          <a:lstStyle/>
          <a:p>
            <a:pPr algn="l"/>
            <a:r>
              <a:rPr sz="1100" b="1">
                <a:solidFill>
                  <a:srgbClr val="E06C20"/>
                </a:solidFill>
              </a:rPr>
              <a:t>4️⃣  Multi-Lane
Search</a:t>
            </a:r>
          </a:p>
        </p:txBody>
      </p:sp>
      <p:sp>
        <p:nvSpPr>
          <p:cNvPr id="24" name="TextBox 23"/>
          <p:cNvSpPr txBox="1"/>
          <p:nvPr/>
        </p:nvSpPr>
        <p:spPr>
          <a:xfrm>
            <a:off x="5440680" y="1554480"/>
            <a:ext cx="1508760" cy="868680"/>
          </a:xfrm>
          <a:prstGeom prst="rect">
            <a:avLst/>
          </a:prstGeom>
          <a:noFill/>
        </p:spPr>
        <p:txBody>
          <a:bodyPr wrap="square">
            <a:spAutoFit/>
          </a:bodyPr>
          <a:lstStyle/>
          <a:p>
            <a:pPr algn="l"/>
            <a:r>
              <a:rPr sz="950" b="0">
                <a:solidFill>
                  <a:srgbClr val="CCD6F1"/>
                </a:solidFill>
              </a:rPr>
              <a:t>Per-lane searches:
text, parent, image, child.
Vector + BM25 keyword per lane.</a:t>
            </a:r>
          </a:p>
        </p:txBody>
      </p:sp>
      <p:sp>
        <p:nvSpPr>
          <p:cNvPr id="25" name="TextBox 24"/>
          <p:cNvSpPr txBox="1"/>
          <p:nvPr/>
        </p:nvSpPr>
        <p:spPr>
          <a:xfrm>
            <a:off x="7004304" y="1700784"/>
            <a:ext cx="91440"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7095744"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095744" y="1170432"/>
            <a:ext cx="1600200" cy="132588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50608" y="1216152"/>
            <a:ext cx="1508760" cy="320040"/>
          </a:xfrm>
          <a:prstGeom prst="rect">
            <a:avLst/>
          </a:prstGeom>
          <a:noFill/>
        </p:spPr>
        <p:txBody>
          <a:bodyPr wrap="square">
            <a:spAutoFit/>
          </a:bodyPr>
          <a:lstStyle/>
          <a:p>
            <a:pPr algn="l"/>
            <a:r>
              <a:rPr sz="1100" b="1">
                <a:solidFill>
                  <a:srgbClr val="4ADE80"/>
                </a:solidFill>
              </a:rPr>
              <a:t>5️⃣  RRF Fusion</a:t>
            </a:r>
          </a:p>
        </p:txBody>
      </p:sp>
      <p:sp>
        <p:nvSpPr>
          <p:cNvPr id="29" name="TextBox 28"/>
          <p:cNvSpPr txBox="1"/>
          <p:nvPr/>
        </p:nvSpPr>
        <p:spPr>
          <a:xfrm>
            <a:off x="7150608" y="1554480"/>
            <a:ext cx="1508760" cy="868680"/>
          </a:xfrm>
          <a:prstGeom prst="rect">
            <a:avLst/>
          </a:prstGeom>
          <a:noFill/>
        </p:spPr>
        <p:txBody>
          <a:bodyPr wrap="square">
            <a:spAutoFit/>
          </a:bodyPr>
          <a:lstStyle/>
          <a:p>
            <a:pPr algn="l"/>
            <a:r>
              <a:rPr sz="950" b="0">
                <a:solidFill>
                  <a:srgbClr val="CCD6F1"/>
                </a:solidFill>
              </a:rPr>
              <a:t>Reciprocal Rank Fusion
fuses vector + keyword
ranks (k=60 default).</a:t>
            </a:r>
          </a:p>
        </p:txBody>
      </p:sp>
      <p:sp>
        <p:nvSpPr>
          <p:cNvPr id="30" name="TextBox 29"/>
          <p:cNvSpPr txBox="1"/>
          <p:nvPr/>
        </p:nvSpPr>
        <p:spPr>
          <a:xfrm>
            <a:off x="8714232" y="1700784"/>
            <a:ext cx="91440"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80567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805672" y="1170432"/>
            <a:ext cx="1600200" cy="1325880"/>
          </a:xfrm>
          <a:prstGeom prst="rect">
            <a:avLst/>
          </a:prstGeom>
          <a:noFill/>
          <a:ln w="25400">
            <a:solidFill>
              <a:srgbClr val="E0A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60536" y="1216152"/>
            <a:ext cx="1508760" cy="320040"/>
          </a:xfrm>
          <a:prstGeom prst="rect">
            <a:avLst/>
          </a:prstGeom>
          <a:noFill/>
        </p:spPr>
        <p:txBody>
          <a:bodyPr wrap="square">
            <a:spAutoFit/>
          </a:bodyPr>
          <a:lstStyle/>
          <a:p>
            <a:pPr algn="l"/>
            <a:r>
              <a:rPr sz="1100" b="1">
                <a:solidFill>
                  <a:srgbClr val="E0A020"/>
                </a:solidFill>
              </a:rPr>
              <a:t>6️⃣  Rerank</a:t>
            </a:r>
          </a:p>
        </p:txBody>
      </p:sp>
      <p:sp>
        <p:nvSpPr>
          <p:cNvPr id="34" name="TextBox 33"/>
          <p:cNvSpPr txBox="1"/>
          <p:nvPr/>
        </p:nvSpPr>
        <p:spPr>
          <a:xfrm>
            <a:off x="8860536" y="1554480"/>
            <a:ext cx="1508760" cy="868680"/>
          </a:xfrm>
          <a:prstGeom prst="rect">
            <a:avLst/>
          </a:prstGeom>
          <a:noFill/>
        </p:spPr>
        <p:txBody>
          <a:bodyPr wrap="square">
            <a:spAutoFit/>
          </a:bodyPr>
          <a:lstStyle/>
          <a:p>
            <a:pPr algn="l"/>
            <a:r>
              <a:rPr sz="950" b="0">
                <a:solidFill>
                  <a:srgbClr val="CCD6F1"/>
                </a:solidFill>
              </a:rPr>
              <a:t>FlashRank MiniLM-L-12
cross-encoder rescores
candidates  →  top-K.</a:t>
            </a:r>
          </a:p>
        </p:txBody>
      </p:sp>
      <p:sp>
        <p:nvSpPr>
          <p:cNvPr id="35" name="TextBox 34"/>
          <p:cNvSpPr txBox="1"/>
          <p:nvPr/>
        </p:nvSpPr>
        <p:spPr>
          <a:xfrm>
            <a:off x="10424160" y="1700784"/>
            <a:ext cx="91440"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1051560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515600"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70464" y="1216152"/>
            <a:ext cx="1508760" cy="320040"/>
          </a:xfrm>
          <a:prstGeom prst="rect">
            <a:avLst/>
          </a:prstGeom>
          <a:noFill/>
        </p:spPr>
        <p:txBody>
          <a:bodyPr wrap="square">
            <a:spAutoFit/>
          </a:bodyPr>
          <a:lstStyle/>
          <a:p>
            <a:pPr algn="l"/>
            <a:r>
              <a:rPr sz="1100" b="1">
                <a:solidFill>
                  <a:srgbClr val="5B8DFF"/>
                </a:solidFill>
              </a:rPr>
              <a:t>7️⃣  LLM Generate</a:t>
            </a:r>
          </a:p>
        </p:txBody>
      </p:sp>
      <p:sp>
        <p:nvSpPr>
          <p:cNvPr id="39" name="TextBox 38"/>
          <p:cNvSpPr txBox="1"/>
          <p:nvPr/>
        </p:nvSpPr>
        <p:spPr>
          <a:xfrm>
            <a:off x="10570464" y="1554480"/>
            <a:ext cx="1508760" cy="868680"/>
          </a:xfrm>
          <a:prstGeom prst="rect">
            <a:avLst/>
          </a:prstGeom>
          <a:noFill/>
        </p:spPr>
        <p:txBody>
          <a:bodyPr wrap="square">
            <a:spAutoFit/>
          </a:bodyPr>
          <a:lstStyle/>
          <a:p>
            <a:pPr algn="l"/>
            <a:r>
              <a:rPr sz="950" b="0">
                <a:solidFill>
                  <a:srgbClr val="CCD6F1"/>
                </a:solidFill>
              </a:rPr>
              <a:t>Prompt built → streamed
via GGUF / HF / Groq / xAI.
Token-by-token SSE yield.</a:t>
            </a:r>
          </a:p>
        </p:txBody>
      </p:sp>
      <p:sp>
        <p:nvSpPr>
          <p:cNvPr id="40" name="Rectangle 39"/>
          <p:cNvSpPr/>
          <p:nvPr/>
        </p:nvSpPr>
        <p:spPr>
          <a:xfrm>
            <a:off x="256032" y="2633472"/>
            <a:ext cx="11667744" cy="502920"/>
          </a:xfrm>
          <a:prstGeom prst="rect">
            <a:avLst/>
          </a:prstGeom>
          <a:solidFill>
            <a:srgbClr val="151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5760" y="2679192"/>
            <a:ext cx="11338560" cy="411480"/>
          </a:xfrm>
          <a:prstGeom prst="rect">
            <a:avLst/>
          </a:prstGeom>
          <a:noFill/>
        </p:spPr>
        <p:txBody>
          <a:bodyPr wrap="square">
            <a:spAutoFit/>
          </a:bodyPr>
          <a:lstStyle/>
          <a:p>
            <a:pPr algn="ctr"/>
            <a:r>
              <a:rPr sz="1200" b="0">
                <a:solidFill>
                  <a:srgbClr val="FFC040"/>
                </a:solidFill>
              </a:rPr>
              <a:t>Optional Agentic Review Pipeline (enable_agent_pipeline=true):  Router → Planner → Extractor → Draft → Reviewer → Repair Gate → Senior Escalation (Qwen 3B)</a:t>
            </a:r>
          </a:p>
        </p:txBody>
      </p:sp>
      <p:sp>
        <p:nvSpPr>
          <p:cNvPr id="42" name="TextBox 41"/>
          <p:cNvSpPr txBox="1"/>
          <p:nvPr/>
        </p:nvSpPr>
        <p:spPr>
          <a:xfrm>
            <a:off x="256032" y="3255264"/>
            <a:ext cx="4206240" cy="3246120"/>
          </a:xfrm>
          <a:prstGeom prst="rect">
            <a:avLst/>
          </a:prstGeom>
          <a:noFill/>
        </p:spPr>
        <p:txBody>
          <a:bodyPr wrap="square">
            <a:spAutoFit/>
          </a:bodyPr>
          <a:lstStyle/>
          <a:p>
            <a:pPr algn="l"/>
            <a:r>
              <a:rPr sz="1200">
                <a:solidFill>
                  <a:srgbClr val="CCD6F1"/>
                </a:solidFill>
              </a:rPr>
              <a:t>  QUERY PROFILE ROUTING:</a:t>
            </a:r>
          </a:p>
          <a:p>
            <a:pPr algn="l"/>
            <a:r>
              <a:rPr sz="1200">
                <a:solidFill>
                  <a:srgbClr val="CCD6F1"/>
                </a:solidFill>
              </a:rPr>
              <a:t>    • metadata   – Title+Narrative only, no OCR, text lane only</a:t>
            </a:r>
          </a:p>
          <a:p>
            <a:pPr algn="l"/>
            <a:r>
              <a:rPr sz="1200">
                <a:solidFill>
                  <a:srgbClr val="CCD6F1"/>
                </a:solidFill>
              </a:rPr>
              <a:t>    • table_data – parent+child lane priority, Table element boost</a:t>
            </a:r>
          </a:p>
          <a:p>
            <a:pPr algn="l"/>
            <a:r>
              <a:rPr sz="1200">
                <a:solidFill>
                  <a:srgbClr val="CCD6F1"/>
                </a:solidFill>
              </a:rPr>
              <a:t>    • image_ref  – image lane priority, Image element ×1.3 boost</a:t>
            </a:r>
          </a:p>
          <a:p>
            <a:pPr algn="l"/>
            <a:r>
              <a:rPr sz="1200">
                <a:solidFill>
                  <a:srgbClr val="CCD6F1"/>
                </a:solidFill>
              </a:rPr>
              <a:t>    • summary    – balanced lanes, broad element set</a:t>
            </a:r>
          </a:p>
          <a:p>
            <a:pPr algn="l"/>
            <a:r>
              <a:rPr sz="1200">
                <a:solidFill>
                  <a:srgbClr val="CCD6F1"/>
                </a:solidFill>
              </a:rPr>
              <a:t>    • explanation – text lane focus, NarrativeText ×1.25</a:t>
            </a:r>
          </a:p>
          <a:p>
            <a:pPr algn="l"/>
            <a:r>
              <a:rPr sz="1200">
                <a:solidFill>
                  <a:srgbClr val="CCD6F1"/>
                </a:solidFill>
              </a:rPr>
              <a:t>    • factual    – text+parent lanes, excludes UncategorizedText</a:t>
            </a:r>
          </a:p>
        </p:txBody>
      </p:sp>
      <p:sp>
        <p:nvSpPr>
          <p:cNvPr id="43" name="TextBox 42"/>
          <p:cNvSpPr txBox="1"/>
          <p:nvPr/>
        </p:nvSpPr>
        <p:spPr>
          <a:xfrm>
            <a:off x="4526280" y="3255264"/>
            <a:ext cx="2926080" cy="3246120"/>
          </a:xfrm>
          <a:prstGeom prst="rect">
            <a:avLst/>
          </a:prstGeom>
          <a:noFill/>
        </p:spPr>
        <p:txBody>
          <a:bodyPr wrap="square">
            <a:spAutoFit/>
          </a:bodyPr>
          <a:lstStyle/>
          <a:p>
            <a:pPr algn="l"/>
            <a:r>
              <a:rPr sz="1200">
                <a:solidFill>
                  <a:srgbClr val="CCD6F1"/>
                </a:solidFill>
              </a:rPr>
              <a:t>  SCORING FACTORS:</a:t>
            </a:r>
          </a:p>
          <a:p>
            <a:pPr algn="l"/>
            <a:r>
              <a:rPr sz="1200">
                <a:solidFill>
                  <a:srgbClr val="CCD6F1"/>
                </a:solidFill>
              </a:rPr>
              <a:t>    element_wt × source_wt × quality</a:t>
            </a:r>
          </a:p>
          <a:p>
            <a:pPr algn="l"/>
            <a:r>
              <a:rPr sz="1200">
                <a:solidFill>
                  <a:srgbClr val="CCD6F1"/>
                </a:solidFill>
              </a:rPr>
              <a:t>    × child_pen × ocr_pen × query_mult</a:t>
            </a:r>
          </a:p>
          <a:p>
            <a:pPr algn="l"/>
            <a:r>
              <a:rPr sz="1200">
                <a:solidFill>
                  <a:srgbClr val="CCD6F1"/>
                </a:solidFill>
              </a:rPr>
              <a:t>    × lane_mult × section_mult</a:t>
            </a:r>
          </a:p>
          <a:p>
            <a:pPr algn="l"/>
            <a:r>
              <a:rPr sz="1200">
                <a:solidFill>
                  <a:srgbClr val="CCD6F1"/>
                </a:solidFill>
              </a:rPr>
              <a:t>  </a:t>
            </a:r>
          </a:p>
          <a:p>
            <a:pPr algn="l"/>
            <a:r>
              <a:rPr sz="1200">
                <a:solidFill>
                  <a:srgbClr val="CCD6F1"/>
                </a:solidFill>
              </a:rPr>
              <a:t>  QUALITY GATES:</a:t>
            </a:r>
          </a:p>
          <a:p>
            <a:pPr algn="l"/>
            <a:r>
              <a:rPr sz="1200">
                <a:solidFill>
                  <a:srgbClr val="CCD6F1"/>
                </a:solidFill>
              </a:rPr>
              <a:t>    Grounding check &lt; 0.40 → warning</a:t>
            </a:r>
          </a:p>
          <a:p>
            <a:pPr algn="l"/>
            <a:r>
              <a:rPr sz="1200">
                <a:solidFill>
                  <a:srgbClr val="CCD6F1"/>
                </a:solidFill>
              </a:rPr>
              <a:t>    Release gate → blockers list</a:t>
            </a:r>
          </a:p>
          <a:p>
            <a:pPr algn="l"/>
            <a:r>
              <a:rPr sz="1200">
                <a:solidFill>
                  <a:srgbClr val="CCD6F1"/>
                </a:solidFill>
              </a:rPr>
              <a:t>    Eval gate: heuristic pre-LLM</a:t>
            </a:r>
          </a:p>
        </p:txBody>
      </p:sp>
      <p:pic>
        <p:nvPicPr>
          <p:cNvPr id="44" name="Picture 43" descr="flowchart_query.png"/>
          <p:cNvPicPr>
            <a:picLocks noChangeAspect="1"/>
          </p:cNvPicPr>
          <p:nvPr/>
        </p:nvPicPr>
        <p:blipFill>
          <a:blip r:embed="rId3"/>
          <a:stretch>
            <a:fillRect/>
          </a:stretch>
        </p:blipFill>
        <p:spPr>
          <a:xfrm>
            <a:off x="7543800" y="3154680"/>
            <a:ext cx="4389120" cy="3474720"/>
          </a:xfrm>
          <a:prstGeom prst="rect">
            <a:avLst/>
          </a:prstGeom>
        </p:spPr>
      </p:pic>
      <p:pic>
        <p:nvPicPr>
          <p:cNvPr id="45" name="Picture 44">
            <a:extLst>
              <a:ext uri="{FF2B5EF4-FFF2-40B4-BE49-F238E27FC236}">
                <a16:creationId xmlns:a16="http://schemas.microsoft.com/office/drawing/2014/main" id="{FF1ED353-E96B-488D-F8A8-B2F41C7A7BAE}"/>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Agentic Review Pipeline – Hierarchical Deliberation Engine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Multi-stage agent chain: Router → Planner → Extractor → Draft → Reviewer → Gate → Senior</a:t>
            </a:r>
          </a:p>
        </p:txBody>
      </p:sp>
      <p:sp>
        <p:nvSpPr>
          <p:cNvPr id="6" name="Rectangle 5"/>
          <p:cNvSpPr/>
          <p:nvPr/>
        </p:nvSpPr>
        <p:spPr>
          <a:xfrm>
            <a:off x="2560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1752" y="1225296"/>
            <a:ext cx="1417320" cy="457200"/>
          </a:xfrm>
          <a:prstGeom prst="rect">
            <a:avLst/>
          </a:prstGeom>
          <a:noFill/>
        </p:spPr>
        <p:txBody>
          <a:bodyPr wrap="square">
            <a:spAutoFit/>
          </a:bodyPr>
          <a:lstStyle/>
          <a:p>
            <a:pPr algn="l"/>
            <a:r>
              <a:rPr sz="1150" b="1">
                <a:solidFill>
                  <a:srgbClr val="FFC040"/>
                </a:solidFill>
              </a:rPr>
              <a:t>Router
(0.5B GGUF)</a:t>
            </a:r>
          </a:p>
        </p:txBody>
      </p:sp>
      <p:sp>
        <p:nvSpPr>
          <p:cNvPr id="9" name="TextBox 8"/>
          <p:cNvSpPr txBox="1"/>
          <p:nvPr/>
        </p:nvSpPr>
        <p:spPr>
          <a:xfrm>
            <a:off x="301752" y="1682496"/>
            <a:ext cx="1417320" cy="1005840"/>
          </a:xfrm>
          <a:prstGeom prst="rect">
            <a:avLst/>
          </a:prstGeom>
          <a:noFill/>
        </p:spPr>
        <p:txBody>
          <a:bodyPr wrap="square">
            <a:spAutoFit/>
          </a:bodyPr>
          <a:lstStyle/>
          <a:p>
            <a:pPr algn="l"/>
            <a:r>
              <a:rPr sz="1000" b="0">
                <a:solidFill>
                  <a:srgbClr val="CCD6F1"/>
                </a:solidFill>
              </a:rPr>
              <a:t>Classifies question type:
fact_lookup / summary /
comparison / ambiguous</a:t>
            </a:r>
          </a:p>
        </p:txBody>
      </p:sp>
      <p:sp>
        <p:nvSpPr>
          <p:cNvPr id="10" name="TextBox 9"/>
          <p:cNvSpPr txBox="1"/>
          <p:nvPr/>
        </p:nvSpPr>
        <p:spPr>
          <a:xfrm>
            <a:off x="1773936" y="1856232"/>
            <a:ext cx="82296"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8562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562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01952" y="1225296"/>
            <a:ext cx="1417320" cy="457200"/>
          </a:xfrm>
          <a:prstGeom prst="rect">
            <a:avLst/>
          </a:prstGeom>
          <a:noFill/>
        </p:spPr>
        <p:txBody>
          <a:bodyPr wrap="square">
            <a:spAutoFit/>
          </a:bodyPr>
          <a:lstStyle/>
          <a:p>
            <a:pPr algn="l"/>
            <a:r>
              <a:rPr sz="1150" b="1">
                <a:solidFill>
                  <a:srgbClr val="FFC040"/>
                </a:solidFill>
              </a:rPr>
              <a:t>Planner
(0.5B GGUF)</a:t>
            </a:r>
          </a:p>
        </p:txBody>
      </p:sp>
      <p:sp>
        <p:nvSpPr>
          <p:cNvPr id="14" name="TextBox 13"/>
          <p:cNvSpPr txBox="1"/>
          <p:nvPr/>
        </p:nvSpPr>
        <p:spPr>
          <a:xfrm>
            <a:off x="1901952" y="1682496"/>
            <a:ext cx="1417320" cy="1005840"/>
          </a:xfrm>
          <a:prstGeom prst="rect">
            <a:avLst/>
          </a:prstGeom>
          <a:noFill/>
        </p:spPr>
        <p:txBody>
          <a:bodyPr wrap="square">
            <a:spAutoFit/>
          </a:bodyPr>
          <a:lstStyle/>
          <a:p>
            <a:pPr algn="l"/>
            <a:r>
              <a:rPr sz="1000" b="0">
                <a:solidFill>
                  <a:srgbClr val="CCD6F1"/>
                </a:solidFill>
              </a:rPr>
              <a:t>Determines retrieval plan:
top_k, prefer_first_page
prefer_title / revision block</a:t>
            </a:r>
          </a:p>
        </p:txBody>
      </p:sp>
      <p:sp>
        <p:nvSpPr>
          <p:cNvPr id="15" name="TextBox 14"/>
          <p:cNvSpPr txBox="1"/>
          <p:nvPr/>
        </p:nvSpPr>
        <p:spPr>
          <a:xfrm>
            <a:off x="3374136" y="1856232"/>
            <a:ext cx="82296"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4564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4564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02152" y="1225296"/>
            <a:ext cx="1417320" cy="457200"/>
          </a:xfrm>
          <a:prstGeom prst="rect">
            <a:avLst/>
          </a:prstGeom>
          <a:noFill/>
        </p:spPr>
        <p:txBody>
          <a:bodyPr wrap="square">
            <a:spAutoFit/>
          </a:bodyPr>
          <a:lstStyle/>
          <a:p>
            <a:pPr algn="l"/>
            <a:r>
              <a:rPr sz="1150" b="1">
                <a:solidFill>
                  <a:srgbClr val="FFC040"/>
                </a:solidFill>
              </a:rPr>
              <a:t>Extractor
(0.5B GGUF)</a:t>
            </a:r>
          </a:p>
        </p:txBody>
      </p:sp>
      <p:sp>
        <p:nvSpPr>
          <p:cNvPr id="19" name="TextBox 18"/>
          <p:cNvSpPr txBox="1"/>
          <p:nvPr/>
        </p:nvSpPr>
        <p:spPr>
          <a:xfrm>
            <a:off x="3502152" y="1682496"/>
            <a:ext cx="1417320" cy="1005840"/>
          </a:xfrm>
          <a:prstGeom prst="rect">
            <a:avLst/>
          </a:prstGeom>
          <a:noFill/>
        </p:spPr>
        <p:txBody>
          <a:bodyPr wrap="square">
            <a:spAutoFit/>
          </a:bodyPr>
          <a:lstStyle/>
          <a:p>
            <a:pPr algn="l"/>
            <a:r>
              <a:rPr sz="1000" b="0">
                <a:solidFill>
                  <a:srgbClr val="CCD6F1"/>
                </a:solidFill>
              </a:rPr>
              <a:t>Extracts structured facts:
document_id, revision,
tag_number from chunks</a:t>
            </a:r>
          </a:p>
        </p:txBody>
      </p:sp>
      <p:sp>
        <p:nvSpPr>
          <p:cNvPr id="20" name="TextBox 19"/>
          <p:cNvSpPr txBox="1"/>
          <p:nvPr/>
        </p:nvSpPr>
        <p:spPr>
          <a:xfrm>
            <a:off x="4974336" y="1856232"/>
            <a:ext cx="82296"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0566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566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02352" y="1225296"/>
            <a:ext cx="1417320" cy="457200"/>
          </a:xfrm>
          <a:prstGeom prst="rect">
            <a:avLst/>
          </a:prstGeom>
          <a:noFill/>
        </p:spPr>
        <p:txBody>
          <a:bodyPr wrap="square">
            <a:spAutoFit/>
          </a:bodyPr>
          <a:lstStyle/>
          <a:p>
            <a:pPr algn="l"/>
            <a:r>
              <a:rPr sz="1150" b="1">
                <a:solidFill>
                  <a:srgbClr val="FFC040"/>
                </a:solidFill>
              </a:rPr>
              <a:t>Draft
(user model)</a:t>
            </a:r>
          </a:p>
        </p:txBody>
      </p:sp>
      <p:sp>
        <p:nvSpPr>
          <p:cNvPr id="24" name="TextBox 23"/>
          <p:cNvSpPr txBox="1"/>
          <p:nvPr/>
        </p:nvSpPr>
        <p:spPr>
          <a:xfrm>
            <a:off x="5102352" y="1682496"/>
            <a:ext cx="1417320" cy="1005840"/>
          </a:xfrm>
          <a:prstGeom prst="rect">
            <a:avLst/>
          </a:prstGeom>
          <a:noFill/>
        </p:spPr>
        <p:txBody>
          <a:bodyPr wrap="square">
            <a:spAutoFit/>
          </a:bodyPr>
          <a:lstStyle/>
          <a:p>
            <a:pPr algn="l"/>
            <a:r>
              <a:rPr sz="1000" b="0">
                <a:solidFill>
                  <a:srgbClr val="CCD6F1"/>
                </a:solidFill>
              </a:rPr>
              <a:t>Generates candidate answer
from facts + context.
Strict-copy or analytical.</a:t>
            </a:r>
          </a:p>
        </p:txBody>
      </p:sp>
      <p:sp>
        <p:nvSpPr>
          <p:cNvPr id="25" name="TextBox 24"/>
          <p:cNvSpPr txBox="1"/>
          <p:nvPr/>
        </p:nvSpPr>
        <p:spPr>
          <a:xfrm>
            <a:off x="6574536" y="1856232"/>
            <a:ext cx="82296"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66568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6568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02552" y="1225296"/>
            <a:ext cx="1417320" cy="457200"/>
          </a:xfrm>
          <a:prstGeom prst="rect">
            <a:avLst/>
          </a:prstGeom>
          <a:noFill/>
        </p:spPr>
        <p:txBody>
          <a:bodyPr wrap="square">
            <a:spAutoFit/>
          </a:bodyPr>
          <a:lstStyle/>
          <a:p>
            <a:pPr algn="l"/>
            <a:r>
              <a:rPr sz="1150" b="1">
                <a:solidFill>
                  <a:srgbClr val="FFC040"/>
                </a:solidFill>
              </a:rPr>
              <a:t>Reviewer
(1.5B GGUF)</a:t>
            </a:r>
          </a:p>
        </p:txBody>
      </p:sp>
      <p:sp>
        <p:nvSpPr>
          <p:cNvPr id="29" name="TextBox 28"/>
          <p:cNvSpPr txBox="1"/>
          <p:nvPr/>
        </p:nvSpPr>
        <p:spPr>
          <a:xfrm>
            <a:off x="6702552" y="1682496"/>
            <a:ext cx="1417320" cy="1005840"/>
          </a:xfrm>
          <a:prstGeom prst="rect">
            <a:avLst/>
          </a:prstGeom>
          <a:noFill/>
        </p:spPr>
        <p:txBody>
          <a:bodyPr wrap="square">
            <a:spAutoFit/>
          </a:bodyPr>
          <a:lstStyle/>
          <a:p>
            <a:pPr algn="l"/>
            <a:r>
              <a:rPr sz="1000" b="0">
                <a:solidFill>
                  <a:srgbClr val="CCD6F1"/>
                </a:solidFill>
              </a:rPr>
              <a:t>Reviews draft:
verbosity, grounding,
missing fields, conflicts</a:t>
            </a:r>
          </a:p>
        </p:txBody>
      </p:sp>
      <p:sp>
        <p:nvSpPr>
          <p:cNvPr id="30" name="TextBox 29"/>
          <p:cNvSpPr txBox="1"/>
          <p:nvPr/>
        </p:nvSpPr>
        <p:spPr>
          <a:xfrm>
            <a:off x="8174736" y="1856232"/>
            <a:ext cx="82296"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2570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570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02752" y="1225296"/>
            <a:ext cx="1417320" cy="457200"/>
          </a:xfrm>
          <a:prstGeom prst="rect">
            <a:avLst/>
          </a:prstGeom>
          <a:noFill/>
        </p:spPr>
        <p:txBody>
          <a:bodyPr wrap="square">
            <a:spAutoFit/>
          </a:bodyPr>
          <a:lstStyle/>
          <a:p>
            <a:pPr algn="l"/>
            <a:r>
              <a:rPr sz="1150" b="1">
                <a:solidFill>
                  <a:srgbClr val="FFC040"/>
                </a:solidFill>
              </a:rPr>
              <a:t>Gate
(0.5B GGUF)</a:t>
            </a:r>
          </a:p>
        </p:txBody>
      </p:sp>
      <p:sp>
        <p:nvSpPr>
          <p:cNvPr id="34" name="TextBox 33"/>
          <p:cNvSpPr txBox="1"/>
          <p:nvPr/>
        </p:nvSpPr>
        <p:spPr>
          <a:xfrm>
            <a:off x="8302752" y="1682496"/>
            <a:ext cx="1417320" cy="1005840"/>
          </a:xfrm>
          <a:prstGeom prst="rect">
            <a:avLst/>
          </a:prstGeom>
          <a:noFill/>
        </p:spPr>
        <p:txBody>
          <a:bodyPr wrap="square">
            <a:spAutoFit/>
          </a:bodyPr>
          <a:lstStyle/>
          <a:p>
            <a:pPr algn="l"/>
            <a:r>
              <a:rPr sz="1000" b="0">
                <a:solidFill>
                  <a:srgbClr val="CCD6F1"/>
                </a:solidFill>
              </a:rPr>
              <a:t>Decision:
release / retry_once
escalate_3b / reject</a:t>
            </a:r>
          </a:p>
        </p:txBody>
      </p:sp>
      <p:sp>
        <p:nvSpPr>
          <p:cNvPr id="35" name="TextBox 34"/>
          <p:cNvSpPr txBox="1"/>
          <p:nvPr/>
        </p:nvSpPr>
        <p:spPr>
          <a:xfrm>
            <a:off x="9774936" y="1856232"/>
            <a:ext cx="82296"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98572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8572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902952" y="1225296"/>
            <a:ext cx="1417320" cy="457200"/>
          </a:xfrm>
          <a:prstGeom prst="rect">
            <a:avLst/>
          </a:prstGeom>
          <a:noFill/>
        </p:spPr>
        <p:txBody>
          <a:bodyPr wrap="square">
            <a:spAutoFit/>
          </a:bodyPr>
          <a:lstStyle/>
          <a:p>
            <a:pPr algn="l"/>
            <a:r>
              <a:rPr sz="1150" b="1">
                <a:solidFill>
                  <a:srgbClr val="FFC040"/>
                </a:solidFill>
              </a:rPr>
              <a:t>Senior
(Qwen 3B HF)</a:t>
            </a:r>
          </a:p>
        </p:txBody>
      </p:sp>
      <p:sp>
        <p:nvSpPr>
          <p:cNvPr id="39" name="TextBox 38"/>
          <p:cNvSpPr txBox="1"/>
          <p:nvPr/>
        </p:nvSpPr>
        <p:spPr>
          <a:xfrm>
            <a:off x="9902952" y="1682496"/>
            <a:ext cx="1417320" cy="1005840"/>
          </a:xfrm>
          <a:prstGeom prst="rect">
            <a:avLst/>
          </a:prstGeom>
          <a:noFill/>
        </p:spPr>
        <p:txBody>
          <a:bodyPr wrap="square">
            <a:spAutoFit/>
          </a:bodyPr>
          <a:lstStyle/>
          <a:p>
            <a:pPr algn="l"/>
            <a:r>
              <a:rPr sz="1000" b="0">
                <a:solidFill>
                  <a:srgbClr val="CCD6F1"/>
                </a:solidFill>
              </a:rPr>
              <a:t>Escalation model for
conflicts &amp; ambiguities.
Final authoritative answer.</a:t>
            </a:r>
          </a:p>
        </p:txBody>
      </p:sp>
      <p:pic>
        <p:nvPicPr>
          <p:cNvPr id="40" name="Picture 39" descr="flowchart_agentic.png"/>
          <p:cNvPicPr>
            <a:picLocks noChangeAspect="1"/>
          </p:cNvPicPr>
          <p:nvPr/>
        </p:nvPicPr>
        <p:blipFill>
          <a:blip r:embed="rId3"/>
          <a:stretch>
            <a:fillRect/>
          </a:stretch>
        </p:blipFill>
        <p:spPr>
          <a:xfrm>
            <a:off x="1351465" y="2825496"/>
            <a:ext cx="8414327" cy="3213388"/>
          </a:xfrm>
          <a:prstGeom prst="rect">
            <a:avLst/>
          </a:prstGeom>
        </p:spPr>
      </p:pic>
      <p:sp>
        <p:nvSpPr>
          <p:cNvPr id="41" name="TextBox 40"/>
          <p:cNvSpPr txBox="1"/>
          <p:nvPr/>
        </p:nvSpPr>
        <p:spPr>
          <a:xfrm>
            <a:off x="577439" y="6136818"/>
            <a:ext cx="11033945" cy="623248"/>
          </a:xfrm>
          <a:prstGeom prst="rect">
            <a:avLst/>
          </a:prstGeom>
          <a:noFill/>
        </p:spPr>
        <p:txBody>
          <a:bodyPr wrap="square">
            <a:spAutoFit/>
          </a:bodyPr>
          <a:lstStyle/>
          <a:p>
            <a:pPr algn="l"/>
            <a:r>
              <a:rPr sz="1150" dirty="0">
                <a:solidFill>
                  <a:srgbClr val="CCD6F1"/>
                </a:solidFill>
              </a:rPr>
              <a:t>  MODEL ASSIGNMENTS:  Router/Planner/Extractor/Gate → Qwen 0.5B Q4   |   Draft → user model (Llama 8B / Qwen)   |   Reviewer → Qwen 1.5B Q4   |   Senior → Qwen 3B HF</a:t>
            </a:r>
          </a:p>
          <a:p>
            <a:pPr algn="l"/>
            <a:r>
              <a:rPr sz="1150" dirty="0">
                <a:solidFill>
                  <a:srgbClr val="CCD6F1"/>
                </a:solidFill>
              </a:rPr>
              <a:t>  STRICT FACTUAL PATH (</a:t>
            </a:r>
            <a:r>
              <a:rPr sz="1150" dirty="0" err="1">
                <a:solidFill>
                  <a:srgbClr val="CCD6F1"/>
                </a:solidFill>
              </a:rPr>
              <a:t>eval_gate</a:t>
            </a:r>
            <a:r>
              <a:rPr sz="1150" dirty="0">
                <a:solidFill>
                  <a:srgbClr val="CCD6F1"/>
                </a:solidFill>
              </a:rPr>
              <a:t>=true): regex heuristic extraction → validate → release without LLM if high confidence</a:t>
            </a:r>
          </a:p>
          <a:p>
            <a:pPr algn="l"/>
            <a:r>
              <a:rPr sz="1150" dirty="0">
                <a:solidFill>
                  <a:srgbClr val="CCD6F1"/>
                </a:solidFill>
              </a:rPr>
              <a:t>  DISABLED BY DEFAULT  —  enable via </a:t>
            </a:r>
            <a:r>
              <a:rPr sz="1150" dirty="0" err="1">
                <a:solidFill>
                  <a:srgbClr val="CCD6F1"/>
                </a:solidFill>
              </a:rPr>
              <a:t>devtools</a:t>
            </a:r>
            <a:r>
              <a:rPr sz="1150" dirty="0">
                <a:solidFill>
                  <a:srgbClr val="CCD6F1"/>
                </a:solidFill>
              </a:rPr>
              <a:t> panel:  </a:t>
            </a:r>
            <a:r>
              <a:rPr sz="1150" dirty="0" err="1">
                <a:solidFill>
                  <a:srgbClr val="CCD6F1"/>
                </a:solidFill>
              </a:rPr>
              <a:t>enable_agent_pipeline</a:t>
            </a:r>
            <a:r>
              <a:rPr sz="1150" dirty="0">
                <a:solidFill>
                  <a:srgbClr val="CCD6F1"/>
                </a:solidFill>
              </a:rPr>
              <a:t>=true   and   </a:t>
            </a:r>
            <a:r>
              <a:rPr sz="1150" dirty="0" err="1">
                <a:solidFill>
                  <a:srgbClr val="CCD6F1"/>
                </a:solidFill>
              </a:rPr>
              <a:t>enable_eval_gate</a:t>
            </a:r>
            <a:r>
              <a:rPr sz="1150" dirty="0">
                <a:solidFill>
                  <a:srgbClr val="CCD6F1"/>
                </a:solidFill>
              </a:rPr>
              <a:t>=true</a:t>
            </a:r>
          </a:p>
        </p:txBody>
      </p:sp>
      <p:pic>
        <p:nvPicPr>
          <p:cNvPr id="42" name="Picture 41">
            <a:extLst>
              <a:ext uri="{FF2B5EF4-FFF2-40B4-BE49-F238E27FC236}">
                <a16:creationId xmlns:a16="http://schemas.microsoft.com/office/drawing/2014/main" id="{5ECE2E3E-FBFD-D54B-B1C3-3890BD1D9A15}"/>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Architecture – Next.js 14 (App Router) + TypeScript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Modular React components · SSE streaming · JWT auth · Multi-workspace modes</a:t>
            </a:r>
          </a:p>
        </p:txBody>
      </p:sp>
      <p:sp>
        <p:nvSpPr>
          <p:cNvPr id="6" name="TextBox 5"/>
          <p:cNvSpPr txBox="1"/>
          <p:nvPr/>
        </p:nvSpPr>
        <p:spPr>
          <a:xfrm>
            <a:off x="256032" y="1143000"/>
            <a:ext cx="5577840" cy="5486400"/>
          </a:xfrm>
          <a:prstGeom prst="rect">
            <a:avLst/>
          </a:prstGeom>
          <a:noFill/>
        </p:spPr>
        <p:txBody>
          <a:bodyPr wrap="square">
            <a:spAutoFit/>
          </a:bodyPr>
          <a:lstStyle/>
          <a:p>
            <a:pPr algn="l"/>
            <a:r>
              <a:rPr sz="1200">
                <a:solidFill>
                  <a:srgbClr val="CCD6F1"/>
                </a:solidFill>
              </a:rPr>
              <a:t>  🏗️  TECH STACK:</a:t>
            </a:r>
          </a:p>
          <a:p>
            <a:pPr algn="l"/>
            <a:r>
              <a:rPr sz="1200">
                <a:solidFill>
                  <a:srgbClr val="CCD6F1"/>
                </a:solidFill>
              </a:rPr>
              <a:t>    • Next.js 14 (App Router) + TypeScript</a:t>
            </a:r>
          </a:p>
          <a:p>
            <a:pPr algn="l"/>
            <a:r>
              <a:rPr sz="1200">
                <a:solidFill>
                  <a:srgbClr val="CCD6F1"/>
                </a:solidFill>
              </a:rPr>
              <a:t>    • Tailwind CSS utility classes</a:t>
            </a:r>
          </a:p>
          <a:p>
            <a:pPr algn="l"/>
            <a:r>
              <a:rPr sz="1200">
                <a:solidFill>
                  <a:srgbClr val="CCD6F1"/>
                </a:solidFill>
              </a:rPr>
              <a:t>    • Lucide React icons</a:t>
            </a:r>
          </a:p>
          <a:p>
            <a:pPr algn="l"/>
            <a:r>
              <a:rPr sz="1200">
                <a:solidFill>
                  <a:srgbClr val="CCD6F1"/>
                </a:solidFill>
              </a:rPr>
              <a:t>    • Tauri (optional desktop build, src-tauri/)</a:t>
            </a:r>
          </a:p>
          <a:p>
            <a:pPr algn="l"/>
            <a:r>
              <a:rPr sz="1200">
                <a:solidFill>
                  <a:srgbClr val="CCD6F1"/>
                </a:solidFill>
              </a:rPr>
              <a:t>  </a:t>
            </a:r>
          </a:p>
          <a:p>
            <a:pPr algn="l"/>
            <a:r>
              <a:rPr sz="1200">
                <a:solidFill>
                  <a:srgbClr val="CCD6F1"/>
                </a:solidFill>
              </a:rPr>
              <a:t>  📂  APP ROUTES:</a:t>
            </a:r>
          </a:p>
          <a:p>
            <a:pPr algn="l"/>
            <a:r>
              <a:rPr sz="1200">
                <a:solidFill>
                  <a:srgbClr val="CCD6F1"/>
                </a:solidFill>
              </a:rPr>
              <a:t>    • /               – Main workspace (auth-gated)</a:t>
            </a:r>
          </a:p>
          <a:p>
            <a:pPr algn="l"/>
            <a:r>
              <a:rPr sz="1200">
                <a:solidFill>
                  <a:srgbClr val="CCD6F1"/>
                </a:solidFill>
              </a:rPr>
              <a:t>    • /signin         – JWT login page</a:t>
            </a:r>
          </a:p>
          <a:p>
            <a:pPr algn="l"/>
            <a:r>
              <a:rPr sz="1200">
                <a:solidFill>
                  <a:srgbClr val="CCD6F1"/>
                </a:solidFill>
              </a:rPr>
              <a:t>    • /welcome        – First-run onboarding flow</a:t>
            </a:r>
          </a:p>
          <a:p>
            <a:pPr algn="l"/>
            <a:r>
              <a:rPr sz="1200">
                <a:solidFill>
                  <a:srgbClr val="CCD6F1"/>
                </a:solidFill>
              </a:rPr>
              <a:t>    • /dashboard      – Project metrics dashboard</a:t>
            </a:r>
          </a:p>
          <a:p>
            <a:pPr algn="l"/>
            <a:r>
              <a:rPr sz="1200">
                <a:solidFill>
                  <a:srgbClr val="CCD6F1"/>
                </a:solidFill>
              </a:rPr>
              <a:t>    • /pml            – PML template editor workspace</a:t>
            </a:r>
          </a:p>
          <a:p>
            <a:pPr algn="l"/>
            <a:r>
              <a:rPr sz="1200">
                <a:solidFill>
                  <a:srgbClr val="CCD6F1"/>
                </a:solidFill>
              </a:rPr>
              <a:t>    • /usage          – API usage &amp; model telemetry</a:t>
            </a:r>
          </a:p>
          <a:p>
            <a:pPr algn="l"/>
            <a:r>
              <a:rPr sz="1200">
                <a:solidFill>
                  <a:srgbClr val="CCD6F1"/>
                </a:solidFill>
              </a:rPr>
              <a:t>  </a:t>
            </a:r>
          </a:p>
          <a:p>
            <a:pPr algn="l"/>
            <a:r>
              <a:rPr sz="1200">
                <a:solidFill>
                  <a:srgbClr val="CCD6F1"/>
                </a:solidFill>
              </a:rPr>
              <a:t>  🔐  AUTHENTICATION:</a:t>
            </a:r>
          </a:p>
          <a:p>
            <a:pPr algn="l"/>
            <a:r>
              <a:rPr sz="1200">
                <a:solidFill>
                  <a:srgbClr val="CCD6F1"/>
                </a:solidFill>
              </a:rPr>
              <a:t>    • authMe() on mount – redirect to /signin if not logged in</a:t>
            </a:r>
          </a:p>
          <a:p>
            <a:pPr algn="l"/>
            <a:r>
              <a:rPr sz="1200">
                <a:solidFill>
                  <a:srgbClr val="CCD6F1"/>
                </a:solidFill>
              </a:rPr>
              <a:t>    • authLogout() clears session cookie</a:t>
            </a:r>
          </a:p>
          <a:p>
            <a:pPr algn="l"/>
            <a:r>
              <a:rPr sz="1200">
                <a:solidFill>
                  <a:srgbClr val="CCD6F1"/>
                </a:solidFill>
              </a:rPr>
              <a:t>    • First-visit gate → /welcome page</a:t>
            </a:r>
          </a:p>
        </p:txBody>
      </p:sp>
      <p:sp>
        <p:nvSpPr>
          <p:cNvPr id="7" name="TextBox 6"/>
          <p:cNvSpPr txBox="1"/>
          <p:nvPr/>
        </p:nvSpPr>
        <p:spPr>
          <a:xfrm>
            <a:off x="5943600" y="1143000"/>
            <a:ext cx="5943600" cy="5486400"/>
          </a:xfrm>
          <a:prstGeom prst="rect">
            <a:avLst/>
          </a:prstGeom>
          <a:noFill/>
        </p:spPr>
        <p:txBody>
          <a:bodyPr wrap="square">
            <a:spAutoFit/>
          </a:bodyPr>
          <a:lstStyle/>
          <a:p>
            <a:pPr algn="l"/>
            <a:r>
              <a:rPr sz="1200">
                <a:solidFill>
                  <a:srgbClr val="CCD6F1"/>
                </a:solidFill>
              </a:rPr>
              <a:t>  🧩  KEY COMPONENT MODULES:</a:t>
            </a:r>
          </a:p>
          <a:p>
            <a:pPr algn="l"/>
            <a:r>
              <a:rPr sz="1200">
                <a:solidFill>
                  <a:srgbClr val="CCD6F1"/>
                </a:solidFill>
              </a:rPr>
              <a:t>    • components/chat/   – ChatWindow, MessageBubble, ChatInput,</a:t>
            </a:r>
          </a:p>
          <a:p>
            <a:pPr algn="l"/>
            <a:r>
              <a:rPr sz="1200">
                <a:solidFill>
                  <a:srgbClr val="CCD6F1"/>
                </a:solidFill>
              </a:rPr>
              <a:t>       ChatHeader, PreprocessingPreviewPanel, SourceViewerModal,</a:t>
            </a:r>
          </a:p>
          <a:p>
            <a:pPr algn="l"/>
            <a:r>
              <a:rPr sz="1200">
                <a:solidFill>
                  <a:srgbClr val="CCD6F1"/>
                </a:solidFill>
              </a:rPr>
              <a:t>       TableInspectionModal, InlineMetadataPrompt</a:t>
            </a:r>
          </a:p>
          <a:p>
            <a:pPr algn="l"/>
            <a:r>
              <a:rPr sz="1200">
                <a:solidFill>
                  <a:srgbClr val="CCD6F1"/>
                </a:solidFill>
              </a:rPr>
              <a:t>    • components/sidebar/ – Sidebar, ChatList, PdfUpload, Brand</a:t>
            </a:r>
          </a:p>
          <a:p>
            <a:pPr algn="l"/>
            <a:r>
              <a:rPr sz="1200">
                <a:solidFill>
                  <a:srgbClr val="CCD6F1"/>
                </a:solidFill>
              </a:rPr>
              <a:t>    • components/upload/  – PdfUploadButton, UploadProgress,</a:t>
            </a:r>
          </a:p>
          <a:p>
            <a:pPr algn="l"/>
            <a:r>
              <a:rPr sz="1200">
                <a:solidFill>
                  <a:srgbClr val="CCD6F1"/>
                </a:solidFill>
              </a:rPr>
              <a:t>       ChunkingProgress, PdfContextBanner</a:t>
            </a:r>
          </a:p>
          <a:p>
            <a:pPr algn="l"/>
            <a:r>
              <a:rPr sz="1200">
                <a:solidFill>
                  <a:srgbClr val="CCD6F1"/>
                </a:solidFill>
              </a:rPr>
              <a:t>    • components/workspace/ – WorkspaceModeSwitcher,</a:t>
            </a:r>
          </a:p>
          <a:p>
            <a:pPr algn="l"/>
            <a:r>
              <a:rPr sz="1200">
                <a:solidFill>
                  <a:srgbClr val="CCD6F1"/>
                </a:solidFill>
              </a:rPr>
              <a:t>       WorkspaceOverviewDashboard, WorkspaceProjectTree</a:t>
            </a:r>
          </a:p>
          <a:p>
            <a:pPr algn="l"/>
            <a:r>
              <a:rPr sz="1200">
                <a:solidFill>
                  <a:srgbClr val="CCD6F1"/>
                </a:solidFill>
              </a:rPr>
              <a:t>    • components/pml/    – TemplateLibraryPanel</a:t>
            </a:r>
          </a:p>
          <a:p>
            <a:pPr algn="l"/>
            <a:r>
              <a:rPr sz="1200">
                <a:solidFill>
                  <a:srgbClr val="CCD6F1"/>
                </a:solidFill>
              </a:rPr>
              <a:t>    • components/messaging/ – EnterpriseMessagingWorkspace</a:t>
            </a:r>
          </a:p>
          <a:p>
            <a:pPr algn="l"/>
            <a:r>
              <a:rPr sz="1200">
                <a:solidFill>
                  <a:srgbClr val="CCD6F1"/>
                </a:solidFill>
              </a:rPr>
              <a:t>    • components/onboarding/ – GettingStartedModal, ShortcutsModal</a:t>
            </a:r>
          </a:p>
          <a:p>
            <a:pPr algn="l"/>
            <a:r>
              <a:rPr sz="1200">
                <a:solidFill>
                  <a:srgbClr val="CCD6F1"/>
                </a:solidFill>
              </a:rPr>
              <a:t>  </a:t>
            </a:r>
          </a:p>
          <a:p>
            <a:pPr algn="l"/>
            <a:r>
              <a:rPr sz="1200">
                <a:solidFill>
                  <a:srgbClr val="CCD6F1"/>
                </a:solidFill>
              </a:rPr>
              <a:t>  🔄  WORKSPACE MODES: ai | pml | team</a:t>
            </a:r>
          </a:p>
          <a:p>
            <a:pPr algn="l"/>
            <a:r>
              <a:rPr sz="1200">
                <a:solidFill>
                  <a:srgbClr val="CCD6F1"/>
                </a:solidFill>
              </a:rPr>
              <a:t>  📡  STREAMING: SSE (Server-Sent Events) token-by-token from backend</a:t>
            </a:r>
          </a:p>
          <a:p>
            <a:pPr algn="l"/>
            <a:r>
              <a:rPr sz="1200">
                <a:solidFill>
                  <a:srgbClr val="CCD6F1"/>
                </a:solidFill>
              </a:rPr>
              <a:t>  🗄️  STATE: localStorage for chats, sidebar, workspace prefs</a:t>
            </a:r>
          </a:p>
        </p:txBody>
      </p:sp>
      <p:pic>
        <p:nvPicPr>
          <p:cNvPr id="8" name="Picture 7">
            <a:extLst>
              <a:ext uri="{FF2B5EF4-FFF2-40B4-BE49-F238E27FC236}">
                <a16:creationId xmlns:a16="http://schemas.microsoft.com/office/drawing/2014/main" id="{CFB3648C-9451-AF5D-89C3-D9F39BF4F1BC}"/>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Chat Workspace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Real-time AI document Q&amp;A interface with token streaming and citation support</a:t>
            </a:r>
          </a:p>
        </p:txBody>
      </p:sp>
      <p:sp>
        <p:nvSpPr>
          <p:cNvPr id="6" name="TextBox 5"/>
          <p:cNvSpPr txBox="1"/>
          <p:nvPr/>
        </p:nvSpPr>
        <p:spPr>
          <a:xfrm>
            <a:off x="274320" y="1188720"/>
            <a:ext cx="5394960" cy="5394960"/>
          </a:xfrm>
          <a:prstGeom prst="rect">
            <a:avLst/>
          </a:prstGeom>
          <a:noFill/>
        </p:spPr>
        <p:txBody>
          <a:bodyPr wrap="square">
            <a:spAutoFit/>
          </a:bodyPr>
          <a:lstStyle/>
          <a:p>
            <a:pPr algn="l"/>
            <a:r>
              <a:rPr sz="1300">
                <a:solidFill>
                  <a:srgbClr val="CCD6F1"/>
                </a:solidFill>
              </a:rPr>
              <a:t>  💬  Token-by-token SSE streaming from backend LLM (GGUF / HF / Groq / xAI)</a:t>
            </a:r>
          </a:p>
          <a:p>
            <a:pPr algn="l"/>
            <a:r>
              <a:rPr sz="1300">
                <a:solidFill>
                  <a:srgbClr val="CCD6F1"/>
                </a:solidFill>
              </a:rPr>
              <a:t>  📄  PDF context banner – shows indexed document + revision in chat header</a:t>
            </a:r>
          </a:p>
          <a:p>
            <a:pPr algn="l"/>
            <a:r>
              <a:rPr sz="1300">
                <a:solidFill>
                  <a:srgbClr val="CCD6F1"/>
                </a:solidFill>
              </a:rPr>
              <a:t>  🔍  Source Viewer Modal – opens cited chunk with page/section highlight</a:t>
            </a:r>
          </a:p>
          <a:p>
            <a:pPr algn="l"/>
            <a:r>
              <a:rPr sz="1300">
                <a:solidFill>
                  <a:srgbClr val="CCD6F1"/>
                </a:solidFill>
              </a:rPr>
              <a:t>  📊  Table Inspection Modal – explore structured table data extracted from PDF</a:t>
            </a:r>
          </a:p>
          <a:p>
            <a:pPr algn="l"/>
            <a:r>
              <a:rPr sz="1300">
                <a:solidFill>
                  <a:srgbClr val="CCD6F1"/>
                </a:solidFill>
              </a:rPr>
              <a:t>  🔄  Preprocessing Preview Panel – live ingestion progress (filter, chunk, embed steps)</a:t>
            </a:r>
          </a:p>
          <a:p>
            <a:pPr algn="l"/>
            <a:r>
              <a:rPr sz="1300">
                <a:solidFill>
                  <a:srgbClr val="CCD6F1"/>
                </a:solidFill>
              </a:rPr>
              <a:t>  📝  Inline Metadata Prompt – document_type, revision_code, doc_number confirmation</a:t>
            </a:r>
          </a:p>
          <a:p>
            <a:pPr algn="l"/>
            <a:r>
              <a:rPr sz="1300">
                <a:solidFill>
                  <a:srgbClr val="CCD6F1"/>
                </a:solidFill>
              </a:rPr>
              <a:t>  ⏩  Processing Bubble – animated loading state during LLM generation</a:t>
            </a:r>
          </a:p>
          <a:p>
            <a:pPr algn="l"/>
            <a:r>
              <a:rPr sz="1300">
                <a:solidFill>
                  <a:srgbClr val="CCD6F1"/>
                </a:solidFill>
              </a:rPr>
              <a:t>  🧠  Thinking Disclosure – expandable CoT reasoning trace (agent mode)</a:t>
            </a:r>
          </a:p>
          <a:p>
            <a:pPr algn="l"/>
            <a:r>
              <a:rPr sz="1300">
                <a:solidFill>
                  <a:srgbClr val="CCD6F1"/>
                </a:solidFill>
              </a:rPr>
              <a:t>  📌  Model Selector – switch between Lite / Base / Net modes per chat</a:t>
            </a:r>
          </a:p>
          <a:p>
            <a:pPr algn="l"/>
            <a:r>
              <a:rPr sz="1300">
                <a:solidFill>
                  <a:srgbClr val="CCD6F1"/>
                </a:solidFill>
              </a:rPr>
              <a:t>  👍  Feedback Bar – thumbs up/down inline rating per message</a:t>
            </a:r>
          </a:p>
        </p:txBody>
      </p:sp>
      <p:sp>
        <p:nvSpPr>
          <p:cNvPr id="7" name="Rectangle 6"/>
          <p:cNvSpPr/>
          <p:nvPr/>
        </p:nvSpPr>
        <p:spPr>
          <a:xfrm>
            <a:off x="5852160" y="1143000"/>
            <a:ext cx="6035040" cy="539496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852160" y="1143000"/>
            <a:ext cx="6035040" cy="539496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0" y="3611880"/>
            <a:ext cx="5852160" cy="457200"/>
          </a:xfrm>
          <a:prstGeom prst="rect">
            <a:avLst/>
          </a:prstGeom>
          <a:noFill/>
        </p:spPr>
        <p:txBody>
          <a:bodyPr wrap="square">
            <a:spAutoFit/>
          </a:bodyPr>
          <a:lstStyle/>
          <a:p>
            <a:pPr algn="ctr"/>
            <a:r>
              <a:rPr sz="1200" b="0">
                <a:solidFill>
                  <a:srgbClr val="6080CC"/>
                </a:solidFill>
              </a:rPr>
              <a:t>[ADD: Chat Workspace Screenshot]</a:t>
            </a:r>
          </a:p>
        </p:txBody>
      </p:sp>
      <p:pic>
        <p:nvPicPr>
          <p:cNvPr id="13" name="Picture 12">
            <a:extLst>
              <a:ext uri="{FF2B5EF4-FFF2-40B4-BE49-F238E27FC236}">
                <a16:creationId xmlns:a16="http://schemas.microsoft.com/office/drawing/2014/main" id="{364B3EEA-B880-117A-0D38-79E78C47AB94}"/>
              </a:ext>
            </a:extLst>
          </p:cNvPr>
          <p:cNvPicPr>
            <a:picLocks noChangeAspect="1"/>
          </p:cNvPicPr>
          <p:nvPr/>
        </p:nvPicPr>
        <p:blipFill>
          <a:blip r:embed="rId3"/>
          <a:stretch>
            <a:fillRect/>
          </a:stretch>
        </p:blipFill>
        <p:spPr>
          <a:xfrm>
            <a:off x="5852160" y="1143000"/>
            <a:ext cx="6035039" cy="5394960"/>
          </a:xfrm>
          <a:prstGeom prst="rect">
            <a:avLst/>
          </a:prstGeom>
        </p:spPr>
      </p:pic>
      <p:pic>
        <p:nvPicPr>
          <p:cNvPr id="14" name="Picture 13">
            <a:extLst>
              <a:ext uri="{FF2B5EF4-FFF2-40B4-BE49-F238E27FC236}">
                <a16:creationId xmlns:a16="http://schemas.microsoft.com/office/drawing/2014/main" id="{1D269C65-59E3-873B-276E-4E90FF6AD536}"/>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Sidebar, Upload &amp; Document Management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PDF ingestion flow, chat history, multi-mode sidebar, Dev Settings panel</a:t>
            </a:r>
          </a:p>
        </p:txBody>
      </p:sp>
      <p:sp>
        <p:nvSpPr>
          <p:cNvPr id="6" name="TextBox 5"/>
          <p:cNvSpPr txBox="1"/>
          <p:nvPr/>
        </p:nvSpPr>
        <p:spPr>
          <a:xfrm>
            <a:off x="256032" y="1143000"/>
            <a:ext cx="5577840" cy="5486400"/>
          </a:xfrm>
          <a:prstGeom prst="rect">
            <a:avLst/>
          </a:prstGeom>
          <a:noFill/>
        </p:spPr>
        <p:txBody>
          <a:bodyPr wrap="square">
            <a:spAutoFit/>
          </a:bodyPr>
          <a:lstStyle/>
          <a:p>
            <a:pPr algn="l"/>
            <a:r>
              <a:rPr sz="1250">
                <a:solidFill>
                  <a:srgbClr val="CCD6F1"/>
                </a:solidFill>
              </a:rPr>
              <a:t>  📁  SIDEBAR (Sidebar.tsx):</a:t>
            </a:r>
          </a:p>
          <a:p>
            <a:pPr algn="l"/>
            <a:r>
              <a:rPr sz="1250">
                <a:solidFill>
                  <a:srgbClr val="CCD6F1"/>
                </a:solidFill>
              </a:rPr>
              <a:t>    • Collapsible slide-in navigation panel</a:t>
            </a:r>
          </a:p>
          <a:p>
            <a:pPr algn="l"/>
            <a:r>
              <a:rPr sz="1250">
                <a:solidFill>
                  <a:srgbClr val="CCD6F1"/>
                </a:solidFill>
              </a:rPr>
              <a:t>    • Chat list with unread badge counts</a:t>
            </a:r>
          </a:p>
          <a:p>
            <a:pPr algn="l"/>
            <a:r>
              <a:rPr sz="1250">
                <a:solidFill>
                  <a:srgbClr val="CCD6F1"/>
                </a:solidFill>
              </a:rPr>
              <a:t>    • Search/filter chat sessions</a:t>
            </a:r>
          </a:p>
          <a:p>
            <a:pPr algn="l"/>
            <a:r>
              <a:rPr sz="1250">
                <a:solidFill>
                  <a:srgbClr val="CCD6F1"/>
                </a:solidFill>
              </a:rPr>
              <a:t>    • PDF upload trigger (PdfUpload.tsx)</a:t>
            </a:r>
          </a:p>
          <a:p>
            <a:pPr algn="l"/>
            <a:r>
              <a:rPr sz="1250">
                <a:solidFill>
                  <a:srgbClr val="CCD6F1"/>
                </a:solidFill>
              </a:rPr>
              <a:t>    • Model mode indicator (Lite / Base / Net)</a:t>
            </a:r>
          </a:p>
          <a:p>
            <a:pPr algn="l"/>
            <a:r>
              <a:rPr sz="1250">
                <a:solidFill>
                  <a:srgbClr val="CCD6F1"/>
                </a:solidFill>
              </a:rPr>
              <a:t>    • Dev settings panel with live override controls</a:t>
            </a:r>
          </a:p>
          <a:p>
            <a:pPr algn="l"/>
            <a:r>
              <a:rPr sz="1250">
                <a:solidFill>
                  <a:srgbClr val="CCD6F1"/>
                </a:solidFill>
              </a:rPr>
              <a:t>    • User profile + sign-out</a:t>
            </a:r>
          </a:p>
          <a:p>
            <a:pPr algn="l"/>
            <a:r>
              <a:rPr sz="1250">
                <a:solidFill>
                  <a:srgbClr val="CCD6F1"/>
                </a:solidFill>
              </a:rPr>
              <a:t>  </a:t>
            </a:r>
          </a:p>
          <a:p>
            <a:pPr algn="l"/>
            <a:r>
              <a:rPr sz="1250">
                <a:solidFill>
                  <a:srgbClr val="CCD6F1"/>
                </a:solidFill>
              </a:rPr>
              <a:t>  📤  PDF UPLOAD FLOW:</a:t>
            </a:r>
          </a:p>
          <a:p>
            <a:pPr algn="l"/>
            <a:r>
              <a:rPr sz="1250">
                <a:solidFill>
                  <a:srgbClr val="CCD6F1"/>
                </a:solidFill>
              </a:rPr>
              <a:t>    • PdfUploadButton → useSmartUpload hook</a:t>
            </a:r>
          </a:p>
          <a:p>
            <a:pPr algn="l"/>
            <a:r>
              <a:rPr sz="1250">
                <a:solidFill>
                  <a:srgbClr val="CCD6F1"/>
                </a:solidFill>
              </a:rPr>
              <a:t>    • Phase 1: metadata extraction (page-1 preview)</a:t>
            </a:r>
          </a:p>
          <a:p>
            <a:pPr algn="l"/>
            <a:r>
              <a:rPr sz="1250">
                <a:solidFill>
                  <a:srgbClr val="CCD6F1"/>
                </a:solidFill>
              </a:rPr>
              <a:t>    • InlineMetadataPrompt: confirm doc_type / revision</a:t>
            </a:r>
          </a:p>
          <a:p>
            <a:pPr algn="l"/>
            <a:r>
              <a:rPr sz="1250">
                <a:solidFill>
                  <a:srgbClr val="CCD6F1"/>
                </a:solidFill>
              </a:rPr>
              <a:t>    • Phase 2: full commit ingestion via Celery worker</a:t>
            </a:r>
          </a:p>
          <a:p>
            <a:pPr algn="l"/>
            <a:r>
              <a:rPr sz="1250">
                <a:solidFill>
                  <a:srgbClr val="CCD6F1"/>
                </a:solidFill>
              </a:rPr>
              <a:t>    • UploadProgress + ChunkingProgress bar (live SSE)</a:t>
            </a:r>
          </a:p>
          <a:p>
            <a:pPr algn="l"/>
            <a:r>
              <a:rPr sz="1250">
                <a:solidFill>
                  <a:srgbClr val="CCD6F1"/>
                </a:solidFill>
              </a:rPr>
              <a:t>    • Cancel support at each phase via job_id / session_id</a:t>
            </a:r>
          </a:p>
          <a:p>
            <a:pPr algn="l"/>
            <a:r>
              <a:rPr sz="1250">
                <a:solidFill>
                  <a:srgbClr val="CCD6F1"/>
                </a:solidFill>
              </a:rPr>
              <a:t>    • Background ingestion status poller (useIngestionStatusPoller)</a:t>
            </a:r>
          </a:p>
        </p:txBody>
      </p:sp>
      <p:sp>
        <p:nvSpPr>
          <p:cNvPr id="7" name="TextBox 6"/>
          <p:cNvSpPr txBox="1"/>
          <p:nvPr/>
        </p:nvSpPr>
        <p:spPr>
          <a:xfrm>
            <a:off x="5943600" y="1143000"/>
            <a:ext cx="5943600" cy="5486400"/>
          </a:xfrm>
          <a:prstGeom prst="rect">
            <a:avLst/>
          </a:prstGeom>
          <a:noFill/>
        </p:spPr>
        <p:txBody>
          <a:bodyPr wrap="square">
            <a:spAutoFit/>
          </a:bodyPr>
          <a:lstStyle/>
          <a:p>
            <a:pPr algn="l"/>
            <a:r>
              <a:rPr sz="1250">
                <a:solidFill>
                  <a:srgbClr val="CCD6F1"/>
                </a:solidFill>
              </a:rPr>
              <a:t>  🗂️  DOCUMENT CONTEXT PANEL:</a:t>
            </a:r>
          </a:p>
          <a:p>
            <a:pPr algn="l"/>
            <a:r>
              <a:rPr sz="1250">
                <a:solidFill>
                  <a:srgbClr val="CCD6F1"/>
                </a:solidFill>
              </a:rPr>
              <a:t>    • PdfContextBanner shows active doc + revision</a:t>
            </a:r>
          </a:p>
          <a:p>
            <a:pPr algn="l"/>
            <a:r>
              <a:rPr sz="1250">
                <a:solidFill>
                  <a:srgbClr val="CCD6F1"/>
                </a:solidFill>
              </a:rPr>
              <a:t>    • Workspace Overview Dashboard (WorkspaceOverviewDashboard.tsx):</a:t>
            </a:r>
          </a:p>
          <a:p>
            <a:pPr algn="l"/>
            <a:r>
              <a:rPr sz="1250">
                <a:solidFill>
                  <a:srgbClr val="CCD6F1"/>
                </a:solidFill>
              </a:rPr>
              <a:t>       – Document table with revision, chunk count, status</a:t>
            </a:r>
          </a:p>
          <a:p>
            <a:pPr algn="l"/>
            <a:r>
              <a:rPr sz="1250">
                <a:solidFill>
                  <a:srgbClr val="CCD6F1"/>
                </a:solidFill>
              </a:rPr>
              <a:t>       – Indexed document list derived from chat sources</a:t>
            </a:r>
          </a:p>
          <a:p>
            <a:pPr algn="l"/>
            <a:r>
              <a:rPr sz="1250">
                <a:solidFill>
                  <a:srgbClr val="CCD6F1"/>
                </a:solidFill>
              </a:rPr>
              <a:t>    • WorkspaceProjectTree – hierarchical project / doc view</a:t>
            </a:r>
          </a:p>
          <a:p>
            <a:pPr algn="l"/>
            <a:r>
              <a:rPr sz="1250">
                <a:solidFill>
                  <a:srgbClr val="CCD6F1"/>
                </a:solidFill>
              </a:rPr>
              <a:t>  </a:t>
            </a:r>
          </a:p>
          <a:p>
            <a:pPr algn="l"/>
            <a:r>
              <a:rPr sz="1250">
                <a:solidFill>
                  <a:srgbClr val="CCD6F1"/>
                </a:solidFill>
              </a:rPr>
              <a:t>  ⚙️  DEV SETTINGS (devtools/settings API):</a:t>
            </a:r>
          </a:p>
          <a:p>
            <a:pPr algn="l"/>
            <a:r>
              <a:rPr sz="1250">
                <a:solidFill>
                  <a:srgbClr val="CCD6F1"/>
                </a:solidFill>
              </a:rPr>
              <a:t>    • enable_agent_pipeline toggle</a:t>
            </a:r>
          </a:p>
          <a:p>
            <a:pPr algn="l"/>
            <a:r>
              <a:rPr sz="1250">
                <a:solidFill>
                  <a:srgbClr val="CCD6F1"/>
                </a:solidFill>
              </a:rPr>
              <a:t>    • enable_eval_gate toggle</a:t>
            </a:r>
          </a:p>
          <a:p>
            <a:pPr algn="l"/>
            <a:r>
              <a:rPr sz="1250">
                <a:solidFill>
                  <a:srgbClr val="CCD6F1"/>
                </a:solidFill>
              </a:rPr>
              <a:t>    • RAG preprocessor override</a:t>
            </a:r>
          </a:p>
          <a:p>
            <a:pPr algn="l"/>
            <a:r>
              <a:rPr sz="1250">
                <a:solidFill>
                  <a:srgbClr val="CCD6F1"/>
                </a:solidFill>
              </a:rPr>
              <a:t>    • RAG ingest mode override (fast / balanced / high_fidelity)</a:t>
            </a:r>
          </a:p>
          <a:p>
            <a:pPr algn="l"/>
            <a:r>
              <a:rPr sz="1250">
                <a:solidFill>
                  <a:srgbClr val="CCD6F1"/>
                </a:solidFill>
              </a:rPr>
              <a:t>    • enable_fast_document_processing shortcut</a:t>
            </a:r>
          </a:p>
          <a:p>
            <a:pPr algn="l"/>
            <a:r>
              <a:rPr sz="1250">
                <a:solidFill>
                  <a:srgbClr val="CCD6F1"/>
                </a:solidFill>
              </a:rPr>
              <a:t>    • rag_collection_name override</a:t>
            </a:r>
          </a:p>
          <a:p>
            <a:pPr algn="l"/>
            <a:r>
              <a:rPr sz="1250">
                <a:solidFill>
                  <a:srgbClr val="CCD6F1"/>
                </a:solidFill>
              </a:rPr>
              <a:t>  </a:t>
            </a:r>
          </a:p>
          <a:p>
            <a:pPr algn="l"/>
            <a:r>
              <a:rPr sz="1250">
                <a:solidFill>
                  <a:srgbClr val="CCD6F1"/>
                </a:solidFill>
              </a:rPr>
              <a:t>  🔔  NOTIFICATIONS &amp; HISTORY SIDE PANELS</a:t>
            </a:r>
          </a:p>
        </p:txBody>
      </p:sp>
      <p:pic>
        <p:nvPicPr>
          <p:cNvPr id="8" name="Picture 7">
            <a:extLst>
              <a:ext uri="{FF2B5EF4-FFF2-40B4-BE49-F238E27FC236}">
                <a16:creationId xmlns:a16="http://schemas.microsoft.com/office/drawing/2014/main" id="{E8D64FDE-9A43-6168-39D6-FFBFD1547589}"/>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Dashboard, PML Editor &amp; Team Workspace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Three workspace modes: AI Chat | PML Template Editor | Enterprise Team Messaging</a:t>
            </a:r>
          </a:p>
        </p:txBody>
      </p:sp>
      <p:sp>
        <p:nvSpPr>
          <p:cNvPr id="6" name="Rectangle 5"/>
          <p:cNvSpPr/>
          <p:nvPr/>
        </p:nvSpPr>
        <p:spPr>
          <a:xfrm>
            <a:off x="256032"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43000"/>
            <a:ext cx="3749039" cy="539496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234440"/>
            <a:ext cx="3566160" cy="411480"/>
          </a:xfrm>
          <a:prstGeom prst="rect">
            <a:avLst/>
          </a:prstGeom>
          <a:noFill/>
        </p:spPr>
        <p:txBody>
          <a:bodyPr wrap="square">
            <a:spAutoFit/>
          </a:bodyPr>
          <a:lstStyle/>
          <a:p>
            <a:pPr algn="l"/>
            <a:r>
              <a:rPr sz="1500" b="1">
                <a:solidFill>
                  <a:srgbClr val="5B8DFF"/>
                </a:solidFill>
              </a:rPr>
              <a:t>🤖  AI Mode</a:t>
            </a:r>
          </a:p>
        </p:txBody>
      </p:sp>
      <p:sp>
        <p:nvSpPr>
          <p:cNvPr id="9" name="TextBox 8"/>
          <p:cNvSpPr txBox="1"/>
          <p:nvPr/>
        </p:nvSpPr>
        <p:spPr>
          <a:xfrm>
            <a:off x="365760" y="1764792"/>
            <a:ext cx="3529584" cy="594360"/>
          </a:xfrm>
          <a:prstGeom prst="rect">
            <a:avLst/>
          </a:prstGeom>
          <a:noFill/>
        </p:spPr>
        <p:txBody>
          <a:bodyPr wrap="square">
            <a:spAutoFit/>
          </a:bodyPr>
          <a:lstStyle/>
          <a:p>
            <a:pPr algn="l"/>
            <a:r>
              <a:rPr sz="1200" b="0">
                <a:solidFill>
                  <a:srgbClr val="CCD6F1"/>
                </a:solidFill>
              </a:rPr>
              <a:t>• Primary document Q&amp;A workspace</a:t>
            </a:r>
          </a:p>
        </p:txBody>
      </p:sp>
      <p:sp>
        <p:nvSpPr>
          <p:cNvPr id="10" name="TextBox 9"/>
          <p:cNvSpPr txBox="1"/>
          <p:nvPr/>
        </p:nvSpPr>
        <p:spPr>
          <a:xfrm>
            <a:off x="365760" y="2459736"/>
            <a:ext cx="3529584" cy="594360"/>
          </a:xfrm>
          <a:prstGeom prst="rect">
            <a:avLst/>
          </a:prstGeom>
          <a:noFill/>
        </p:spPr>
        <p:txBody>
          <a:bodyPr wrap="square">
            <a:spAutoFit/>
          </a:bodyPr>
          <a:lstStyle/>
          <a:p>
            <a:pPr algn="l"/>
            <a:r>
              <a:rPr sz="1200" b="0">
                <a:solidFill>
                  <a:srgbClr val="CCD6F1"/>
                </a:solidFill>
              </a:rPr>
              <a:t>• Sidebar + ChatWindow layout</a:t>
            </a:r>
          </a:p>
        </p:txBody>
      </p:sp>
      <p:sp>
        <p:nvSpPr>
          <p:cNvPr id="11" name="TextBox 10"/>
          <p:cNvSpPr txBox="1"/>
          <p:nvPr/>
        </p:nvSpPr>
        <p:spPr>
          <a:xfrm>
            <a:off x="365760" y="3154680"/>
            <a:ext cx="3529584" cy="594360"/>
          </a:xfrm>
          <a:prstGeom prst="rect">
            <a:avLst/>
          </a:prstGeom>
          <a:noFill/>
        </p:spPr>
        <p:txBody>
          <a:bodyPr wrap="square">
            <a:spAutoFit/>
          </a:bodyPr>
          <a:lstStyle/>
          <a:p>
            <a:pPr algn="l"/>
            <a:r>
              <a:rPr sz="1200" b="0">
                <a:solidFill>
                  <a:srgbClr val="CCD6F1"/>
                </a:solidFill>
              </a:rPr>
              <a:t>• Supports multiple parallel chat sessions</a:t>
            </a:r>
          </a:p>
        </p:txBody>
      </p:sp>
      <p:sp>
        <p:nvSpPr>
          <p:cNvPr id="12" name="TextBox 11"/>
          <p:cNvSpPr txBox="1"/>
          <p:nvPr/>
        </p:nvSpPr>
        <p:spPr>
          <a:xfrm>
            <a:off x="365760" y="3849624"/>
            <a:ext cx="3529584" cy="594360"/>
          </a:xfrm>
          <a:prstGeom prst="rect">
            <a:avLst/>
          </a:prstGeom>
          <a:noFill/>
        </p:spPr>
        <p:txBody>
          <a:bodyPr wrap="square">
            <a:spAutoFit/>
          </a:bodyPr>
          <a:lstStyle/>
          <a:p>
            <a:pPr algn="l"/>
            <a:r>
              <a:rPr sz="1200" b="0">
                <a:solidFill>
                  <a:srgbClr val="CCD6F1"/>
                </a:solidFill>
              </a:rPr>
              <a:t>• Upload → ingest → query inline workflow</a:t>
            </a:r>
          </a:p>
        </p:txBody>
      </p:sp>
      <p:sp>
        <p:nvSpPr>
          <p:cNvPr id="13" name="TextBox 12"/>
          <p:cNvSpPr txBox="1"/>
          <p:nvPr/>
        </p:nvSpPr>
        <p:spPr>
          <a:xfrm>
            <a:off x="365760" y="4544568"/>
            <a:ext cx="3529584" cy="594360"/>
          </a:xfrm>
          <a:prstGeom prst="rect">
            <a:avLst/>
          </a:prstGeom>
          <a:noFill/>
        </p:spPr>
        <p:txBody>
          <a:bodyPr wrap="square">
            <a:spAutoFit/>
          </a:bodyPr>
          <a:lstStyle/>
          <a:p>
            <a:pPr algn="l"/>
            <a:r>
              <a:rPr sz="1200" b="0">
                <a:solidFill>
                  <a:srgbClr val="CCD6F1"/>
                </a:solidFill>
              </a:rPr>
              <a:t>• Citation + source viewer integration</a:t>
            </a:r>
          </a:p>
        </p:txBody>
      </p:sp>
      <p:sp>
        <p:nvSpPr>
          <p:cNvPr id="14" name="Rectangle 13"/>
          <p:cNvSpPr/>
          <p:nvPr/>
        </p:nvSpPr>
        <p:spPr>
          <a:xfrm>
            <a:off x="4206240"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06240" y="1143000"/>
            <a:ext cx="3749039" cy="539496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0" y="1234440"/>
            <a:ext cx="3566160" cy="411480"/>
          </a:xfrm>
          <a:prstGeom prst="rect">
            <a:avLst/>
          </a:prstGeom>
          <a:noFill/>
        </p:spPr>
        <p:txBody>
          <a:bodyPr wrap="square">
            <a:spAutoFit/>
          </a:bodyPr>
          <a:lstStyle/>
          <a:p>
            <a:pPr algn="l"/>
            <a:r>
              <a:rPr sz="1500" b="1">
                <a:solidFill>
                  <a:srgbClr val="7C3AED"/>
                </a:solidFill>
              </a:rPr>
              <a:t>📝  PML Mode</a:t>
            </a:r>
          </a:p>
        </p:txBody>
      </p:sp>
      <p:sp>
        <p:nvSpPr>
          <p:cNvPr id="17" name="TextBox 16"/>
          <p:cNvSpPr txBox="1"/>
          <p:nvPr/>
        </p:nvSpPr>
        <p:spPr>
          <a:xfrm>
            <a:off x="4315968" y="1764792"/>
            <a:ext cx="3529584" cy="594360"/>
          </a:xfrm>
          <a:prstGeom prst="rect">
            <a:avLst/>
          </a:prstGeom>
          <a:noFill/>
        </p:spPr>
        <p:txBody>
          <a:bodyPr wrap="square">
            <a:spAutoFit/>
          </a:bodyPr>
          <a:lstStyle/>
          <a:p>
            <a:pPr algn="l"/>
            <a:r>
              <a:rPr sz="1200" b="0">
                <a:solidFill>
                  <a:srgbClr val="CCD6F1"/>
                </a:solidFill>
              </a:rPr>
              <a:t>• Process Markup Language template editor</a:t>
            </a:r>
          </a:p>
        </p:txBody>
      </p:sp>
      <p:sp>
        <p:nvSpPr>
          <p:cNvPr id="18" name="TextBox 17"/>
          <p:cNvSpPr txBox="1"/>
          <p:nvPr/>
        </p:nvSpPr>
        <p:spPr>
          <a:xfrm>
            <a:off x="4315968" y="2459736"/>
            <a:ext cx="3529584" cy="594360"/>
          </a:xfrm>
          <a:prstGeom prst="rect">
            <a:avLst/>
          </a:prstGeom>
          <a:noFill/>
        </p:spPr>
        <p:txBody>
          <a:bodyPr wrap="square">
            <a:spAutoFit/>
          </a:bodyPr>
          <a:lstStyle/>
          <a:p>
            <a:pPr algn="l"/>
            <a:r>
              <a:rPr sz="1200" b="0">
                <a:solidFill>
                  <a:srgbClr val="CCD6F1"/>
                </a:solidFill>
              </a:rPr>
              <a:t>• TemplateLibraryPanel – saved templates</a:t>
            </a:r>
          </a:p>
        </p:txBody>
      </p:sp>
      <p:sp>
        <p:nvSpPr>
          <p:cNvPr id="19" name="TextBox 18"/>
          <p:cNvSpPr txBox="1"/>
          <p:nvPr/>
        </p:nvSpPr>
        <p:spPr>
          <a:xfrm>
            <a:off x="4315968" y="3154680"/>
            <a:ext cx="3529584" cy="594360"/>
          </a:xfrm>
          <a:prstGeom prst="rect">
            <a:avLst/>
          </a:prstGeom>
          <a:noFill/>
        </p:spPr>
        <p:txBody>
          <a:bodyPr wrap="square">
            <a:spAutoFit/>
          </a:bodyPr>
          <a:lstStyle/>
          <a:p>
            <a:pPr algn="l"/>
            <a:r>
              <a:rPr sz="1200" b="0">
                <a:solidFill>
                  <a:srgbClr val="CCD6F1"/>
                </a:solidFill>
              </a:rPr>
              <a:t>• Editor + Output tab layout</a:t>
            </a:r>
          </a:p>
        </p:txBody>
      </p:sp>
      <p:sp>
        <p:nvSpPr>
          <p:cNvPr id="20" name="TextBox 19"/>
          <p:cNvSpPr txBox="1"/>
          <p:nvPr/>
        </p:nvSpPr>
        <p:spPr>
          <a:xfrm>
            <a:off x="4315968" y="3849624"/>
            <a:ext cx="3529584" cy="594360"/>
          </a:xfrm>
          <a:prstGeom prst="rect">
            <a:avLst/>
          </a:prstGeom>
          <a:noFill/>
        </p:spPr>
        <p:txBody>
          <a:bodyPr wrap="square">
            <a:spAutoFit/>
          </a:bodyPr>
          <a:lstStyle/>
          <a:p>
            <a:pPr algn="l"/>
            <a:r>
              <a:rPr sz="1200" b="0">
                <a:solidFill>
                  <a:srgbClr val="CCD6F1"/>
                </a:solidFill>
              </a:rPr>
              <a:t>• Learn template from example via API</a:t>
            </a:r>
          </a:p>
        </p:txBody>
      </p:sp>
      <p:sp>
        <p:nvSpPr>
          <p:cNvPr id="21" name="TextBox 20"/>
          <p:cNvSpPr txBox="1"/>
          <p:nvPr/>
        </p:nvSpPr>
        <p:spPr>
          <a:xfrm>
            <a:off x="4315968" y="4544568"/>
            <a:ext cx="3529584" cy="594360"/>
          </a:xfrm>
          <a:prstGeom prst="rect">
            <a:avLst/>
          </a:prstGeom>
          <a:noFill/>
        </p:spPr>
        <p:txBody>
          <a:bodyPr wrap="square">
            <a:spAutoFit/>
          </a:bodyPr>
          <a:lstStyle/>
          <a:p>
            <a:pPr algn="l"/>
            <a:r>
              <a:rPr sz="1200" b="0">
                <a:solidFill>
                  <a:srgbClr val="CCD6F1"/>
                </a:solidFill>
              </a:rPr>
              <a:t>• PML chat backed by base/net model</a:t>
            </a:r>
          </a:p>
        </p:txBody>
      </p:sp>
      <p:sp>
        <p:nvSpPr>
          <p:cNvPr id="22" name="Rectangle 21"/>
          <p:cNvSpPr/>
          <p:nvPr/>
        </p:nvSpPr>
        <p:spPr>
          <a:xfrm>
            <a:off x="8156448"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56448" y="1143000"/>
            <a:ext cx="3749039" cy="539496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47888" y="1234440"/>
            <a:ext cx="3566160" cy="411480"/>
          </a:xfrm>
          <a:prstGeom prst="rect">
            <a:avLst/>
          </a:prstGeom>
          <a:noFill/>
        </p:spPr>
        <p:txBody>
          <a:bodyPr wrap="square">
            <a:spAutoFit/>
          </a:bodyPr>
          <a:lstStyle/>
          <a:p>
            <a:pPr algn="l"/>
            <a:r>
              <a:rPr sz="1500" b="1">
                <a:solidFill>
                  <a:srgbClr val="4ADE80"/>
                </a:solidFill>
              </a:rPr>
              <a:t>👥  Team Mode</a:t>
            </a:r>
          </a:p>
        </p:txBody>
      </p:sp>
      <p:sp>
        <p:nvSpPr>
          <p:cNvPr id="25" name="TextBox 24"/>
          <p:cNvSpPr txBox="1"/>
          <p:nvPr/>
        </p:nvSpPr>
        <p:spPr>
          <a:xfrm>
            <a:off x="8266176" y="1764792"/>
            <a:ext cx="3529584" cy="594360"/>
          </a:xfrm>
          <a:prstGeom prst="rect">
            <a:avLst/>
          </a:prstGeom>
          <a:noFill/>
        </p:spPr>
        <p:txBody>
          <a:bodyPr wrap="square">
            <a:spAutoFit/>
          </a:bodyPr>
          <a:lstStyle/>
          <a:p>
            <a:pPr algn="l"/>
            <a:r>
              <a:rPr sz="1200" b="0">
                <a:solidFill>
                  <a:srgbClr val="CCD6F1"/>
                </a:solidFill>
              </a:rPr>
              <a:t>• Enterprise messaging workspace</a:t>
            </a:r>
          </a:p>
        </p:txBody>
      </p:sp>
      <p:sp>
        <p:nvSpPr>
          <p:cNvPr id="26" name="TextBox 25"/>
          <p:cNvSpPr txBox="1"/>
          <p:nvPr/>
        </p:nvSpPr>
        <p:spPr>
          <a:xfrm>
            <a:off x="8266176" y="2459736"/>
            <a:ext cx="3529584" cy="594360"/>
          </a:xfrm>
          <a:prstGeom prst="rect">
            <a:avLst/>
          </a:prstGeom>
          <a:noFill/>
        </p:spPr>
        <p:txBody>
          <a:bodyPr wrap="square">
            <a:spAutoFit/>
          </a:bodyPr>
          <a:lstStyle/>
          <a:p>
            <a:pPr algn="l"/>
            <a:r>
              <a:rPr sz="1200" b="0">
                <a:solidFill>
                  <a:srgbClr val="CCD6F1"/>
                </a:solidFill>
              </a:rPr>
              <a:t>• Real-time WebSocket team conversations</a:t>
            </a:r>
          </a:p>
        </p:txBody>
      </p:sp>
      <p:sp>
        <p:nvSpPr>
          <p:cNvPr id="27" name="TextBox 26"/>
          <p:cNvSpPr txBox="1"/>
          <p:nvPr/>
        </p:nvSpPr>
        <p:spPr>
          <a:xfrm>
            <a:off x="8266176" y="3154680"/>
            <a:ext cx="3529584" cy="594360"/>
          </a:xfrm>
          <a:prstGeom prst="rect">
            <a:avLst/>
          </a:prstGeom>
          <a:noFill/>
        </p:spPr>
        <p:txBody>
          <a:bodyPr wrap="square">
            <a:spAutoFit/>
          </a:bodyPr>
          <a:lstStyle/>
          <a:p>
            <a:pPr algn="l"/>
            <a:r>
              <a:rPr sz="1200" b="0">
                <a:solidFill>
                  <a:srgbClr val="CCD6F1"/>
                </a:solidFill>
              </a:rPr>
              <a:t>• Project threads + assignee management</a:t>
            </a:r>
          </a:p>
        </p:txBody>
      </p:sp>
      <p:sp>
        <p:nvSpPr>
          <p:cNvPr id="28" name="TextBox 27"/>
          <p:cNvSpPr txBox="1"/>
          <p:nvPr/>
        </p:nvSpPr>
        <p:spPr>
          <a:xfrm>
            <a:off x="8266176" y="3849624"/>
            <a:ext cx="3529584" cy="594360"/>
          </a:xfrm>
          <a:prstGeom prst="rect">
            <a:avLst/>
          </a:prstGeom>
          <a:noFill/>
        </p:spPr>
        <p:txBody>
          <a:bodyPr wrap="square">
            <a:spAutoFit/>
          </a:bodyPr>
          <a:lstStyle/>
          <a:p>
            <a:pPr algn="l"/>
            <a:r>
              <a:rPr sz="1200" b="0">
                <a:solidFill>
                  <a:srgbClr val="CCD6F1"/>
                </a:solidFill>
              </a:rPr>
              <a:t>• Team notifications panel</a:t>
            </a:r>
          </a:p>
        </p:txBody>
      </p:sp>
      <p:sp>
        <p:nvSpPr>
          <p:cNvPr id="29" name="TextBox 28"/>
          <p:cNvSpPr txBox="1"/>
          <p:nvPr/>
        </p:nvSpPr>
        <p:spPr>
          <a:xfrm>
            <a:off x="8266176" y="4544568"/>
            <a:ext cx="3529584" cy="594360"/>
          </a:xfrm>
          <a:prstGeom prst="rect">
            <a:avLst/>
          </a:prstGeom>
          <a:noFill/>
        </p:spPr>
        <p:txBody>
          <a:bodyPr wrap="square">
            <a:spAutoFit/>
          </a:bodyPr>
          <a:lstStyle/>
          <a:p>
            <a:pPr algn="l"/>
            <a:r>
              <a:rPr sz="1200" b="0">
                <a:solidFill>
                  <a:srgbClr val="CCD6F1"/>
                </a:solidFill>
              </a:rPr>
              <a:t>• AI-assist seed from team context</a:t>
            </a:r>
          </a:p>
        </p:txBody>
      </p:sp>
      <p:sp>
        <p:nvSpPr>
          <p:cNvPr id="30" name="TextBox 29"/>
          <p:cNvSpPr txBox="1"/>
          <p:nvPr/>
        </p:nvSpPr>
        <p:spPr>
          <a:xfrm>
            <a:off x="8266176" y="5239512"/>
            <a:ext cx="3529584" cy="594360"/>
          </a:xfrm>
          <a:prstGeom prst="rect">
            <a:avLst/>
          </a:prstGeom>
          <a:noFill/>
        </p:spPr>
        <p:txBody>
          <a:bodyPr wrap="square">
            <a:spAutoFit/>
          </a:bodyPr>
          <a:lstStyle/>
          <a:p>
            <a:pPr algn="l"/>
            <a:r>
              <a:rPr sz="1200" b="0">
                <a:solidFill>
                  <a:srgbClr val="CCD6F1"/>
                </a:solidFill>
              </a:rPr>
              <a:t>• Unread badge count aggregation</a:t>
            </a:r>
          </a:p>
        </p:txBody>
      </p:sp>
      <p:pic>
        <p:nvPicPr>
          <p:cNvPr id="31" name="Picture 30">
            <a:extLst>
              <a:ext uri="{FF2B5EF4-FFF2-40B4-BE49-F238E27FC236}">
                <a16:creationId xmlns:a16="http://schemas.microsoft.com/office/drawing/2014/main" id="{7E5F6740-7FAA-453A-A141-92608A0AAF98}"/>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92842-7213-E0C1-18D2-BB2709FCB7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909E06-4F83-6E6F-A6C5-1643A9E4622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D4299122-C832-6502-1B41-AF172C34D31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3F973AA-251A-CE9D-8C78-65BA468A5144}"/>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4C2B068-8935-8FBD-BE1B-4971F7ACFB16}"/>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9E5A92C6-AA8A-90FC-5BC2-F00E6449967B}"/>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50549A2E-FD78-1DA9-1AB7-13CFA17C7C17}"/>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756C3E8-4D7A-68AE-A765-2058F0451C72}"/>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536E38A0-7D33-D209-E988-584A6ABF46B2}"/>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EDD1858B-12E8-5C34-B16B-377D06B2E464}"/>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1A5642A-07A6-EDC7-259E-C1F2C843254F}"/>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C955A2D9-A3E0-3E30-E603-F75DFDB02392}"/>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10E11DC1-EC14-9846-11E7-BC834CE5E378}"/>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9CEFFE7-F85B-7FF7-6D46-7011782191B1}"/>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5B7D0D26-6289-DC97-268E-995B3938264F}"/>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66712F31-5DCA-FE2C-48A9-ED96BA8B3C19}"/>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270EE725-FC0A-94CB-11E7-94AE038CDDE9}"/>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E03ED98-7A35-D374-3719-DA551A5B1957}"/>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13799F61-6BCC-8FA2-408B-47F9980968ED}"/>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34C6FDB6-77AD-6DD1-309F-20769E160442}"/>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D2FE05AA-B6B3-8114-E503-7AAF2A250379}"/>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E11DADC1-7519-CFEC-2988-5652E4558D3A}"/>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76EE4D08-9C4E-9CD4-0572-9D3CB3E3F1D4}"/>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F17C6521-EDBF-529E-B337-E38F6804463E}"/>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F72CCE35-D843-5AFA-0C27-DFEB44F468D1}"/>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8B096C5F-4DF8-8E0B-14F4-2621CF086CFC}"/>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AFBA36DB-5D89-33E3-FBC6-74798D1D37C9}"/>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DC885BE5-89AE-5DA3-02BB-FDCAB98B65B7}"/>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F7ACFAF9-E466-5845-BA9A-9871DC0B4020}"/>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5F33C65-5F63-479B-A6B2-D7BF1F7AE1D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551942001"/>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73B7CFB-CA93-1B26-4217-449E5B127679}"/>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C96EAFF3-D119-BE63-7D1F-13CA88188B25}"/>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33" name="Picture 32">
            <a:extLst>
              <a:ext uri="{FF2B5EF4-FFF2-40B4-BE49-F238E27FC236}">
                <a16:creationId xmlns:a16="http://schemas.microsoft.com/office/drawing/2014/main" id="{66D97033-2B5A-02BF-1125-5975D6F6D5ED}"/>
              </a:ext>
            </a:extLst>
          </p:cNvPr>
          <p:cNvPicPr>
            <a:picLocks noChangeAspect="1"/>
          </p:cNvPicPr>
          <p:nvPr/>
        </p:nvPicPr>
        <p:blipFill>
          <a:blip r:embed="rId5"/>
          <a:stretch>
            <a:fillRect/>
          </a:stretch>
        </p:blipFill>
        <p:spPr>
          <a:xfrm>
            <a:off x="4133087" y="1178468"/>
            <a:ext cx="3820306" cy="2460844"/>
          </a:xfrm>
          <a:prstGeom prst="rect">
            <a:avLst/>
          </a:prstGeom>
        </p:spPr>
      </p:pic>
      <p:pic>
        <p:nvPicPr>
          <p:cNvPr id="35" name="Picture 34">
            <a:extLst>
              <a:ext uri="{FF2B5EF4-FFF2-40B4-BE49-F238E27FC236}">
                <a16:creationId xmlns:a16="http://schemas.microsoft.com/office/drawing/2014/main" id="{EF239779-DBC8-4309-BF38-5A1B85594B0D}"/>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37" name="Picture 36">
            <a:extLst>
              <a:ext uri="{FF2B5EF4-FFF2-40B4-BE49-F238E27FC236}">
                <a16:creationId xmlns:a16="http://schemas.microsoft.com/office/drawing/2014/main" id="{76BA154C-895D-F8E2-D819-07638B076C51}"/>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29" name="Picture 28">
            <a:extLst>
              <a:ext uri="{FF2B5EF4-FFF2-40B4-BE49-F238E27FC236}">
                <a16:creationId xmlns:a16="http://schemas.microsoft.com/office/drawing/2014/main" id="{90B7CFFC-3426-051F-9252-14D0BF86BC37}"/>
              </a:ext>
            </a:extLst>
          </p:cNvPr>
          <p:cNvPicPr>
            <a:picLocks noChangeAspect="1"/>
          </p:cNvPicPr>
          <p:nvPr/>
        </p:nvPicPr>
        <p:blipFill>
          <a:blip r:embed="rId8"/>
          <a:srcRect t="6484"/>
          <a:stretch>
            <a:fillRect/>
          </a:stretch>
        </p:blipFill>
        <p:spPr>
          <a:xfrm>
            <a:off x="91313" y="1014984"/>
            <a:ext cx="12097639" cy="5733288"/>
          </a:xfrm>
          <a:prstGeom prst="rect">
            <a:avLst/>
          </a:prstGeom>
        </p:spPr>
      </p:pic>
      <p:pic>
        <p:nvPicPr>
          <p:cNvPr id="38" name="Picture 37">
            <a:extLst>
              <a:ext uri="{FF2B5EF4-FFF2-40B4-BE49-F238E27FC236}">
                <a16:creationId xmlns:a16="http://schemas.microsoft.com/office/drawing/2014/main" id="{81849589-DC69-D0CB-A98D-C4D0D98DCECC}"/>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18577-D197-523E-6424-10398E123F4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0E3F715-B1B8-5881-67F0-2EB0B75726D7}"/>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42C385F-DE99-A3CD-C04E-949EDA1A066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83329D2-8D54-AA5A-499D-34F04E76D4AE}"/>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828F65C0-5BAB-133D-8F2E-D397D948C241}"/>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7A7B55B-2610-B1F0-C46A-872E92B6255F}"/>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0ECC27D5-1641-A1E5-9421-99AF5D593950}"/>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B21B6A8-B5B1-BCA0-037B-0A5D358EA857}"/>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87F519F0-231A-E517-7225-276215A8F58B}"/>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E1004E5-B169-28BD-2AD0-A450B866B6C9}"/>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D505D77-C8DC-C90F-2C14-C741AA37927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48B07D4-82FB-44A4-BB34-78E65CBF695D}"/>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DC33F72-1F1C-8DB6-9E62-75CFFF3B2BE9}"/>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4D948816-832F-12EA-460C-2FBF6E0CB158}"/>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334C23F6-5E0A-E93E-A6CC-8B1061513018}"/>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CE66B82-D1E3-004B-5A1F-5090A0B56B90}"/>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9663A8AF-9692-AD3B-5A4F-951EC3B5EC76}"/>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676354C1-1DF5-980C-B0EE-0BBB381111CB}"/>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AD851154-22FD-7B72-C22B-072A7F0551CC}"/>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0C7DD00E-1AB6-2E24-FF86-251C11471F1F}"/>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36C4CE82-50BD-33B4-59AE-AE5194A34376}"/>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7366FD22-7591-E198-8EB8-2417D26AF155}"/>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FC4C6B9-DD9A-1F97-0C30-588458547D70}"/>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4C2842BA-23C3-67BD-BE06-4A51E94B4982}"/>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F9B2C1B9-7FC6-CE0D-CCDA-CC5E949F1AAB}"/>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E2E3DEE1-0046-D7B7-40A3-F2B80AF5DF2D}"/>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370A8ADF-6B1E-62BB-388C-F5B6EAAA0B8F}"/>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56773D4-58D9-84C4-B9C6-E67B4906842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C018E038-3D3D-F3E9-005B-CFC749B1E464}"/>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97F02F56-11DC-EFFC-AD78-8B8E7130740A}"/>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459084795"/>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20B48-C06E-0A20-D317-AF82490073F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75B853-C205-B337-1598-667EA4EFC48C}"/>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ABD5F65-91E1-D674-5E67-3C3D8CB023D7}"/>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83BDC33-6FE6-C0AE-52D8-F718359D1998}"/>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099889FF-B42B-C942-5F94-3A4AA598C141}"/>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4628D2A-1E2B-28F2-B852-835A01C7E99E}"/>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81D7C91-096F-72D4-A9ED-4327AECFC582}"/>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5C5082F-CC87-9571-2416-B11A17F24594}"/>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9876A1BF-CBD9-6A0D-F9AE-64096AF53645}"/>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11EB354-7182-2A23-98E6-DD7AA551F337}"/>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8006C18-16BE-9A41-44C6-8F585D187F78}"/>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9F66869-FFF5-1C75-784B-1C77BE72E18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41B757C1-1773-A940-DC17-CD523D1B9ED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B57F633-F2E3-2DFC-97A5-DAA8A4B090CF}"/>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9E2DD7C7-C39E-3B3F-E2F5-0790E37DA61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131E6694-26A0-9EED-9192-906C471283A2}"/>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9B81F4DE-B073-0597-405C-3D99C7AD5E9F}"/>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A5905120-5BBB-04F5-DCBC-B8DDFECD606D}"/>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64DBE796-A9F6-E028-0DD8-46746B6C420C}"/>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1A6E8B3F-FFFE-74E1-30A9-613EEF6F21E3}"/>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84EEBE9F-BBD5-0596-6691-C7A934D1689C}"/>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E92E9F1-8801-B0EE-77ED-684B085D1AB8}"/>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510C248C-A728-925A-16C1-EAA089B92B53}"/>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33A7744A-3DC4-CDA7-CB4D-5F037A227533}"/>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43F17B89-80A9-D37E-77A6-70B701CAE4C3}"/>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29" name="Picture 28">
            <a:extLst>
              <a:ext uri="{FF2B5EF4-FFF2-40B4-BE49-F238E27FC236}">
                <a16:creationId xmlns:a16="http://schemas.microsoft.com/office/drawing/2014/main" id="{BA7E70EA-1FFB-20A2-25CE-B0E5B0D0C258}"/>
              </a:ext>
            </a:extLst>
          </p:cNvPr>
          <p:cNvPicPr>
            <a:picLocks noChangeAspect="1"/>
          </p:cNvPicPr>
          <p:nvPr/>
        </p:nvPicPr>
        <p:blipFill>
          <a:blip r:embed="rId5"/>
          <a:srcRect t="6484"/>
          <a:stretch>
            <a:fillRect/>
          </a:stretch>
        </p:blipFill>
        <p:spPr>
          <a:xfrm>
            <a:off x="690139" y="1162396"/>
            <a:ext cx="3749039" cy="2476916"/>
          </a:xfrm>
          <a:prstGeom prst="rect">
            <a:avLst/>
          </a:prstGeom>
        </p:spPr>
      </p:pic>
      <p:pic>
        <p:nvPicPr>
          <p:cNvPr id="35" name="Picture 34">
            <a:extLst>
              <a:ext uri="{FF2B5EF4-FFF2-40B4-BE49-F238E27FC236}">
                <a16:creationId xmlns:a16="http://schemas.microsoft.com/office/drawing/2014/main" id="{8E09FB3F-AB3B-4D8C-95DB-68911EAFC6CE}"/>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37" name="Picture 36">
            <a:extLst>
              <a:ext uri="{FF2B5EF4-FFF2-40B4-BE49-F238E27FC236}">
                <a16:creationId xmlns:a16="http://schemas.microsoft.com/office/drawing/2014/main" id="{69F4307F-2EC2-436A-DD1A-6F6B153391D3}"/>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33" name="Picture 32">
            <a:extLst>
              <a:ext uri="{FF2B5EF4-FFF2-40B4-BE49-F238E27FC236}">
                <a16:creationId xmlns:a16="http://schemas.microsoft.com/office/drawing/2014/main" id="{0C224E85-7297-9360-B461-23C055336649}"/>
              </a:ext>
            </a:extLst>
          </p:cNvPr>
          <p:cNvPicPr>
            <a:picLocks noChangeAspect="1"/>
          </p:cNvPicPr>
          <p:nvPr/>
        </p:nvPicPr>
        <p:blipFill>
          <a:blip r:embed="rId8"/>
          <a:stretch>
            <a:fillRect/>
          </a:stretch>
        </p:blipFill>
        <p:spPr>
          <a:xfrm>
            <a:off x="0" y="1078992"/>
            <a:ext cx="12132330" cy="5705856"/>
          </a:xfrm>
          <a:prstGeom prst="rect">
            <a:avLst/>
          </a:prstGeom>
        </p:spPr>
      </p:pic>
      <p:pic>
        <p:nvPicPr>
          <p:cNvPr id="24" name="Picture 23">
            <a:extLst>
              <a:ext uri="{FF2B5EF4-FFF2-40B4-BE49-F238E27FC236}">
                <a16:creationId xmlns:a16="http://schemas.microsoft.com/office/drawing/2014/main" id="{2083D41E-D31E-B77F-FF50-16D81BB0FE1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79309318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8EE71-DEBE-F420-39D3-040CB777BA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1F7EB76-9C38-F75F-2896-F22BB3032065}"/>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1C3E2DB-A210-5942-50DC-6A795797DE6B}"/>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B0BF8EF-3550-4542-3AD3-FF1855B90953}"/>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8F7F7797-BA06-11A0-8BFE-859FF9211208}"/>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490A18D9-A06D-D96E-50A5-6D983E4658FA}"/>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54AA72FD-F5F7-4B4B-06A6-93EB32AA327F}"/>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9FF13C44-9887-ADD1-806B-00515D9C348B}"/>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7A97F327-954E-A7F3-2EA0-3127BBDCCA49}"/>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FF467AA-65D5-2AD0-13D5-89116512B5A9}"/>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37A2E94-7C23-333D-8DB3-D5B4B44665E6}"/>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BC88B39A-C436-6EB1-CD9B-4771C060E674}"/>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F502C6E1-9CA1-2145-A0BE-CE72F1DF0988}"/>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46317394-0AB4-D46C-33CD-725DB13ECDD6}"/>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592A48B7-A5E9-CEA5-B7A6-2826931139A4}"/>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740ADF3D-1D40-9340-817F-437A4F7206AB}"/>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CD6CF51-B7AE-7C53-449D-1F323ADB9D82}"/>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F02CE76-A2A4-72A9-0939-90321845E245}"/>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C5B558CE-1C58-53DF-4ABE-D2E6D4412856}"/>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D5B0F247-D7E5-D53E-D4E8-DC35A21F2269}"/>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56EB0BFB-D099-8C5C-6FA9-4D72E7637D36}"/>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A07B7F79-5EDF-31AD-55DC-3E57B1E3BB18}"/>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44BAD532-7774-46E0-DC3B-AD514E4C6AD5}"/>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316E461-9F68-FFE3-659C-62F25D4AEB92}"/>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A594743D-5328-574A-261A-E79D7C65C3ED}"/>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6DC10BB3-4206-FBA0-72AE-4419B3A7C237}"/>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0E2F6904-8E17-09AF-03E9-8A263AF1428C}"/>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CD4889DE-C51D-F0D6-9771-F06CC9449628}"/>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113DC9FD-56FA-558E-390F-9F23A73D846B}"/>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3788EE1C-5D51-E854-3042-F539B7CF32F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99447545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C7EC7-FC75-3247-03E7-E86E408F31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D9137B6-8379-7292-FFAF-8A79D2ADF0EB}"/>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90F86692-CBC2-F4DE-89A3-5D7667240D9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7896F65-4605-CD62-7186-DB31FD1F4007}"/>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46B30A11-8907-D983-48A1-8DB62EB5558C}"/>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489D597D-BE3A-4BF1-073C-8FCDFDD1F027}"/>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B9E4BAAE-7C2C-F9D6-0915-0463949DF560}"/>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A92CD96-6BE0-CF82-901E-5FD6DEF83D86}"/>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D03177F4-8EEE-0285-6F9F-9F2BC9CD4D59}"/>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BCD2734E-84A2-D027-9F8D-EAAB12C7E0F7}"/>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448A493-4A7D-0E49-D27C-B7A38088749A}"/>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0D06B7F7-2956-607F-BE10-A10DF33891F9}"/>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701657BA-B60D-193F-1D50-5074A2D32ED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951E69C7-20D6-4BE0-0220-7D0BDC84257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7E374C34-BC1E-80A1-3B85-50049F6F36B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09D22789-589D-9B60-9595-B6CB680146C6}"/>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C5742DCA-EFE0-9D55-39D4-5BEFBFA790C1}"/>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F72C0D4A-7980-B9B6-2528-7FECBD18942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81959A2F-AB2C-D1BB-C733-D74BA51DA7C6}"/>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FB0A19FB-2581-FD25-B4CB-A38F69705A68}"/>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7B827405-5568-BE0F-01D3-701C0F6C8C88}"/>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C938644-91BC-484D-A3F2-0DF93EEDE489}"/>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1B69D35B-EA2D-C072-EAF8-8BD1412B11F8}"/>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AE17D34A-7776-08BF-0F4F-3B0ED7DDD5B4}"/>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136427D1-DF6C-9746-E2C0-D4D99A724C04}"/>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29" name="Picture 28">
            <a:extLst>
              <a:ext uri="{FF2B5EF4-FFF2-40B4-BE49-F238E27FC236}">
                <a16:creationId xmlns:a16="http://schemas.microsoft.com/office/drawing/2014/main" id="{7C58B4DE-9787-B1BA-7BD5-6FF37B72E968}"/>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421D4F43-AA08-B263-BF5A-EACC06A37DE0}"/>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7" name="Picture 36">
            <a:extLst>
              <a:ext uri="{FF2B5EF4-FFF2-40B4-BE49-F238E27FC236}">
                <a16:creationId xmlns:a16="http://schemas.microsoft.com/office/drawing/2014/main" id="{1752E9B2-6F47-1F9C-134A-BF00F6A82C6B}"/>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35" name="Picture 34">
            <a:extLst>
              <a:ext uri="{FF2B5EF4-FFF2-40B4-BE49-F238E27FC236}">
                <a16:creationId xmlns:a16="http://schemas.microsoft.com/office/drawing/2014/main" id="{0CED1C7F-F645-739B-54DB-717A3031706C}"/>
              </a:ext>
            </a:extLst>
          </p:cNvPr>
          <p:cNvPicPr>
            <a:picLocks noChangeAspect="1"/>
          </p:cNvPicPr>
          <p:nvPr/>
        </p:nvPicPr>
        <p:blipFill>
          <a:blip r:embed="rId8"/>
          <a:srcRect t="7936"/>
          <a:stretch>
            <a:fillRect/>
          </a:stretch>
        </p:blipFill>
        <p:spPr>
          <a:xfrm>
            <a:off x="-1" y="1004372"/>
            <a:ext cx="12188825" cy="5853628"/>
          </a:xfrm>
          <a:prstGeom prst="rect">
            <a:avLst/>
          </a:prstGeom>
        </p:spPr>
      </p:pic>
      <p:pic>
        <p:nvPicPr>
          <p:cNvPr id="24" name="Picture 23">
            <a:extLst>
              <a:ext uri="{FF2B5EF4-FFF2-40B4-BE49-F238E27FC236}">
                <a16:creationId xmlns:a16="http://schemas.microsoft.com/office/drawing/2014/main" id="{A27FDFCC-7CEE-84D9-53BA-7968225013E6}"/>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744643119"/>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7ED31-FC76-7216-DF43-AB82FFCF849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E1B4C9-00C2-5A08-C274-C0606631D74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54A0571-5B20-5DEF-21BA-CB85392856C3}"/>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6CE0295-B0FC-572F-F47F-5F301187B9C5}"/>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266429D-FB85-C684-2A46-CB777AB4E7F6}"/>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A636526B-31C0-7F24-F009-4709307C388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D311D99E-BBC6-7985-A3DD-173DFB97842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A8E9E85-D931-B507-EDB9-8F0E24511A51}"/>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987E3153-6330-14BD-19FC-A1405BF79E17}"/>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BEC6A59D-D9E2-6E8B-12E3-4B4C55095ACC}"/>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2247A1D-0F17-5132-0384-18A30F42E03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B5265F2C-2650-2F36-6E72-EB2F02C90483}"/>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56BF9416-C747-6D58-BD0E-C8168C30C7AF}"/>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6E0ACF37-0E14-2750-823F-FA012C5A0257}"/>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6C3DA774-CE7C-4F46-E38D-B77119AD2BDB}"/>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D5EFA48-8166-9F8B-FE12-90E768F163F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A0D48B1-4929-F3E9-D39C-51217CCF84BD}"/>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565DEC86-96A6-D8EC-A78E-701DE3C87EF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7ABFA192-06BC-A90C-CE4D-CF37C953096A}"/>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D23CB1F8-0EC0-07CD-F183-B8DB7CF5AEC4}"/>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ABF3485A-FDE1-14C7-7528-A0A438ECB2F4}"/>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646F26B4-3F2D-6493-1577-8DBD6DDDC82B}"/>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8781C5E-52E5-7FBD-0D98-0D956C3AD095}"/>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28FA6817-3502-FF67-6461-FA72DA60C911}"/>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625CC29C-4509-E0BC-E448-A94D7C911E6A}"/>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894CF20E-7103-2E6B-EB12-26598C6446A2}"/>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A8DB2947-6D82-3767-0B76-6346CF7EBF0D}"/>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E41B3CE6-F0C6-BC8E-6C1B-1170B73B079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CE3F4172-22A0-4034-2E64-25B2F7084D82}"/>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A9C6602-542C-F35D-6B3D-FEA3FB58E7B8}"/>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517194638"/>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038AE-5899-7851-95AF-DAA0AC8067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82F2B0D-6FFF-D364-53A7-EB4B8FD03D4F}"/>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1024620-BAD5-23E1-078B-EAFCDC56861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BB9B48F-AB71-54D0-A9C5-53BA4F9B8346}"/>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BFD8983C-CB39-7289-B273-61E1B82D14FD}"/>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F5974B12-029B-759F-320C-F823CF061123}"/>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4633D62-FDEC-DBAF-A70B-17E970823EEE}"/>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0563B95-C3E6-F868-C810-E6EB5372D1B7}"/>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676F207F-CF68-742F-7428-91EB22362843}"/>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62366F2-8823-49CC-F565-774612F37F53}"/>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8073F20-B289-A8EC-0E50-2BC85FBC8102}"/>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54375922-FF05-338E-5A58-B18879EFC728}"/>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2B5C31C-3454-FC11-6399-2A4A3C169E27}"/>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D9B20087-06B2-FC63-113B-D4E0D607B23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021E3CCF-2CFB-4DD3-2CA8-97317294D3A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0AF9A403-AA19-BDFE-1519-DABEC0307086}"/>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6372C6C4-F304-3ED6-DA10-8D14EA7A5172}"/>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952BE429-D182-8007-55FE-2227E59A1627}"/>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589AD293-96A7-60E2-F661-EA8D874FC52E}"/>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F89BB317-6771-F968-FDFD-026275698CC0}"/>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9889D1E2-185F-56A7-9A6E-D7FC463287EB}"/>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B4AFD45D-EF94-D1CE-231A-D9789F0BC0D0}"/>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ADEB440-0550-DB8E-23A1-CCE2940C7A4A}"/>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88F71F7E-C8D3-A9F0-BF40-F2DD6B43B4FD}"/>
              </a:ext>
            </a:extLst>
          </p:cNvPr>
          <p:cNvPicPr>
            <a:picLocks noChangeAspect="1"/>
          </p:cNvPicPr>
          <p:nvPr/>
        </p:nvPicPr>
        <p:blipFill>
          <a:blip r:embed="rId3"/>
          <a:srcRect l="18562" t="7936" r="19254"/>
          <a:stretch>
            <a:fillRect/>
          </a:stretch>
        </p:blipFill>
        <p:spPr>
          <a:xfrm>
            <a:off x="3995926" y="3766266"/>
            <a:ext cx="3968498" cy="2660904"/>
          </a:xfrm>
          <a:prstGeom prst="rect">
            <a:avLst/>
          </a:prstGeom>
        </p:spPr>
      </p:pic>
      <p:pic>
        <p:nvPicPr>
          <p:cNvPr id="27" name="Picture 26">
            <a:extLst>
              <a:ext uri="{FF2B5EF4-FFF2-40B4-BE49-F238E27FC236}">
                <a16:creationId xmlns:a16="http://schemas.microsoft.com/office/drawing/2014/main" id="{024E7884-8D76-22CA-5D13-2121A6D2F5A6}"/>
              </a:ext>
            </a:extLst>
          </p:cNvPr>
          <p:cNvPicPr>
            <a:picLocks noChangeAspect="1"/>
          </p:cNvPicPr>
          <p:nvPr/>
        </p:nvPicPr>
        <p:blipFill>
          <a:blip r:embed="rId4"/>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2D40CF41-54B5-B6AE-1EFB-5B546E0EAE8B}"/>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EDAB991B-F68C-0DD4-FD1E-313DC0755137}"/>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7F306330-A2B9-DAFB-DB4E-7732C783C21A}"/>
              </a:ext>
            </a:extLst>
          </p:cNvPr>
          <p:cNvPicPr>
            <a:picLocks noChangeAspect="1"/>
          </p:cNvPicPr>
          <p:nvPr/>
        </p:nvPicPr>
        <p:blipFill>
          <a:blip r:embed="rId7"/>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F4526D6A-789E-E14D-6D0D-AB82CCC5EF1D}"/>
              </a:ext>
            </a:extLst>
          </p:cNvPr>
          <p:cNvPicPr>
            <a:picLocks noChangeAspect="1"/>
          </p:cNvPicPr>
          <p:nvPr/>
        </p:nvPicPr>
        <p:blipFill>
          <a:blip r:embed="rId8"/>
          <a:srcRect l="18591" t="8213" r="19358"/>
          <a:stretch>
            <a:fillRect/>
          </a:stretch>
        </p:blipFill>
        <p:spPr>
          <a:xfrm>
            <a:off x="186571" y="1071288"/>
            <a:ext cx="11820702" cy="5660859"/>
          </a:xfrm>
          <a:prstGeom prst="rect">
            <a:avLst/>
          </a:prstGeom>
        </p:spPr>
      </p:pic>
      <p:pic>
        <p:nvPicPr>
          <p:cNvPr id="24" name="Picture 23">
            <a:extLst>
              <a:ext uri="{FF2B5EF4-FFF2-40B4-BE49-F238E27FC236}">
                <a16:creationId xmlns:a16="http://schemas.microsoft.com/office/drawing/2014/main" id="{FBB1D261-D0C8-2200-6EF2-B9020D0B618A}"/>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450358160"/>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E81B9-8736-092E-CB0C-38B0341E074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45EC78-CAD5-6E4B-A5F0-5841EBF8BCE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39C8521-B6A4-1A15-F2B0-29A10453F1C2}"/>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FC9E6CA-FDE4-2D84-F1BF-0F685172E98E}"/>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F837288-BE3F-3E5C-A3A3-01F6C7424D67}"/>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F82ACC17-7F85-918B-C11E-DEDF9337494F}"/>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600D250-F09B-773D-D2BF-8C2544FBE82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511152D-F592-9FA8-2A52-2D0498CD169F}"/>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0E40315A-B140-FAA3-253F-4B9393B723D3}"/>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56C0E768-8971-3FE7-46EF-E488DB146414}"/>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3A4EFC93-1B49-B104-FFFE-EE3B8FC1D4F9}"/>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E6E96E6-FEEF-935D-F78F-1A399A6DE64F}"/>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7740D7E2-D1B9-04C7-24B2-DCB1BF18F5F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B9DE39C2-0F2F-D663-D799-2DBEDB7492E3}"/>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12897307-2A8A-181A-516B-0708E5F08F54}"/>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F188F137-42B1-3D16-85B1-9CC6F82547A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1B4A43F0-BE91-87AF-E8A9-126ED1604FE5}"/>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9EF7C004-2F7A-6916-5CBB-94CA9E94F0F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F5B60530-8AD6-2030-E674-87198C0E48FE}"/>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438F0D26-E3F0-47A6-2202-E6DD4399838C}"/>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02FA6D87-3AE8-5CAA-DCEA-63932E466E2F}"/>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FECD7FB-3B60-452C-6109-573B2F8838B2}"/>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C2938266-5EB4-63F3-7BCB-15F101A4A090}"/>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7EBA365-BFA4-237E-24D7-5A129297A867}"/>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670084BE-9425-FDF0-6C2E-23397D761BAB}"/>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58769904-1AFC-2E79-E2A6-39CC05B78425}"/>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668CEEED-6BD6-815F-7AF3-65B433C12DBE}"/>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F907C52-7AE6-8678-5597-FFFA132CE7C1}"/>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63D85F4A-6DF4-FBDB-3C0E-20785E95D6F8}"/>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89EFBC7-A0C0-28BC-2F47-4ED6E9E2A7E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80765682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3CA3E-F989-3D45-2523-721D08D2CE8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1D12DC-EAAA-8050-25AC-769DBBC4BE56}"/>
              </a:ext>
            </a:extLst>
          </p:cNvPr>
          <p:cNvSpPr/>
          <p:nvPr/>
        </p:nvSpPr>
        <p:spPr>
          <a:xfrm>
            <a:off x="36569" y="-109728"/>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F75E2FC-6CCE-C955-9EBA-E57DE51734DA}"/>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C0C77C7-D170-9B96-C6A2-02A6025A1BF3}"/>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9CDE282D-DEBE-32C9-3782-606337C308FB}"/>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8D5A324-29C2-088A-A6C7-428BACF6CF2B}"/>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4CDD46B7-2359-28EF-42AB-7440EC2B0EBB}"/>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11F8028-29EC-23AD-548C-9A52E6288CBF}"/>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54B354BF-BF62-1F0B-F338-E6C2E3F5060C}"/>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A9E5BEFC-3D72-F047-F31E-38FEA26BD5A8}"/>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99CA27B-BA55-0BD4-C78D-38DBEB9D4F4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85C1D6D2-8F0A-1137-1B6F-72ED36EB940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D54519C-33BB-A7F9-0C73-D99C484C86AA}"/>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13DCCA7-24A1-96B6-CC6A-A378772C6840}"/>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26408F55-6723-A465-9D91-80788A70FF88}"/>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5867256B-38D7-269F-C9F4-C93FCB24DDC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845A948-5868-50D7-E748-12A703528FA3}"/>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253AEC58-D1A6-BCC3-6BA3-1267FF18AD9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46D080F9-B070-B1E6-338C-D4692B2F57E5}"/>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7EC63FE0-CE99-B812-62F5-586762DC540D}"/>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E5E3F57F-1BDF-0C7C-CBE8-F6C76FD61C18}"/>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D4DA418F-20B7-274F-2890-C648B0BEC123}"/>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2D88F36B-F0E3-10FC-2A12-E029BA55E80C}"/>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7" name="Picture 26">
            <a:extLst>
              <a:ext uri="{FF2B5EF4-FFF2-40B4-BE49-F238E27FC236}">
                <a16:creationId xmlns:a16="http://schemas.microsoft.com/office/drawing/2014/main" id="{A178A87E-6668-3A55-0424-4B807CE05FCA}"/>
              </a:ext>
            </a:extLst>
          </p:cNvPr>
          <p:cNvPicPr>
            <a:picLocks noChangeAspect="1"/>
          </p:cNvPicPr>
          <p:nvPr/>
        </p:nvPicPr>
        <p:blipFill>
          <a:blip r:embed="rId3"/>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85E3ACD0-EDC9-2D52-86CC-B4EEC578ADF8}"/>
              </a:ext>
            </a:extLst>
          </p:cNvPr>
          <p:cNvPicPr>
            <a:picLocks noChangeAspect="1"/>
          </p:cNvPicPr>
          <p:nvPr/>
        </p:nvPicPr>
        <p:blipFill>
          <a:blip r:embed="rId4"/>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300F2985-FE5A-D152-E986-D888BE515E14}"/>
              </a:ext>
            </a:extLst>
          </p:cNvPr>
          <p:cNvPicPr>
            <a:picLocks noChangeAspect="1"/>
          </p:cNvPicPr>
          <p:nvPr/>
        </p:nvPicPr>
        <p:blipFill>
          <a:blip r:embed="rId5"/>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A13B8A2D-17E4-4AD3-0DC3-368552A993AB}"/>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6867181A-FF89-30D5-346E-3028CF8AEFD0}"/>
              </a:ext>
            </a:extLst>
          </p:cNvPr>
          <p:cNvPicPr>
            <a:picLocks noChangeAspect="1"/>
          </p:cNvPicPr>
          <p:nvPr/>
        </p:nvPicPr>
        <p:blipFill>
          <a:blip r:embed="rId7"/>
          <a:srcRect t="8213"/>
          <a:stretch>
            <a:fillRect/>
          </a:stretch>
        </p:blipFill>
        <p:spPr>
          <a:xfrm>
            <a:off x="258227" y="3766266"/>
            <a:ext cx="3691980" cy="2698542"/>
          </a:xfrm>
          <a:prstGeom prst="rect">
            <a:avLst/>
          </a:prstGeom>
        </p:spPr>
      </p:pic>
      <p:pic>
        <p:nvPicPr>
          <p:cNvPr id="25" name="Picture 24">
            <a:extLst>
              <a:ext uri="{FF2B5EF4-FFF2-40B4-BE49-F238E27FC236}">
                <a16:creationId xmlns:a16="http://schemas.microsoft.com/office/drawing/2014/main" id="{9BFB1520-F72F-1C5C-C70F-F3FF83BD5456}"/>
              </a:ext>
            </a:extLst>
          </p:cNvPr>
          <p:cNvPicPr>
            <a:picLocks noChangeAspect="1"/>
          </p:cNvPicPr>
          <p:nvPr/>
        </p:nvPicPr>
        <p:blipFill>
          <a:blip r:embed="rId8"/>
          <a:srcRect l="18562" t="7936" r="19254"/>
          <a:stretch>
            <a:fillRect/>
          </a:stretch>
        </p:blipFill>
        <p:spPr>
          <a:xfrm>
            <a:off x="0" y="1014984"/>
            <a:ext cx="12152256" cy="5604956"/>
          </a:xfrm>
          <a:prstGeom prst="rect">
            <a:avLst/>
          </a:prstGeom>
        </p:spPr>
      </p:pic>
      <p:pic>
        <p:nvPicPr>
          <p:cNvPr id="30" name="Picture 29">
            <a:extLst>
              <a:ext uri="{FF2B5EF4-FFF2-40B4-BE49-F238E27FC236}">
                <a16:creationId xmlns:a16="http://schemas.microsoft.com/office/drawing/2014/main" id="{AB067845-B3B1-7DAC-86C1-800446903EBF}"/>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932342792"/>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E88DB-94BF-2BC6-DAC2-053EC55C64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F860777-3F4E-920C-36DF-0E11F5972190}"/>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0AA0C8E-9DC4-3629-4A17-CBAFC090ABE4}"/>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A71801F-F97A-F0B0-FC7C-EB73AEF996DD}"/>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AFE8F458-5F4F-A536-E0DB-3AA7369EFD44}"/>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7D12011-15C3-AB7B-8CB4-97A9AEE3B5D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2C318865-646F-86D7-73F6-46F94EB6767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CA2C7A9-AD6A-26F8-7F20-D50626BA4536}"/>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BB5D9E32-272B-F574-2832-2FA8EF5C52A8}"/>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2D9271C-EF14-8342-53BE-6B7FBDCA59E6}"/>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866ED6C-9109-2AFB-A30A-8EC2483892E8}"/>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613579CD-3415-0496-DAA5-41D892A19A49}"/>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DD613A2E-145E-95C2-87CB-51CAA6B5BB17}"/>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6C7A600-C7A0-E9F5-2FEF-526409F679B5}"/>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875E8A59-921C-E902-E82F-4B2D6AF99AF9}"/>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BEB66CA7-7501-1082-9D62-6CC327DDBB5C}"/>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359551C-E30C-3BD9-5220-1551500D8FD4}"/>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FC254026-920B-FDF5-60F8-77DC81AFBF50}"/>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20E9497E-CEAE-7E06-C06A-112F85587622}"/>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0C6ABB06-EB1A-E6A9-97EE-F28A0FA35AF7}"/>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836F9688-4266-1A3F-D7F2-9B09ACDDBAFA}"/>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4BD7B14F-7DD5-9587-AEDE-BDDDB66BC7EA}"/>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7127D99-D3AE-692A-2DA7-D2EB73838E67}"/>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F4125F0-6103-F8E4-9983-595C37B3DA66}"/>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C874ADC6-3626-A831-ACF4-6BC6C5515787}"/>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A35335DE-C8A8-A5F9-5BFC-9660BA324F10}"/>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63338420-C7F1-07AB-46D0-1ABFFDED3735}"/>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682C3B9-0147-D608-0290-7A4FABA236C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0ABAA6F4-AE4E-F7BC-1167-6F84B38284CF}"/>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A2919975-A6FA-27CD-F04B-7ED7E1937BD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489501533"/>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4C7D7-1E6D-0CB0-8CA4-716D116F71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D44885-A352-684A-906C-14235907D7DD}"/>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4D5258C-34F9-BE70-1984-13A325B4468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4F8F6A2-FD5C-DC0F-6051-704B0B7DFC2C}"/>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9ACA0B5D-EDCA-A9CE-8CF6-503006E230A9}"/>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0837214-D126-F51B-C38E-7A4A62DA35FE}"/>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20DE026E-0576-67DD-A0C7-65F6A07F556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6FF3022-5A37-21B0-AB50-DE31E7573AF4}"/>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44E76E29-3D57-4B7E-B7BE-7BED826E500B}"/>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A4E708F0-CFE8-FF0B-F9A0-4F551980DCFA}"/>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27E0E9B-0F4A-2A45-972A-A96D08AF9889}"/>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1A6DA42-8028-2DCD-6CE4-BA63F6B3B7B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F7C2D02A-DE90-7799-8E6C-BCE7F36819B9}"/>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20DC08F-0113-29BF-6169-F7E858E703A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01ADCBBA-1962-0A95-073D-983FB97FD17C}"/>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55DB1AF4-335A-CF51-7E63-660C7BFDDF83}"/>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C766E294-DE1F-BA2C-4B1B-7C3B207D4F5B}"/>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5DA45062-6918-95C9-810F-1A07DB113ED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26FB4EDD-943D-2BAA-B882-C9671C8F258F}"/>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166DAB9E-CAA3-9ED5-2863-DCA103020A10}"/>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AF77EDA6-F5C0-DB7B-D149-5D1503F9761C}"/>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EBB9EE1F-448B-356C-F80C-D0F198563CE0}"/>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8D9DA09-A8A6-74DA-7D0E-8DCFEC0D3F26}"/>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10C5535-BD7A-A21F-ED87-CE47510841C5}"/>
              </a:ext>
            </a:extLst>
          </p:cNvPr>
          <p:cNvPicPr>
            <a:picLocks noChangeAspect="1"/>
          </p:cNvPicPr>
          <p:nvPr/>
        </p:nvPicPr>
        <p:blipFill>
          <a:blip r:embed="rId3"/>
          <a:srcRect l="18562" t="7936" r="19254"/>
          <a:stretch>
            <a:fillRect/>
          </a:stretch>
        </p:blipFill>
        <p:spPr>
          <a:xfrm>
            <a:off x="3995926" y="3766266"/>
            <a:ext cx="3968498" cy="2660904"/>
          </a:xfrm>
          <a:prstGeom prst="rect">
            <a:avLst/>
          </a:prstGeom>
        </p:spPr>
      </p:pic>
      <p:pic>
        <p:nvPicPr>
          <p:cNvPr id="29" name="Picture 28">
            <a:extLst>
              <a:ext uri="{FF2B5EF4-FFF2-40B4-BE49-F238E27FC236}">
                <a16:creationId xmlns:a16="http://schemas.microsoft.com/office/drawing/2014/main" id="{54708E11-5FB5-C91B-5121-97309C695677}"/>
              </a:ext>
            </a:extLst>
          </p:cNvPr>
          <p:cNvPicPr>
            <a:picLocks noChangeAspect="1"/>
          </p:cNvPicPr>
          <p:nvPr/>
        </p:nvPicPr>
        <p:blipFill>
          <a:blip r:embed="rId4"/>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8DC43CAF-C73F-AC91-53E1-760947445918}"/>
              </a:ext>
            </a:extLst>
          </p:cNvPr>
          <p:cNvPicPr>
            <a:picLocks noChangeAspect="1"/>
          </p:cNvPicPr>
          <p:nvPr/>
        </p:nvPicPr>
        <p:blipFill>
          <a:blip r:embed="rId5"/>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A71F8F3F-DA38-D82C-4E16-0934B9EAF4AF}"/>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7B85834A-7195-028D-49CB-CC1EBC04A90A}"/>
              </a:ext>
            </a:extLst>
          </p:cNvPr>
          <p:cNvPicPr>
            <a:picLocks noChangeAspect="1"/>
          </p:cNvPicPr>
          <p:nvPr/>
        </p:nvPicPr>
        <p:blipFill>
          <a:blip r:embed="rId7"/>
          <a:srcRect t="8213"/>
          <a:stretch>
            <a:fillRect/>
          </a:stretch>
        </p:blipFill>
        <p:spPr>
          <a:xfrm>
            <a:off x="258227" y="3766266"/>
            <a:ext cx="3691980" cy="2698542"/>
          </a:xfrm>
          <a:prstGeom prst="rect">
            <a:avLst/>
          </a:prstGeom>
        </p:spPr>
      </p:pic>
      <p:pic>
        <p:nvPicPr>
          <p:cNvPr id="27" name="Picture 26">
            <a:extLst>
              <a:ext uri="{FF2B5EF4-FFF2-40B4-BE49-F238E27FC236}">
                <a16:creationId xmlns:a16="http://schemas.microsoft.com/office/drawing/2014/main" id="{24BF28D5-416A-6EA2-C3EF-B07AADA1E257}"/>
              </a:ext>
            </a:extLst>
          </p:cNvPr>
          <p:cNvPicPr>
            <a:picLocks noChangeAspect="1"/>
          </p:cNvPicPr>
          <p:nvPr/>
        </p:nvPicPr>
        <p:blipFill>
          <a:blip r:embed="rId8"/>
          <a:srcRect l="19020" t="7531" r="19448"/>
          <a:stretch>
            <a:fillRect/>
          </a:stretch>
        </p:blipFill>
        <p:spPr>
          <a:xfrm>
            <a:off x="17519" y="1038894"/>
            <a:ext cx="12100590" cy="5786051"/>
          </a:xfrm>
          <a:prstGeom prst="rect">
            <a:avLst/>
          </a:prstGeom>
        </p:spPr>
      </p:pic>
      <p:pic>
        <p:nvPicPr>
          <p:cNvPr id="24" name="Picture 23">
            <a:extLst>
              <a:ext uri="{FF2B5EF4-FFF2-40B4-BE49-F238E27FC236}">
                <a16:creationId xmlns:a16="http://schemas.microsoft.com/office/drawing/2014/main" id="{59F60E9A-EFD6-38F2-5967-0C8053B4F2F0}"/>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122626416"/>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7E57E-AE64-CF0E-E331-733110DDEC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EF2859-FD9C-1F6D-1E8C-006B5EEE2EB1}"/>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7334D80-04F5-1E97-4CCF-DAB3E7E8AFC1}"/>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20264FC-A14D-45E9-6731-6FCD330BF3D5}"/>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E0293BE5-B15D-583A-2B38-17676207A050}"/>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ED42F66-40DC-DC02-1E3F-C79543393FA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F5923C4F-6D61-83CB-CA6C-F688DDCDED4D}"/>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8DDCC7E4-C384-50A4-2398-8636CDD440E0}"/>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4D2959A8-D337-3877-69C3-A4BC40D5679E}"/>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428AF03-170E-2CE2-F7FB-1C474F42D5D3}"/>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D5C6F5D-6DC8-D250-2EF1-79F7D8267C1D}"/>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CAD00583-8F52-3FAD-0481-240E646EC5CF}"/>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49FBFC5-E13B-0E4E-5AD5-C697351780E5}"/>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37B3826-66C7-DA9C-8A27-C5AE38ACC632}"/>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9E3B1ACC-1E5E-A9B9-8DAB-8491D73D09AC}"/>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3357837-3411-4F83-4E01-DAE58DA74C5D}"/>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B1987F99-9DA8-91F3-02EE-0F9CBF62815F}"/>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B6852AF-3A6E-9743-9B6C-3702010AF95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6A592AF6-3F0F-456E-7EEB-5FD8DFFB9BD9}"/>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5A99E049-EBF3-B0EB-B870-7798C8617809}"/>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96A7F984-315E-BA62-5D05-540311BE63A9}"/>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B5B8FC1-2CC6-D039-012B-80FCC4F448DB}"/>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4071FF15-23BA-C886-8F5B-BE17E1732948}"/>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F77CD2F-65BC-CBE3-4A76-F645399E8F56}"/>
              </a:ext>
            </a:extLst>
          </p:cNvPr>
          <p:cNvPicPr>
            <a:picLocks noChangeAspect="1"/>
          </p:cNvPicPr>
          <p:nvPr/>
        </p:nvPicPr>
        <p:blipFill>
          <a:blip r:embed="rId3"/>
          <a:srcRect l="18562" t="7936" r="19254"/>
          <a:stretch>
            <a:fillRect/>
          </a:stretch>
        </p:blipFill>
        <p:spPr>
          <a:xfrm>
            <a:off x="4142777" y="3766266"/>
            <a:ext cx="3691980" cy="2697480"/>
          </a:xfrm>
          <a:prstGeom prst="rect">
            <a:avLst/>
          </a:prstGeom>
        </p:spPr>
      </p:pic>
      <p:pic>
        <p:nvPicPr>
          <p:cNvPr id="27" name="Picture 26">
            <a:extLst>
              <a:ext uri="{FF2B5EF4-FFF2-40B4-BE49-F238E27FC236}">
                <a16:creationId xmlns:a16="http://schemas.microsoft.com/office/drawing/2014/main" id="{86027DDA-36C7-9FD9-3DCC-66B009C0B1BE}"/>
              </a:ext>
            </a:extLst>
          </p:cNvPr>
          <p:cNvPicPr>
            <a:picLocks noChangeAspect="1"/>
          </p:cNvPicPr>
          <p:nvPr/>
        </p:nvPicPr>
        <p:blipFill>
          <a:blip r:embed="rId4"/>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F6E6ECE3-7B44-DDD9-82A2-AC912D0BC03E}"/>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F02C91FC-ADAD-78B6-BF57-598054E085C6}"/>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E6EAF238-8552-612B-5F0A-0EC986FF6575}"/>
              </a:ext>
            </a:extLst>
          </p:cNvPr>
          <p:cNvPicPr>
            <a:picLocks noChangeAspect="1"/>
          </p:cNvPicPr>
          <p:nvPr/>
        </p:nvPicPr>
        <p:blipFill>
          <a:blip r:embed="rId7"/>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61435816-1DDC-959C-4209-AE8DB2D1556A}"/>
              </a:ext>
            </a:extLst>
          </p:cNvPr>
          <p:cNvPicPr>
            <a:picLocks noChangeAspect="1"/>
          </p:cNvPicPr>
          <p:nvPr/>
        </p:nvPicPr>
        <p:blipFill>
          <a:blip r:embed="rId8"/>
          <a:srcRect t="8213"/>
          <a:stretch>
            <a:fillRect/>
          </a:stretch>
        </p:blipFill>
        <p:spPr>
          <a:xfrm>
            <a:off x="258227" y="3766266"/>
            <a:ext cx="3691980" cy="2698542"/>
          </a:xfrm>
          <a:prstGeom prst="rect">
            <a:avLst/>
          </a:prstGeom>
        </p:spPr>
      </p:pic>
      <p:pic>
        <p:nvPicPr>
          <p:cNvPr id="24" name="Picture 23">
            <a:extLst>
              <a:ext uri="{FF2B5EF4-FFF2-40B4-BE49-F238E27FC236}">
                <a16:creationId xmlns:a16="http://schemas.microsoft.com/office/drawing/2014/main" id="{68F971F6-D985-C29F-450F-9D8DC782D7A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458901421"/>
      </p:ext>
    </p:extLst>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Backend API Exposure &amp; Storage Ecosystem</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FastAPI + Pydantic · MinIO + PostgreSQL PGVector + Redis · Celery task queue</a:t>
            </a:r>
          </a:p>
        </p:txBody>
      </p:sp>
      <p:sp>
        <p:nvSpPr>
          <p:cNvPr id="6" name="TextBox 5"/>
          <p:cNvSpPr txBox="1"/>
          <p:nvPr/>
        </p:nvSpPr>
        <p:spPr>
          <a:xfrm>
            <a:off x="256032" y="1143000"/>
            <a:ext cx="5577840" cy="5486400"/>
          </a:xfrm>
          <a:prstGeom prst="rect">
            <a:avLst/>
          </a:prstGeom>
          <a:noFill/>
        </p:spPr>
        <p:txBody>
          <a:bodyPr wrap="square">
            <a:spAutoFit/>
          </a:bodyPr>
          <a:lstStyle/>
          <a:p>
            <a:pPr algn="l"/>
            <a:r>
              <a:rPr sz="1250" dirty="0">
                <a:solidFill>
                  <a:srgbClr val="CCD6F1"/>
                </a:solidFill>
              </a:rPr>
              <a:t>  🌐  FASTAPI BACKEND:</a:t>
            </a:r>
          </a:p>
          <a:p>
            <a:pPr algn="l"/>
            <a:r>
              <a:rPr sz="1250" dirty="0">
                <a:solidFill>
                  <a:srgbClr val="CCD6F1"/>
                </a:solidFill>
              </a:rPr>
              <a:t>    • Strict </a:t>
            </a:r>
            <a:r>
              <a:rPr sz="1250" dirty="0" err="1">
                <a:solidFill>
                  <a:srgbClr val="CCD6F1"/>
                </a:solidFill>
              </a:rPr>
              <a:t>Pydantic</a:t>
            </a:r>
            <a:r>
              <a:rPr sz="1250" dirty="0">
                <a:solidFill>
                  <a:srgbClr val="CCD6F1"/>
                </a:solidFill>
              </a:rPr>
              <a:t> payload validation</a:t>
            </a:r>
          </a:p>
          <a:p>
            <a:pPr algn="l"/>
            <a:r>
              <a:rPr sz="1250" dirty="0">
                <a:solidFill>
                  <a:srgbClr val="CCD6F1"/>
                </a:solidFill>
              </a:rPr>
              <a:t>    • Swagger UI auto-generated (interactive docs)</a:t>
            </a:r>
          </a:p>
          <a:p>
            <a:pPr algn="l"/>
            <a:r>
              <a:rPr sz="1250" dirty="0">
                <a:solidFill>
                  <a:srgbClr val="CCD6F1"/>
                </a:solidFill>
              </a:rPr>
              <a:t>    • Route groups: Chat, Auth, Upload, RAG, Dev Tools</a:t>
            </a:r>
          </a:p>
          <a:p>
            <a:pPr algn="l"/>
            <a:r>
              <a:rPr sz="1250" dirty="0">
                <a:solidFill>
                  <a:srgbClr val="CCD6F1"/>
                </a:solidFill>
              </a:rPr>
              <a:t>    • SSE (Server-Sent Events) for streaming LLM tokens</a:t>
            </a:r>
          </a:p>
          <a:p>
            <a:pPr algn="l"/>
            <a:r>
              <a:rPr sz="1250" dirty="0">
                <a:solidFill>
                  <a:srgbClr val="CCD6F1"/>
                </a:solidFill>
              </a:rPr>
              <a:t>    • Sidecar process (sidecar_main.py) for auxiliary tasks</a:t>
            </a:r>
          </a:p>
          <a:p>
            <a:pPr algn="l"/>
            <a:r>
              <a:rPr sz="1250" dirty="0">
                <a:solidFill>
                  <a:srgbClr val="CCD6F1"/>
                </a:solidFill>
              </a:rPr>
              <a:t>  </a:t>
            </a:r>
          </a:p>
          <a:p>
            <a:pPr algn="l"/>
            <a:r>
              <a:rPr sz="1250" dirty="0">
                <a:solidFill>
                  <a:srgbClr val="CCD6F1"/>
                </a:solidFill>
              </a:rPr>
              <a:t>  📋  API MODULES:</a:t>
            </a:r>
          </a:p>
          <a:p>
            <a:pPr algn="l"/>
            <a:r>
              <a:rPr sz="1250" dirty="0">
                <a:solidFill>
                  <a:srgbClr val="CCD6F1"/>
                </a:solidFill>
              </a:rPr>
              <a:t>    • backend/</a:t>
            </a:r>
            <a:r>
              <a:rPr sz="1250" dirty="0" err="1">
                <a:solidFill>
                  <a:srgbClr val="CCD6F1"/>
                </a:solidFill>
              </a:rPr>
              <a:t>api</a:t>
            </a:r>
            <a:r>
              <a:rPr sz="1250" dirty="0">
                <a:solidFill>
                  <a:srgbClr val="CCD6F1"/>
                </a:solidFill>
              </a:rPr>
              <a:t>/    – route definitions</a:t>
            </a:r>
          </a:p>
          <a:p>
            <a:pPr algn="l"/>
            <a:r>
              <a:rPr sz="1250" dirty="0">
                <a:solidFill>
                  <a:srgbClr val="CCD6F1"/>
                </a:solidFill>
              </a:rPr>
              <a:t>    • backend/main/   – </a:t>
            </a:r>
            <a:r>
              <a:rPr sz="1250" dirty="0" err="1">
                <a:solidFill>
                  <a:srgbClr val="CCD6F1"/>
                </a:solidFill>
              </a:rPr>
              <a:t>FastAPI</a:t>
            </a:r>
            <a:r>
              <a:rPr sz="1250" dirty="0">
                <a:solidFill>
                  <a:srgbClr val="CCD6F1"/>
                </a:solidFill>
              </a:rPr>
              <a:t> app factory</a:t>
            </a:r>
          </a:p>
          <a:p>
            <a:pPr algn="l"/>
            <a:r>
              <a:rPr sz="1250" dirty="0">
                <a:solidFill>
                  <a:srgbClr val="CCD6F1"/>
                </a:solidFill>
              </a:rPr>
              <a:t>    • backend/pml_main.py – PML service </a:t>
            </a:r>
            <a:r>
              <a:rPr sz="1250" dirty="0" err="1">
                <a:solidFill>
                  <a:srgbClr val="CCD6F1"/>
                </a:solidFill>
              </a:rPr>
              <a:t>entrypoint</a:t>
            </a:r>
            <a:endParaRPr sz="1250" dirty="0">
              <a:solidFill>
                <a:srgbClr val="CCD6F1"/>
              </a:solidFill>
            </a:endParaRPr>
          </a:p>
          <a:p>
            <a:pPr algn="l"/>
            <a:r>
              <a:rPr sz="1250" dirty="0">
                <a:solidFill>
                  <a:srgbClr val="CCD6F1"/>
                </a:solidFill>
              </a:rPr>
              <a:t>    • backend/sidecar_main.py – background sidecar</a:t>
            </a:r>
          </a:p>
          <a:p>
            <a:pPr algn="l"/>
            <a:r>
              <a:rPr sz="1250" dirty="0">
                <a:solidFill>
                  <a:srgbClr val="CCD6F1"/>
                </a:solidFill>
              </a:rPr>
              <a:t>  </a:t>
            </a:r>
          </a:p>
          <a:p>
            <a:pPr algn="l"/>
            <a:r>
              <a:rPr sz="1250" dirty="0">
                <a:solidFill>
                  <a:srgbClr val="CCD6F1"/>
                </a:solidFill>
              </a:rPr>
              <a:t>  🕐  ASYNC WORKERS:</a:t>
            </a:r>
          </a:p>
          <a:p>
            <a:pPr algn="l"/>
            <a:r>
              <a:rPr sz="1250" dirty="0">
                <a:solidFill>
                  <a:srgbClr val="CCD6F1"/>
                </a:solidFill>
              </a:rPr>
              <a:t>    • Celery + Redis broker for PDF ingestion jobs</a:t>
            </a:r>
          </a:p>
          <a:p>
            <a:pPr algn="l"/>
            <a:r>
              <a:rPr sz="1250" dirty="0">
                <a:solidFill>
                  <a:srgbClr val="CCD6F1"/>
                </a:solidFill>
              </a:rPr>
              <a:t>    • </a:t>
            </a:r>
            <a:r>
              <a:rPr sz="1250" dirty="0" err="1">
                <a:solidFill>
                  <a:srgbClr val="CCD6F1"/>
                </a:solidFill>
              </a:rPr>
              <a:t>Celerybeat</a:t>
            </a:r>
            <a:r>
              <a:rPr sz="1250" dirty="0">
                <a:solidFill>
                  <a:srgbClr val="CCD6F1"/>
                </a:solidFill>
              </a:rPr>
              <a:t> scheduler for periodic tasks</a:t>
            </a:r>
          </a:p>
          <a:p>
            <a:pPr algn="l"/>
            <a:r>
              <a:rPr sz="1250" dirty="0">
                <a:solidFill>
                  <a:srgbClr val="CCD6F1"/>
                </a:solidFill>
              </a:rPr>
              <a:t>    • Job ID tracking with </a:t>
            </a:r>
            <a:r>
              <a:rPr sz="1250" dirty="0" err="1">
                <a:solidFill>
                  <a:srgbClr val="CCD6F1"/>
                </a:solidFill>
              </a:rPr>
              <a:t>upload_cancellation</a:t>
            </a:r>
            <a:r>
              <a:rPr sz="1250" dirty="0">
                <a:solidFill>
                  <a:srgbClr val="CCD6F1"/>
                </a:solidFill>
              </a:rPr>
              <a:t> support</a:t>
            </a:r>
          </a:p>
        </p:txBody>
      </p:sp>
      <p:sp>
        <p:nvSpPr>
          <p:cNvPr id="7" name="TextBox 6"/>
          <p:cNvSpPr txBox="1"/>
          <p:nvPr/>
        </p:nvSpPr>
        <p:spPr>
          <a:xfrm>
            <a:off x="5943600" y="1143000"/>
            <a:ext cx="5943600" cy="5486400"/>
          </a:xfrm>
          <a:prstGeom prst="rect">
            <a:avLst/>
          </a:prstGeom>
          <a:noFill/>
        </p:spPr>
        <p:txBody>
          <a:bodyPr wrap="square">
            <a:spAutoFit/>
          </a:bodyPr>
          <a:lstStyle/>
          <a:p>
            <a:pPr algn="l"/>
            <a:r>
              <a:rPr sz="1250" dirty="0">
                <a:solidFill>
                  <a:srgbClr val="CCD6F1"/>
                </a:solidFill>
              </a:rPr>
              <a:t>  🗄️  STORAGE LAYERS:</a:t>
            </a:r>
          </a:p>
          <a:p>
            <a:pPr algn="l"/>
            <a:r>
              <a:rPr sz="1250" dirty="0">
                <a:solidFill>
                  <a:srgbClr val="CCD6F1"/>
                </a:solidFill>
              </a:rPr>
              <a:t>  </a:t>
            </a:r>
          </a:p>
          <a:p>
            <a:pPr algn="l"/>
            <a:r>
              <a:rPr sz="1250" dirty="0">
                <a:solidFill>
                  <a:srgbClr val="CCD6F1"/>
                </a:solidFill>
              </a:rPr>
              <a:t>    </a:t>
            </a:r>
            <a:r>
              <a:rPr sz="1250" dirty="0" err="1">
                <a:solidFill>
                  <a:srgbClr val="CCD6F1"/>
                </a:solidFill>
              </a:rPr>
              <a:t>MinIO</a:t>
            </a:r>
            <a:r>
              <a:rPr sz="1250" dirty="0">
                <a:solidFill>
                  <a:srgbClr val="CCD6F1"/>
                </a:solidFill>
              </a:rPr>
              <a:t> (S3-compatible Object Store):</a:t>
            </a:r>
          </a:p>
          <a:p>
            <a:pPr algn="l"/>
            <a:r>
              <a:rPr sz="1250" dirty="0">
                <a:solidFill>
                  <a:srgbClr val="CCD6F1"/>
                </a:solidFill>
              </a:rPr>
              <a:t>    – Raw PDFs and binary blobs</a:t>
            </a:r>
          </a:p>
          <a:p>
            <a:pPr algn="l"/>
            <a:r>
              <a:rPr sz="1250" dirty="0">
                <a:solidFill>
                  <a:srgbClr val="CCD6F1"/>
                </a:solidFill>
              </a:rPr>
              <a:t>    – Isolated from relational DB</a:t>
            </a:r>
          </a:p>
          <a:p>
            <a:pPr algn="l"/>
            <a:r>
              <a:rPr sz="1250" dirty="0">
                <a:solidFill>
                  <a:srgbClr val="CCD6F1"/>
                </a:solidFill>
              </a:rPr>
              <a:t>    – Local </a:t>
            </a:r>
            <a:r>
              <a:rPr sz="1250" dirty="0" err="1">
                <a:solidFill>
                  <a:srgbClr val="CCD6F1"/>
                </a:solidFill>
              </a:rPr>
              <a:t>minio</a:t>
            </a:r>
            <a:r>
              <a:rPr sz="1250" dirty="0">
                <a:solidFill>
                  <a:srgbClr val="CCD6F1"/>
                </a:solidFill>
              </a:rPr>
              <a:t>-data/ volume</a:t>
            </a:r>
          </a:p>
          <a:p>
            <a:pPr algn="l"/>
            <a:r>
              <a:rPr sz="1250" dirty="0">
                <a:solidFill>
                  <a:srgbClr val="CCD6F1"/>
                </a:solidFill>
              </a:rPr>
              <a:t>  </a:t>
            </a:r>
          </a:p>
          <a:p>
            <a:pPr algn="l"/>
            <a:r>
              <a:rPr sz="1250" dirty="0">
                <a:solidFill>
                  <a:srgbClr val="CCD6F1"/>
                </a:solidFill>
              </a:rPr>
              <a:t>    PostgreSQL + </a:t>
            </a:r>
            <a:r>
              <a:rPr sz="1250" dirty="0" err="1">
                <a:solidFill>
                  <a:srgbClr val="CCD6F1"/>
                </a:solidFill>
              </a:rPr>
              <a:t>PGVector</a:t>
            </a:r>
            <a:r>
              <a:rPr sz="1250" dirty="0">
                <a:solidFill>
                  <a:srgbClr val="CCD6F1"/>
                </a:solidFill>
              </a:rPr>
              <a:t> (Vector DB):</a:t>
            </a:r>
          </a:p>
          <a:p>
            <a:pPr algn="l"/>
            <a:r>
              <a:rPr sz="1250" dirty="0">
                <a:solidFill>
                  <a:srgbClr val="CCD6F1"/>
                </a:solidFill>
              </a:rPr>
              <a:t>    – User accounts, projects, session data</a:t>
            </a:r>
          </a:p>
          <a:p>
            <a:pPr algn="l"/>
            <a:r>
              <a:rPr sz="1250" dirty="0">
                <a:solidFill>
                  <a:srgbClr val="CCD6F1"/>
                </a:solidFill>
              </a:rPr>
              <a:t>    – 1024-dimensional BAAI/bge-m3 vector index</a:t>
            </a:r>
          </a:p>
          <a:p>
            <a:pPr algn="l"/>
            <a:r>
              <a:rPr sz="1250" dirty="0">
                <a:solidFill>
                  <a:srgbClr val="CCD6F1"/>
                </a:solidFill>
              </a:rPr>
              <a:t>    – </a:t>
            </a:r>
            <a:r>
              <a:rPr sz="1250" dirty="0" err="1">
                <a:solidFill>
                  <a:srgbClr val="CCD6F1"/>
                </a:solidFill>
              </a:rPr>
              <a:t>langchain_pg_embedding</a:t>
            </a:r>
            <a:r>
              <a:rPr sz="1250" dirty="0">
                <a:solidFill>
                  <a:srgbClr val="CCD6F1"/>
                </a:solidFill>
              </a:rPr>
              <a:t> + </a:t>
            </a:r>
            <a:r>
              <a:rPr sz="1250" dirty="0" err="1">
                <a:solidFill>
                  <a:srgbClr val="CCD6F1"/>
                </a:solidFill>
              </a:rPr>
              <a:t>langchain_pg_collection</a:t>
            </a:r>
            <a:r>
              <a:rPr sz="1250" dirty="0">
                <a:solidFill>
                  <a:srgbClr val="CCD6F1"/>
                </a:solidFill>
              </a:rPr>
              <a:t> tables</a:t>
            </a:r>
          </a:p>
          <a:p>
            <a:pPr algn="l"/>
            <a:r>
              <a:rPr sz="1250" dirty="0">
                <a:solidFill>
                  <a:srgbClr val="CCD6F1"/>
                </a:solidFill>
              </a:rPr>
              <a:t>    – Revision-safe </a:t>
            </a:r>
            <a:r>
              <a:rPr sz="1250" dirty="0" err="1">
                <a:solidFill>
                  <a:srgbClr val="CCD6F1"/>
                </a:solidFill>
              </a:rPr>
              <a:t>upsert</a:t>
            </a:r>
            <a:r>
              <a:rPr sz="1250" dirty="0">
                <a:solidFill>
                  <a:srgbClr val="CCD6F1"/>
                </a:solidFill>
              </a:rPr>
              <a:t> strategy</a:t>
            </a:r>
          </a:p>
          <a:p>
            <a:pPr algn="l"/>
            <a:r>
              <a:rPr sz="1250" dirty="0">
                <a:solidFill>
                  <a:srgbClr val="CCD6F1"/>
                </a:solidFill>
              </a:rPr>
              <a:t>  </a:t>
            </a:r>
          </a:p>
          <a:p>
            <a:pPr algn="l"/>
            <a:r>
              <a:rPr sz="1250" dirty="0">
                <a:solidFill>
                  <a:srgbClr val="CCD6F1"/>
                </a:solidFill>
              </a:rPr>
              <a:t>    Redis (Key-Value Store):</a:t>
            </a:r>
          </a:p>
          <a:p>
            <a:pPr algn="l"/>
            <a:r>
              <a:rPr sz="1250" dirty="0">
                <a:solidFill>
                  <a:srgbClr val="CCD6F1"/>
                </a:solidFill>
              </a:rPr>
              <a:t>    – SSE streaming state tracking</a:t>
            </a:r>
          </a:p>
          <a:p>
            <a:pPr algn="l"/>
            <a:r>
              <a:rPr sz="1250" dirty="0">
                <a:solidFill>
                  <a:srgbClr val="CCD6F1"/>
                </a:solidFill>
              </a:rPr>
              <a:t>    – Celery task broker + result backend</a:t>
            </a:r>
          </a:p>
          <a:p>
            <a:pPr algn="l"/>
            <a:r>
              <a:rPr sz="1250" dirty="0">
                <a:solidFill>
                  <a:srgbClr val="CCD6F1"/>
                </a:solidFill>
              </a:rPr>
              <a:t>    – Session abort signals (</a:t>
            </a:r>
            <a:r>
              <a:rPr sz="1250" dirty="0" err="1">
                <a:solidFill>
                  <a:srgbClr val="CCD6F1"/>
                </a:solidFill>
              </a:rPr>
              <a:t>is_aborted</a:t>
            </a:r>
            <a:r>
              <a:rPr sz="1250" dirty="0">
                <a:solidFill>
                  <a:srgbClr val="CCD6F1"/>
                </a:solidFill>
              </a:rPr>
              <a:t>())</a:t>
            </a:r>
          </a:p>
          <a:p>
            <a:pPr algn="l"/>
            <a:r>
              <a:rPr sz="1250" dirty="0">
                <a:solidFill>
                  <a:srgbClr val="CCD6F1"/>
                </a:solidFill>
              </a:rPr>
              <a:t>    – Used-chunk deduplication per session</a:t>
            </a:r>
          </a:p>
        </p:txBody>
      </p:sp>
      <p:pic>
        <p:nvPicPr>
          <p:cNvPr id="8" name="Picture 7">
            <a:extLst>
              <a:ext uri="{FF2B5EF4-FFF2-40B4-BE49-F238E27FC236}">
                <a16:creationId xmlns:a16="http://schemas.microsoft.com/office/drawing/2014/main" id="{A7DBA447-7554-72FC-0E8A-1C38845C81C7}"/>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New Features &amp; Enhancements</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Since initial release – advanced pipeline capabilities and quality gates</a:t>
            </a:r>
          </a:p>
        </p:txBody>
      </p:sp>
      <p:sp>
        <p:nvSpPr>
          <p:cNvPr id="6" name="TextBox 5"/>
          <p:cNvSpPr txBox="1"/>
          <p:nvPr/>
        </p:nvSpPr>
        <p:spPr>
          <a:xfrm>
            <a:off x="256032" y="1170432"/>
            <a:ext cx="3794760" cy="5486400"/>
          </a:xfrm>
          <a:prstGeom prst="rect">
            <a:avLst/>
          </a:prstGeom>
          <a:noFill/>
        </p:spPr>
        <p:txBody>
          <a:bodyPr wrap="square">
            <a:spAutoFit/>
          </a:bodyPr>
          <a:lstStyle/>
          <a:p>
            <a:pPr algn="l"/>
            <a:r>
              <a:rPr sz="1200">
                <a:solidFill>
                  <a:srgbClr val="CCD6F1"/>
                </a:solidFill>
              </a:rPr>
              <a:t>  🚀  AGENTIC REVIEW PIPELINE</a:t>
            </a:r>
          </a:p>
          <a:p>
            <a:pPr algn="l"/>
            <a:r>
              <a:rPr sz="1200">
                <a:solidFill>
                  <a:srgbClr val="CCD6F1"/>
                </a:solidFill>
              </a:rPr>
              <a:t>    7-stage deliberation chain with 3 local models</a:t>
            </a:r>
          </a:p>
          <a:p>
            <a:pPr algn="l"/>
            <a:r>
              <a:rPr sz="1200">
                <a:solidFill>
                  <a:srgbClr val="CCD6F1"/>
                </a:solidFill>
              </a:rPr>
              <a:t>    Strict factual heuristic + LLM reviewer gate</a:t>
            </a:r>
          </a:p>
          <a:p>
            <a:pPr algn="l"/>
            <a:r>
              <a:rPr sz="1200">
                <a:solidFill>
                  <a:srgbClr val="CCD6F1"/>
                </a:solidFill>
              </a:rPr>
              <a:t>    Senior escalation for conflicts &amp; ambiguities</a:t>
            </a:r>
          </a:p>
          <a:p>
            <a:pPr algn="l"/>
            <a:r>
              <a:rPr sz="1200">
                <a:solidFill>
                  <a:srgbClr val="CCD6F1"/>
                </a:solidFill>
              </a:rPr>
              <a:t>  </a:t>
            </a:r>
          </a:p>
          <a:p>
            <a:pPr algn="l"/>
            <a:r>
              <a:rPr sz="1200">
                <a:solidFill>
                  <a:srgbClr val="CCD6F1"/>
                </a:solidFill>
              </a:rPr>
              <a:t>  🔍  MULTI-LANE RETRIEVAL</a:t>
            </a:r>
          </a:p>
          <a:p>
            <a:pPr algn="l"/>
            <a:r>
              <a:rPr sz="1200">
                <a:solidFill>
                  <a:srgbClr val="CCD6F1"/>
                </a:solidFill>
              </a:rPr>
              <a:t>    Separate text / parent / image / child lanes</a:t>
            </a:r>
          </a:p>
          <a:p>
            <a:pPr algn="l"/>
            <a:r>
              <a:rPr sz="1200">
                <a:solidFill>
                  <a:srgbClr val="CCD6F1"/>
                </a:solidFill>
              </a:rPr>
              <a:t>    Prevents child-row domination of results</a:t>
            </a:r>
          </a:p>
          <a:p>
            <a:pPr algn="l"/>
            <a:r>
              <a:rPr sz="1200">
                <a:solidFill>
                  <a:srgbClr val="CCD6F1"/>
                </a:solidFill>
              </a:rPr>
              <a:t>    Deterministic parent lookup by doc_id SQL</a:t>
            </a:r>
          </a:p>
          <a:p>
            <a:pPr algn="l"/>
            <a:r>
              <a:rPr sz="1200">
                <a:solidFill>
                  <a:srgbClr val="CCD6F1"/>
                </a:solidFill>
              </a:rPr>
              <a:t>  </a:t>
            </a:r>
          </a:p>
          <a:p>
            <a:pPr algn="l"/>
            <a:r>
              <a:rPr sz="1200">
                <a:solidFill>
                  <a:srgbClr val="CCD6F1"/>
                </a:solidFill>
              </a:rPr>
              <a:t>  📊  QUERY PROFILE ROUTING</a:t>
            </a:r>
          </a:p>
          <a:p>
            <a:pPr algn="l"/>
            <a:r>
              <a:rPr sz="1200">
                <a:solidFill>
                  <a:srgbClr val="CCD6F1"/>
                </a:solidFill>
              </a:rPr>
              <a:t>    7 profiles: metadata, table, image, summary,</a:t>
            </a:r>
          </a:p>
          <a:p>
            <a:pPr algn="l"/>
            <a:r>
              <a:rPr sz="1200">
                <a:solidFill>
                  <a:srgbClr val="CCD6F1"/>
                </a:solidFill>
              </a:rPr>
              <a:t>    explanation, factual, general</a:t>
            </a:r>
          </a:p>
          <a:p>
            <a:pPr algn="l"/>
            <a:r>
              <a:rPr sz="1200">
                <a:solidFill>
                  <a:srgbClr val="CCD6F1"/>
                </a:solidFill>
              </a:rPr>
              <a:t>    Per-profile element weights + lane budgets</a:t>
            </a:r>
          </a:p>
        </p:txBody>
      </p:sp>
      <p:sp>
        <p:nvSpPr>
          <p:cNvPr id="7" name="TextBox 6"/>
          <p:cNvSpPr txBox="1"/>
          <p:nvPr/>
        </p:nvSpPr>
        <p:spPr>
          <a:xfrm>
            <a:off x="4160520" y="1170432"/>
            <a:ext cx="3794760" cy="5486400"/>
          </a:xfrm>
          <a:prstGeom prst="rect">
            <a:avLst/>
          </a:prstGeom>
          <a:noFill/>
        </p:spPr>
        <p:txBody>
          <a:bodyPr wrap="square">
            <a:spAutoFit/>
          </a:bodyPr>
          <a:lstStyle/>
          <a:p>
            <a:pPr algn="l"/>
            <a:r>
              <a:rPr sz="1200">
                <a:solidFill>
                  <a:srgbClr val="CCD6F1"/>
                </a:solidFill>
              </a:rPr>
              <a:t>  📝  DOCUMENT-TYPE AWARE CHUNKING</a:t>
            </a:r>
          </a:p>
          <a:p>
            <a:pPr algn="l"/>
            <a:r>
              <a:rPr sz="1200">
                <a:solidFill>
                  <a:srgbClr val="CCD6F1"/>
                </a:solidFill>
              </a:rPr>
              <a:t>    Auto-detect: spec, procedure, report, drawing, datasheet</a:t>
            </a:r>
          </a:p>
          <a:p>
            <a:pPr algn="l"/>
            <a:r>
              <a:rPr sz="1200">
                <a:solidFill>
                  <a:srgbClr val="CCD6F1"/>
                </a:solidFill>
              </a:rPr>
              <a:t>    Tailored chunk_size + overlap per doc type</a:t>
            </a:r>
          </a:p>
          <a:p>
            <a:pPr algn="l"/>
            <a:r>
              <a:rPr sz="1200">
                <a:solidFill>
                  <a:srgbClr val="CCD6F1"/>
                </a:solidFill>
              </a:rPr>
              <a:t>    Content + filename signals (no LLM needed)</a:t>
            </a:r>
          </a:p>
          <a:p>
            <a:pPr algn="l"/>
            <a:r>
              <a:rPr sz="1200">
                <a:solidFill>
                  <a:srgbClr val="CCD6F1"/>
                </a:solidFill>
              </a:rPr>
              <a:t>  </a:t>
            </a:r>
          </a:p>
          <a:p>
            <a:pPr algn="l"/>
            <a:r>
              <a:rPr sz="1200">
                <a:solidFill>
                  <a:srgbClr val="CCD6F1"/>
                </a:solidFill>
              </a:rPr>
              <a:t>  🏷️  INLINE METADATA EXTRACTION</a:t>
            </a:r>
          </a:p>
          <a:p>
            <a:pPr algn="l"/>
            <a:r>
              <a:rPr sz="1200">
                <a:solidFill>
                  <a:srgbClr val="CCD6F1"/>
                </a:solidFill>
              </a:rPr>
              <a:t>    Page-1 preview fast path (metadata mode)</a:t>
            </a:r>
          </a:p>
          <a:p>
            <a:pPr algn="l"/>
            <a:r>
              <a:rPr sz="1200">
                <a:solidFill>
                  <a:srgbClr val="CCD6F1"/>
                </a:solidFill>
              </a:rPr>
              <a:t>    LLM-extracted: doc_type, revision, doc_number</a:t>
            </a:r>
          </a:p>
          <a:p>
            <a:pPr algn="l"/>
            <a:r>
              <a:rPr sz="1200">
                <a:solidFill>
                  <a:srgbClr val="CCD6F1"/>
                </a:solidFill>
              </a:rPr>
              <a:t>    Inline confirmation UI before full ingest</a:t>
            </a:r>
          </a:p>
          <a:p>
            <a:pPr algn="l"/>
            <a:r>
              <a:rPr sz="1200">
                <a:solidFill>
                  <a:srgbClr val="CCD6F1"/>
                </a:solidFill>
              </a:rPr>
              <a:t>  </a:t>
            </a:r>
          </a:p>
          <a:p>
            <a:pPr algn="l"/>
            <a:r>
              <a:rPr sz="1200">
                <a:solidFill>
                  <a:srgbClr val="CCD6F1"/>
                </a:solidFill>
              </a:rPr>
              <a:t>  ⚡  PREPROCESSING REGISTRY</a:t>
            </a:r>
          </a:p>
          <a:p>
            <a:pPr algn="l"/>
            <a:r>
              <a:rPr sz="1200">
                <a:solidFill>
                  <a:srgbClr val="CCD6F1"/>
                </a:solidFill>
              </a:rPr>
              <a:t>    5 preprocessors: pypdf, pymupdf4llm, unstructured,</a:t>
            </a:r>
          </a:p>
          <a:p>
            <a:pPr algn="l"/>
            <a:r>
              <a:rPr sz="1200">
                <a:solidFill>
                  <a:srgbClr val="CCD6F1"/>
                </a:solidFill>
              </a:rPr>
              <a:t>    docling, table_preprocessor</a:t>
            </a:r>
          </a:p>
          <a:p>
            <a:pPr algn="l"/>
            <a:r>
              <a:rPr sz="1200">
                <a:solidFill>
                  <a:srgbClr val="CCD6F1"/>
                </a:solidFill>
              </a:rPr>
              <a:t>    Per-upload override via dev settings</a:t>
            </a:r>
          </a:p>
        </p:txBody>
      </p:sp>
      <p:sp>
        <p:nvSpPr>
          <p:cNvPr id="8" name="TextBox 7"/>
          <p:cNvSpPr txBox="1"/>
          <p:nvPr/>
        </p:nvSpPr>
        <p:spPr>
          <a:xfrm>
            <a:off x="8065008" y="1170432"/>
            <a:ext cx="3794760" cy="5486400"/>
          </a:xfrm>
          <a:prstGeom prst="rect">
            <a:avLst/>
          </a:prstGeom>
          <a:noFill/>
        </p:spPr>
        <p:txBody>
          <a:bodyPr wrap="square">
            <a:spAutoFit/>
          </a:bodyPr>
          <a:lstStyle/>
          <a:p>
            <a:pPr algn="l"/>
            <a:r>
              <a:rPr sz="1200">
                <a:solidFill>
                  <a:srgbClr val="CCD6F1"/>
                </a:solidFill>
              </a:rPr>
              <a:t>  ✅  ANSWER QUALITY GATES</a:t>
            </a:r>
          </a:p>
          <a:p>
            <a:pPr algn="l"/>
            <a:r>
              <a:rPr sz="1200">
                <a:solidFill>
                  <a:srgbClr val="CCD6F1"/>
                </a:solidFill>
              </a:rPr>
              <a:t>    enable_eval_gate: grounding score check</a:t>
            </a:r>
          </a:p>
          <a:p>
            <a:pPr algn="l"/>
            <a:r>
              <a:rPr sz="1200">
                <a:solidFill>
                  <a:srgbClr val="CCD6F1"/>
                </a:solidFill>
              </a:rPr>
              <a:t>    Release gate with blocker enumeration</a:t>
            </a:r>
          </a:p>
          <a:p>
            <a:pPr algn="l"/>
            <a:r>
              <a:rPr sz="1200">
                <a:solidFill>
                  <a:srgbClr val="CCD6F1"/>
                </a:solidFill>
              </a:rPr>
              <a:t>    Soft warning appended when score &lt; 0.40</a:t>
            </a:r>
          </a:p>
          <a:p>
            <a:pPr algn="l"/>
            <a:r>
              <a:rPr sz="1200">
                <a:solidFill>
                  <a:srgbClr val="CCD6F1"/>
                </a:solidFill>
              </a:rPr>
              <a:t>  </a:t>
            </a:r>
          </a:p>
          <a:p>
            <a:pPr algn="l"/>
            <a:r>
              <a:rPr sz="1200">
                <a:solidFill>
                  <a:srgbClr val="CCD6F1"/>
                </a:solidFill>
              </a:rPr>
              <a:t>  🌐  EXTERNAL LLM NET MODE</a:t>
            </a:r>
          </a:p>
          <a:p>
            <a:pPr algn="l"/>
            <a:r>
              <a:rPr sz="1200">
                <a:solidFill>
                  <a:srgbClr val="CCD6F1"/>
                </a:solidFill>
              </a:rPr>
              <a:t>    Groq: llama-3.1-8b-instant (rate-limited)</a:t>
            </a:r>
          </a:p>
          <a:p>
            <a:pPr algn="l"/>
            <a:r>
              <a:rPr sz="1200">
                <a:solidFill>
                  <a:srgbClr val="CCD6F1"/>
                </a:solidFill>
              </a:rPr>
              <a:t>    xAI: grok-beta</a:t>
            </a:r>
          </a:p>
          <a:p>
            <a:pPr algn="l"/>
            <a:r>
              <a:rPr sz="1200">
                <a:solidFill>
                  <a:srgbClr val="CCD6F1"/>
                </a:solidFill>
              </a:rPr>
              <a:t>    Concurrency guard + rate limit event UI</a:t>
            </a:r>
          </a:p>
          <a:p>
            <a:pPr algn="l"/>
            <a:r>
              <a:rPr sz="1200">
                <a:solidFill>
                  <a:srgbClr val="CCD6F1"/>
                </a:solidFill>
              </a:rPr>
              <a:t>  </a:t>
            </a:r>
          </a:p>
          <a:p>
            <a:pPr algn="l"/>
            <a:r>
              <a:rPr sz="1200">
                <a:solidFill>
                  <a:srgbClr val="CCD6F1"/>
                </a:solidFill>
              </a:rPr>
              <a:t>  👥  ENTERPRISE TEAM WORKSPACE</a:t>
            </a:r>
          </a:p>
          <a:p>
            <a:pPr algn="l"/>
            <a:r>
              <a:rPr sz="1200">
                <a:solidFill>
                  <a:srgbClr val="CCD6F1"/>
                </a:solidFill>
              </a:rPr>
              <a:t>    Real-time WebSocket messaging</a:t>
            </a:r>
          </a:p>
          <a:p>
            <a:pPr algn="l"/>
            <a:r>
              <a:rPr sz="1200">
                <a:solidFill>
                  <a:srgbClr val="CCD6F1"/>
                </a:solidFill>
              </a:rPr>
              <a:t>    Project threads + assignee management</a:t>
            </a:r>
          </a:p>
          <a:p>
            <a:pPr algn="l"/>
            <a:r>
              <a:rPr sz="1200">
                <a:solidFill>
                  <a:srgbClr val="CCD6F1"/>
                </a:solidFill>
              </a:rPr>
              <a:t>    Team notification panel + unread counts</a:t>
            </a:r>
          </a:p>
        </p:txBody>
      </p:sp>
      <p:pic>
        <p:nvPicPr>
          <p:cNvPr id="9" name="Picture 8">
            <a:extLst>
              <a:ext uri="{FF2B5EF4-FFF2-40B4-BE49-F238E27FC236}">
                <a16:creationId xmlns:a16="http://schemas.microsoft.com/office/drawing/2014/main" id="{21288890-D7B2-4EDF-5E9E-8271962BB131}"/>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Technology Stack Summary</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Complete technology inventory across all system layers</a:t>
            </a:r>
          </a:p>
        </p:txBody>
      </p:sp>
      <p:sp>
        <p:nvSpPr>
          <p:cNvPr id="6" name="Rectangle 5"/>
          <p:cNvSpPr/>
          <p:nvPr/>
        </p:nvSpPr>
        <p:spPr>
          <a:xfrm>
            <a:off x="25603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43000"/>
            <a:ext cx="2240280" cy="539496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234440"/>
            <a:ext cx="2103120" cy="365760"/>
          </a:xfrm>
          <a:prstGeom prst="rect">
            <a:avLst/>
          </a:prstGeom>
          <a:noFill/>
        </p:spPr>
        <p:txBody>
          <a:bodyPr wrap="square">
            <a:spAutoFit/>
          </a:bodyPr>
          <a:lstStyle/>
          <a:p>
            <a:pPr algn="l"/>
            <a:r>
              <a:rPr sz="1350" b="1">
                <a:solidFill>
                  <a:srgbClr val="5B8DFF"/>
                </a:solidFill>
              </a:rPr>
              <a:t>🖥️  Frontend</a:t>
            </a:r>
          </a:p>
        </p:txBody>
      </p:sp>
      <p:sp>
        <p:nvSpPr>
          <p:cNvPr id="9" name="TextBox 8"/>
          <p:cNvSpPr txBox="1"/>
          <p:nvPr/>
        </p:nvSpPr>
        <p:spPr>
          <a:xfrm>
            <a:off x="347472" y="1737360"/>
            <a:ext cx="2103120" cy="685800"/>
          </a:xfrm>
          <a:prstGeom prst="rect">
            <a:avLst/>
          </a:prstGeom>
          <a:noFill/>
        </p:spPr>
        <p:txBody>
          <a:bodyPr wrap="square">
            <a:spAutoFit/>
          </a:bodyPr>
          <a:lstStyle/>
          <a:p>
            <a:pPr algn="l"/>
            <a:r>
              <a:rPr sz="1150" b="0">
                <a:solidFill>
                  <a:srgbClr val="CCD6F1"/>
                </a:solidFill>
              </a:rPr>
              <a:t>• Next.js 14 + TypeScript (App Router)</a:t>
            </a:r>
          </a:p>
        </p:txBody>
      </p:sp>
      <p:sp>
        <p:nvSpPr>
          <p:cNvPr id="10" name="TextBox 9"/>
          <p:cNvSpPr txBox="1"/>
          <p:nvPr/>
        </p:nvSpPr>
        <p:spPr>
          <a:xfrm>
            <a:off x="347472" y="2542032"/>
            <a:ext cx="2103120" cy="685800"/>
          </a:xfrm>
          <a:prstGeom prst="rect">
            <a:avLst/>
          </a:prstGeom>
          <a:noFill/>
        </p:spPr>
        <p:txBody>
          <a:bodyPr wrap="square">
            <a:spAutoFit/>
          </a:bodyPr>
          <a:lstStyle/>
          <a:p>
            <a:pPr algn="l"/>
            <a:r>
              <a:rPr sz="1150" b="0">
                <a:solidFill>
                  <a:srgbClr val="CCD6F1"/>
                </a:solidFill>
              </a:rPr>
              <a:t>• React hooks / SSE EventSource</a:t>
            </a:r>
          </a:p>
        </p:txBody>
      </p:sp>
      <p:sp>
        <p:nvSpPr>
          <p:cNvPr id="11" name="TextBox 10"/>
          <p:cNvSpPr txBox="1"/>
          <p:nvPr/>
        </p:nvSpPr>
        <p:spPr>
          <a:xfrm>
            <a:off x="347472" y="3346704"/>
            <a:ext cx="2103120" cy="685800"/>
          </a:xfrm>
          <a:prstGeom prst="rect">
            <a:avLst/>
          </a:prstGeom>
          <a:noFill/>
        </p:spPr>
        <p:txBody>
          <a:bodyPr wrap="square">
            <a:spAutoFit/>
          </a:bodyPr>
          <a:lstStyle/>
          <a:p>
            <a:pPr algn="l"/>
            <a:r>
              <a:rPr sz="1150" b="0">
                <a:solidFill>
                  <a:srgbClr val="CCD6F1"/>
                </a:solidFill>
              </a:rPr>
              <a:t>• Tailwind CSS  ·  Lucide icons</a:t>
            </a:r>
          </a:p>
        </p:txBody>
      </p:sp>
      <p:sp>
        <p:nvSpPr>
          <p:cNvPr id="12" name="TextBox 11"/>
          <p:cNvSpPr txBox="1"/>
          <p:nvPr/>
        </p:nvSpPr>
        <p:spPr>
          <a:xfrm>
            <a:off x="347472" y="4151376"/>
            <a:ext cx="2103120" cy="685800"/>
          </a:xfrm>
          <a:prstGeom prst="rect">
            <a:avLst/>
          </a:prstGeom>
          <a:noFill/>
        </p:spPr>
        <p:txBody>
          <a:bodyPr wrap="square">
            <a:spAutoFit/>
          </a:bodyPr>
          <a:lstStyle/>
          <a:p>
            <a:pPr algn="l"/>
            <a:r>
              <a:rPr sz="1150" b="0">
                <a:solidFill>
                  <a:srgbClr val="CCD6F1"/>
                </a:solidFill>
              </a:rPr>
              <a:t>• Tauri (optional desktop)</a:t>
            </a:r>
          </a:p>
        </p:txBody>
      </p:sp>
      <p:sp>
        <p:nvSpPr>
          <p:cNvPr id="13" name="TextBox 12"/>
          <p:cNvSpPr txBox="1"/>
          <p:nvPr/>
        </p:nvSpPr>
        <p:spPr>
          <a:xfrm>
            <a:off x="347472" y="4956048"/>
            <a:ext cx="2103120" cy="685800"/>
          </a:xfrm>
          <a:prstGeom prst="rect">
            <a:avLst/>
          </a:prstGeom>
          <a:noFill/>
        </p:spPr>
        <p:txBody>
          <a:bodyPr wrap="square">
            <a:spAutoFit/>
          </a:bodyPr>
          <a:lstStyle/>
          <a:p>
            <a:pPr algn="l"/>
            <a:r>
              <a:rPr sz="1150" b="0">
                <a:solidFill>
                  <a:srgbClr val="CCD6F1"/>
                </a:solidFill>
              </a:rPr>
              <a:t>• JWT cookie auth</a:t>
            </a:r>
          </a:p>
        </p:txBody>
      </p:sp>
      <p:sp>
        <p:nvSpPr>
          <p:cNvPr id="14" name="Rectangle 13"/>
          <p:cNvSpPr/>
          <p:nvPr/>
        </p:nvSpPr>
        <p:spPr>
          <a:xfrm>
            <a:off x="263347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33472" y="1143000"/>
            <a:ext cx="2240280" cy="539496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24912" y="1234440"/>
            <a:ext cx="2103120" cy="365760"/>
          </a:xfrm>
          <a:prstGeom prst="rect">
            <a:avLst/>
          </a:prstGeom>
          <a:noFill/>
        </p:spPr>
        <p:txBody>
          <a:bodyPr wrap="square">
            <a:spAutoFit/>
          </a:bodyPr>
          <a:lstStyle/>
          <a:p>
            <a:pPr algn="l"/>
            <a:r>
              <a:rPr sz="1350" b="1">
                <a:solidFill>
                  <a:srgbClr val="7C3AED"/>
                </a:solidFill>
              </a:rPr>
              <a:t>⚙️  Backend</a:t>
            </a:r>
          </a:p>
        </p:txBody>
      </p:sp>
      <p:sp>
        <p:nvSpPr>
          <p:cNvPr id="17" name="TextBox 16"/>
          <p:cNvSpPr txBox="1"/>
          <p:nvPr/>
        </p:nvSpPr>
        <p:spPr>
          <a:xfrm>
            <a:off x="2724912" y="1737360"/>
            <a:ext cx="2103120" cy="685800"/>
          </a:xfrm>
          <a:prstGeom prst="rect">
            <a:avLst/>
          </a:prstGeom>
          <a:noFill/>
        </p:spPr>
        <p:txBody>
          <a:bodyPr wrap="square">
            <a:spAutoFit/>
          </a:bodyPr>
          <a:lstStyle/>
          <a:p>
            <a:pPr algn="l"/>
            <a:r>
              <a:rPr sz="1150" b="0">
                <a:solidFill>
                  <a:srgbClr val="CCD6F1"/>
                </a:solidFill>
              </a:rPr>
              <a:t>• FastAPI (Python 3.11+)</a:t>
            </a:r>
          </a:p>
        </p:txBody>
      </p:sp>
      <p:sp>
        <p:nvSpPr>
          <p:cNvPr id="18" name="TextBox 17"/>
          <p:cNvSpPr txBox="1"/>
          <p:nvPr/>
        </p:nvSpPr>
        <p:spPr>
          <a:xfrm>
            <a:off x="2724912" y="2542032"/>
            <a:ext cx="2103120" cy="685800"/>
          </a:xfrm>
          <a:prstGeom prst="rect">
            <a:avLst/>
          </a:prstGeom>
          <a:noFill/>
        </p:spPr>
        <p:txBody>
          <a:bodyPr wrap="square">
            <a:spAutoFit/>
          </a:bodyPr>
          <a:lstStyle/>
          <a:p>
            <a:pPr algn="l"/>
            <a:r>
              <a:rPr sz="1150" b="0">
                <a:solidFill>
                  <a:srgbClr val="CCD6F1"/>
                </a:solidFill>
              </a:rPr>
              <a:t>• Celery + Redis broker</a:t>
            </a:r>
          </a:p>
        </p:txBody>
      </p:sp>
      <p:sp>
        <p:nvSpPr>
          <p:cNvPr id="19" name="TextBox 18"/>
          <p:cNvSpPr txBox="1"/>
          <p:nvPr/>
        </p:nvSpPr>
        <p:spPr>
          <a:xfrm>
            <a:off x="2724912" y="3346704"/>
            <a:ext cx="2103120" cy="685800"/>
          </a:xfrm>
          <a:prstGeom prst="rect">
            <a:avLst/>
          </a:prstGeom>
          <a:noFill/>
        </p:spPr>
        <p:txBody>
          <a:bodyPr wrap="square">
            <a:spAutoFit/>
          </a:bodyPr>
          <a:lstStyle/>
          <a:p>
            <a:pPr algn="l"/>
            <a:r>
              <a:rPr sz="1150" b="0">
                <a:solidFill>
                  <a:srgbClr val="CCD6F1"/>
                </a:solidFill>
              </a:rPr>
              <a:t>• Pydantic v2 validation</a:t>
            </a:r>
          </a:p>
        </p:txBody>
      </p:sp>
      <p:sp>
        <p:nvSpPr>
          <p:cNvPr id="20" name="TextBox 19"/>
          <p:cNvSpPr txBox="1"/>
          <p:nvPr/>
        </p:nvSpPr>
        <p:spPr>
          <a:xfrm>
            <a:off x="2724912" y="4151376"/>
            <a:ext cx="2103120" cy="685800"/>
          </a:xfrm>
          <a:prstGeom prst="rect">
            <a:avLst/>
          </a:prstGeom>
          <a:noFill/>
        </p:spPr>
        <p:txBody>
          <a:bodyPr wrap="square">
            <a:spAutoFit/>
          </a:bodyPr>
          <a:lstStyle/>
          <a:p>
            <a:pPr algn="l"/>
            <a:r>
              <a:rPr sz="1150" b="0">
                <a:solidFill>
                  <a:srgbClr val="CCD6F1"/>
                </a:solidFill>
              </a:rPr>
              <a:t>• LangChain / LangChain-Postgres</a:t>
            </a:r>
          </a:p>
        </p:txBody>
      </p:sp>
      <p:sp>
        <p:nvSpPr>
          <p:cNvPr id="21" name="TextBox 20"/>
          <p:cNvSpPr txBox="1"/>
          <p:nvPr/>
        </p:nvSpPr>
        <p:spPr>
          <a:xfrm>
            <a:off x="2724912" y="4956048"/>
            <a:ext cx="2103120" cy="685800"/>
          </a:xfrm>
          <a:prstGeom prst="rect">
            <a:avLst/>
          </a:prstGeom>
          <a:noFill/>
        </p:spPr>
        <p:txBody>
          <a:bodyPr wrap="square">
            <a:spAutoFit/>
          </a:bodyPr>
          <a:lstStyle/>
          <a:p>
            <a:pPr algn="l"/>
            <a:r>
              <a:rPr sz="1150" b="0">
                <a:solidFill>
                  <a:srgbClr val="CCD6F1"/>
                </a:solidFill>
              </a:rPr>
              <a:t>• SQLAlchemy (async)</a:t>
            </a:r>
          </a:p>
        </p:txBody>
      </p:sp>
      <p:sp>
        <p:nvSpPr>
          <p:cNvPr id="22" name="Rectangle 21"/>
          <p:cNvSpPr/>
          <p:nvPr/>
        </p:nvSpPr>
        <p:spPr>
          <a:xfrm>
            <a:off x="501091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10912" y="1143000"/>
            <a:ext cx="2240280" cy="5394960"/>
          </a:xfrm>
          <a:prstGeom prst="rect">
            <a:avLst/>
          </a:prstGeom>
          <a:noFill/>
          <a:ln w="25400">
            <a:solidFill>
              <a:srgbClr val="FF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02352" y="1234440"/>
            <a:ext cx="2103120" cy="365760"/>
          </a:xfrm>
          <a:prstGeom prst="rect">
            <a:avLst/>
          </a:prstGeom>
          <a:noFill/>
        </p:spPr>
        <p:txBody>
          <a:bodyPr wrap="square">
            <a:spAutoFit/>
          </a:bodyPr>
          <a:lstStyle/>
          <a:p>
            <a:pPr algn="l"/>
            <a:r>
              <a:rPr sz="1350" b="1">
                <a:solidFill>
                  <a:srgbClr val="FFC040"/>
                </a:solidFill>
              </a:rPr>
              <a:t>🤖  AI / ML</a:t>
            </a:r>
          </a:p>
        </p:txBody>
      </p:sp>
      <p:sp>
        <p:nvSpPr>
          <p:cNvPr id="25" name="TextBox 24"/>
          <p:cNvSpPr txBox="1"/>
          <p:nvPr/>
        </p:nvSpPr>
        <p:spPr>
          <a:xfrm>
            <a:off x="5102352" y="1737360"/>
            <a:ext cx="2103120" cy="685800"/>
          </a:xfrm>
          <a:prstGeom prst="rect">
            <a:avLst/>
          </a:prstGeom>
          <a:noFill/>
        </p:spPr>
        <p:txBody>
          <a:bodyPr wrap="square">
            <a:spAutoFit/>
          </a:bodyPr>
          <a:lstStyle/>
          <a:p>
            <a:pPr algn="l"/>
            <a:r>
              <a:rPr sz="1150" b="0">
                <a:solidFill>
                  <a:srgbClr val="CCD6F1"/>
                </a:solidFill>
              </a:rPr>
              <a:t>• llama_cpp (GGUF runtime)</a:t>
            </a:r>
          </a:p>
        </p:txBody>
      </p:sp>
      <p:sp>
        <p:nvSpPr>
          <p:cNvPr id="26" name="TextBox 25"/>
          <p:cNvSpPr txBox="1"/>
          <p:nvPr/>
        </p:nvSpPr>
        <p:spPr>
          <a:xfrm>
            <a:off x="5102352" y="2542032"/>
            <a:ext cx="2103120" cy="685800"/>
          </a:xfrm>
          <a:prstGeom prst="rect">
            <a:avLst/>
          </a:prstGeom>
          <a:noFill/>
        </p:spPr>
        <p:txBody>
          <a:bodyPr wrap="square">
            <a:spAutoFit/>
          </a:bodyPr>
          <a:lstStyle/>
          <a:p>
            <a:pPr algn="l"/>
            <a:r>
              <a:rPr sz="1150" b="0">
                <a:solidFill>
                  <a:srgbClr val="CCD6F1"/>
                </a:solidFill>
              </a:rPr>
              <a:t>• Hugging Face Transformers</a:t>
            </a:r>
          </a:p>
        </p:txBody>
      </p:sp>
      <p:sp>
        <p:nvSpPr>
          <p:cNvPr id="27" name="TextBox 26"/>
          <p:cNvSpPr txBox="1"/>
          <p:nvPr/>
        </p:nvSpPr>
        <p:spPr>
          <a:xfrm>
            <a:off x="5102352" y="3346704"/>
            <a:ext cx="2103120" cy="685800"/>
          </a:xfrm>
          <a:prstGeom prst="rect">
            <a:avLst/>
          </a:prstGeom>
          <a:noFill/>
        </p:spPr>
        <p:txBody>
          <a:bodyPr wrap="square">
            <a:spAutoFit/>
          </a:bodyPr>
          <a:lstStyle/>
          <a:p>
            <a:pPr algn="l"/>
            <a:r>
              <a:rPr sz="1150" b="0">
                <a:solidFill>
                  <a:srgbClr val="CCD6F1"/>
                </a:solidFill>
              </a:rPr>
              <a:t>• BAAI/bge-m3 embeddings</a:t>
            </a:r>
          </a:p>
        </p:txBody>
      </p:sp>
      <p:sp>
        <p:nvSpPr>
          <p:cNvPr id="28" name="TextBox 27"/>
          <p:cNvSpPr txBox="1"/>
          <p:nvPr/>
        </p:nvSpPr>
        <p:spPr>
          <a:xfrm>
            <a:off x="5102352" y="4151376"/>
            <a:ext cx="2103120" cy="685800"/>
          </a:xfrm>
          <a:prstGeom prst="rect">
            <a:avLst/>
          </a:prstGeom>
          <a:noFill/>
        </p:spPr>
        <p:txBody>
          <a:bodyPr wrap="square">
            <a:spAutoFit/>
          </a:bodyPr>
          <a:lstStyle/>
          <a:p>
            <a:pPr algn="l"/>
            <a:r>
              <a:rPr sz="1150" b="0">
                <a:solidFill>
                  <a:srgbClr val="CCD6F1"/>
                </a:solidFill>
              </a:rPr>
              <a:t>• FlashRank (MiniLM-L-12)</a:t>
            </a:r>
          </a:p>
        </p:txBody>
      </p:sp>
      <p:sp>
        <p:nvSpPr>
          <p:cNvPr id="29" name="TextBox 28"/>
          <p:cNvSpPr txBox="1"/>
          <p:nvPr/>
        </p:nvSpPr>
        <p:spPr>
          <a:xfrm>
            <a:off x="5102352" y="4956048"/>
            <a:ext cx="2103120" cy="685800"/>
          </a:xfrm>
          <a:prstGeom prst="rect">
            <a:avLst/>
          </a:prstGeom>
          <a:noFill/>
        </p:spPr>
        <p:txBody>
          <a:bodyPr wrap="square">
            <a:spAutoFit/>
          </a:bodyPr>
          <a:lstStyle/>
          <a:p>
            <a:pPr algn="l"/>
            <a:r>
              <a:rPr sz="1150" b="0">
                <a:solidFill>
                  <a:srgbClr val="CCD6F1"/>
                </a:solidFill>
              </a:rPr>
              <a:t>• BART-MNLI zero-shot NLI</a:t>
            </a:r>
          </a:p>
        </p:txBody>
      </p:sp>
      <p:sp>
        <p:nvSpPr>
          <p:cNvPr id="30" name="Rectangle 29"/>
          <p:cNvSpPr/>
          <p:nvPr/>
        </p:nvSpPr>
        <p:spPr>
          <a:xfrm>
            <a:off x="738835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388352" y="1143000"/>
            <a:ext cx="2240280" cy="539496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79792" y="1234440"/>
            <a:ext cx="2103120" cy="365760"/>
          </a:xfrm>
          <a:prstGeom prst="rect">
            <a:avLst/>
          </a:prstGeom>
          <a:noFill/>
        </p:spPr>
        <p:txBody>
          <a:bodyPr wrap="square">
            <a:spAutoFit/>
          </a:bodyPr>
          <a:lstStyle/>
          <a:p>
            <a:pPr algn="l"/>
            <a:r>
              <a:rPr sz="1350" b="1">
                <a:solidFill>
                  <a:srgbClr val="4ADE80"/>
                </a:solidFill>
              </a:rPr>
              <a:t>📦  Preprocessing</a:t>
            </a:r>
          </a:p>
        </p:txBody>
      </p:sp>
      <p:sp>
        <p:nvSpPr>
          <p:cNvPr id="33" name="TextBox 32"/>
          <p:cNvSpPr txBox="1"/>
          <p:nvPr/>
        </p:nvSpPr>
        <p:spPr>
          <a:xfrm>
            <a:off x="7479792" y="1737360"/>
            <a:ext cx="2103120" cy="685800"/>
          </a:xfrm>
          <a:prstGeom prst="rect">
            <a:avLst/>
          </a:prstGeom>
          <a:noFill/>
        </p:spPr>
        <p:txBody>
          <a:bodyPr wrap="square">
            <a:spAutoFit/>
          </a:bodyPr>
          <a:lstStyle/>
          <a:p>
            <a:pPr algn="l"/>
            <a:r>
              <a:rPr sz="1150" b="0">
                <a:solidFill>
                  <a:srgbClr val="CCD6F1"/>
                </a:solidFill>
              </a:rPr>
              <a:t>• PyPDF  ·  PyMuPDF4LLM</a:t>
            </a:r>
          </a:p>
        </p:txBody>
      </p:sp>
      <p:sp>
        <p:nvSpPr>
          <p:cNvPr id="34" name="TextBox 33"/>
          <p:cNvSpPr txBox="1"/>
          <p:nvPr/>
        </p:nvSpPr>
        <p:spPr>
          <a:xfrm>
            <a:off x="7479792" y="2542032"/>
            <a:ext cx="2103120" cy="685800"/>
          </a:xfrm>
          <a:prstGeom prst="rect">
            <a:avLst/>
          </a:prstGeom>
          <a:noFill/>
        </p:spPr>
        <p:txBody>
          <a:bodyPr wrap="square">
            <a:spAutoFit/>
          </a:bodyPr>
          <a:lstStyle/>
          <a:p>
            <a:pPr algn="l"/>
            <a:r>
              <a:rPr sz="1150" b="0">
                <a:solidFill>
                  <a:srgbClr val="CCD6F1"/>
                </a:solidFill>
              </a:rPr>
              <a:t>• Unstructured (hi_res / fast)</a:t>
            </a:r>
          </a:p>
        </p:txBody>
      </p:sp>
      <p:sp>
        <p:nvSpPr>
          <p:cNvPr id="35" name="TextBox 34"/>
          <p:cNvSpPr txBox="1"/>
          <p:nvPr/>
        </p:nvSpPr>
        <p:spPr>
          <a:xfrm>
            <a:off x="7479792" y="3346704"/>
            <a:ext cx="2103120" cy="685800"/>
          </a:xfrm>
          <a:prstGeom prst="rect">
            <a:avLst/>
          </a:prstGeom>
          <a:noFill/>
        </p:spPr>
        <p:txBody>
          <a:bodyPr wrap="square">
            <a:spAutoFit/>
          </a:bodyPr>
          <a:lstStyle/>
          <a:p>
            <a:pPr algn="l"/>
            <a:r>
              <a:rPr sz="1150" b="0">
                <a:solidFill>
                  <a:srgbClr val="CCD6F1"/>
                </a:solidFill>
              </a:rPr>
              <a:t>• Docling (academic-grade)</a:t>
            </a:r>
          </a:p>
        </p:txBody>
      </p:sp>
      <p:sp>
        <p:nvSpPr>
          <p:cNvPr id="36" name="TextBox 35"/>
          <p:cNvSpPr txBox="1"/>
          <p:nvPr/>
        </p:nvSpPr>
        <p:spPr>
          <a:xfrm>
            <a:off x="7479792" y="4151376"/>
            <a:ext cx="2103120" cy="685800"/>
          </a:xfrm>
          <a:prstGeom prst="rect">
            <a:avLst/>
          </a:prstGeom>
          <a:noFill/>
        </p:spPr>
        <p:txBody>
          <a:bodyPr wrap="square">
            <a:spAutoFit/>
          </a:bodyPr>
          <a:lstStyle/>
          <a:p>
            <a:pPr algn="l"/>
            <a:r>
              <a:rPr sz="1150" b="0">
                <a:solidFill>
                  <a:srgbClr val="CCD6F1"/>
                </a:solidFill>
              </a:rPr>
              <a:t>• Table-Transformer (MSFT)</a:t>
            </a:r>
          </a:p>
        </p:txBody>
      </p:sp>
      <p:sp>
        <p:nvSpPr>
          <p:cNvPr id="37" name="TextBox 36"/>
          <p:cNvSpPr txBox="1"/>
          <p:nvPr/>
        </p:nvSpPr>
        <p:spPr>
          <a:xfrm>
            <a:off x="7479792" y="4956048"/>
            <a:ext cx="2103120" cy="685800"/>
          </a:xfrm>
          <a:prstGeom prst="rect">
            <a:avLst/>
          </a:prstGeom>
          <a:noFill/>
        </p:spPr>
        <p:txBody>
          <a:bodyPr wrap="square">
            <a:spAutoFit/>
          </a:bodyPr>
          <a:lstStyle/>
          <a:p>
            <a:pPr algn="l"/>
            <a:r>
              <a:rPr sz="1150" b="0">
                <a:solidFill>
                  <a:srgbClr val="CCD6F1"/>
                </a:solidFill>
              </a:rPr>
              <a:t>• YOLOX layout detection</a:t>
            </a:r>
          </a:p>
        </p:txBody>
      </p:sp>
      <p:sp>
        <p:nvSpPr>
          <p:cNvPr id="38" name="Rectangle 37"/>
          <p:cNvSpPr/>
          <p:nvPr/>
        </p:nvSpPr>
        <p:spPr>
          <a:xfrm>
            <a:off x="976579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765792" y="1143000"/>
            <a:ext cx="2240280" cy="5394960"/>
          </a:xfrm>
          <a:prstGeom prst="rect">
            <a:avLst/>
          </a:prstGeom>
          <a:noFill/>
          <a:ln w="25400">
            <a:solidFill>
              <a:srgbClr val="FF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857232" y="1234440"/>
            <a:ext cx="2103120" cy="365760"/>
          </a:xfrm>
          <a:prstGeom prst="rect">
            <a:avLst/>
          </a:prstGeom>
          <a:noFill/>
        </p:spPr>
        <p:txBody>
          <a:bodyPr wrap="square">
            <a:spAutoFit/>
          </a:bodyPr>
          <a:lstStyle/>
          <a:p>
            <a:pPr algn="l"/>
            <a:r>
              <a:rPr sz="1350" b="1">
                <a:solidFill>
                  <a:srgbClr val="FF7070"/>
                </a:solidFill>
              </a:rPr>
              <a:t>🗄️  Storage</a:t>
            </a:r>
          </a:p>
        </p:txBody>
      </p:sp>
      <p:sp>
        <p:nvSpPr>
          <p:cNvPr id="41" name="TextBox 40"/>
          <p:cNvSpPr txBox="1"/>
          <p:nvPr/>
        </p:nvSpPr>
        <p:spPr>
          <a:xfrm>
            <a:off x="9857232" y="1737360"/>
            <a:ext cx="2103120" cy="685800"/>
          </a:xfrm>
          <a:prstGeom prst="rect">
            <a:avLst/>
          </a:prstGeom>
          <a:noFill/>
        </p:spPr>
        <p:txBody>
          <a:bodyPr wrap="square">
            <a:spAutoFit/>
          </a:bodyPr>
          <a:lstStyle/>
          <a:p>
            <a:pPr algn="l"/>
            <a:r>
              <a:rPr sz="1150" b="0">
                <a:solidFill>
                  <a:srgbClr val="CCD6F1"/>
                </a:solidFill>
              </a:rPr>
              <a:t>• PostgreSQL + PGVector</a:t>
            </a:r>
          </a:p>
        </p:txBody>
      </p:sp>
      <p:sp>
        <p:nvSpPr>
          <p:cNvPr id="42" name="TextBox 41"/>
          <p:cNvSpPr txBox="1"/>
          <p:nvPr/>
        </p:nvSpPr>
        <p:spPr>
          <a:xfrm>
            <a:off x="9857232" y="2542032"/>
            <a:ext cx="2103120" cy="685800"/>
          </a:xfrm>
          <a:prstGeom prst="rect">
            <a:avLst/>
          </a:prstGeom>
          <a:noFill/>
        </p:spPr>
        <p:txBody>
          <a:bodyPr wrap="square">
            <a:spAutoFit/>
          </a:bodyPr>
          <a:lstStyle/>
          <a:p>
            <a:pPr algn="l"/>
            <a:r>
              <a:rPr sz="1150" b="0">
                <a:solidFill>
                  <a:srgbClr val="CCD6F1"/>
                </a:solidFill>
              </a:rPr>
              <a:t>• MinIO (S3-compatible)</a:t>
            </a:r>
          </a:p>
        </p:txBody>
      </p:sp>
      <p:sp>
        <p:nvSpPr>
          <p:cNvPr id="43" name="TextBox 42"/>
          <p:cNvSpPr txBox="1"/>
          <p:nvPr/>
        </p:nvSpPr>
        <p:spPr>
          <a:xfrm>
            <a:off x="9857232" y="3346704"/>
            <a:ext cx="2103120" cy="685800"/>
          </a:xfrm>
          <a:prstGeom prst="rect">
            <a:avLst/>
          </a:prstGeom>
          <a:noFill/>
        </p:spPr>
        <p:txBody>
          <a:bodyPr wrap="square">
            <a:spAutoFit/>
          </a:bodyPr>
          <a:lstStyle/>
          <a:p>
            <a:pPr algn="l"/>
            <a:r>
              <a:rPr sz="1150" b="0">
                <a:solidFill>
                  <a:srgbClr val="CCD6F1"/>
                </a:solidFill>
              </a:rPr>
              <a:t>• Redis (cache + broker)</a:t>
            </a:r>
          </a:p>
        </p:txBody>
      </p:sp>
      <p:sp>
        <p:nvSpPr>
          <p:cNvPr id="44" name="TextBox 43"/>
          <p:cNvSpPr txBox="1"/>
          <p:nvPr/>
        </p:nvSpPr>
        <p:spPr>
          <a:xfrm>
            <a:off x="9857232" y="4151376"/>
            <a:ext cx="2103120" cy="685800"/>
          </a:xfrm>
          <a:prstGeom prst="rect">
            <a:avLst/>
          </a:prstGeom>
          <a:noFill/>
        </p:spPr>
        <p:txBody>
          <a:bodyPr wrap="square">
            <a:spAutoFit/>
          </a:bodyPr>
          <a:lstStyle/>
          <a:p>
            <a:pPr algn="l"/>
            <a:r>
              <a:rPr sz="1150" b="0">
                <a:solidFill>
                  <a:srgbClr val="CCD6F1"/>
                </a:solidFill>
              </a:rPr>
              <a:t>• Local file system (jobs/)</a:t>
            </a:r>
          </a:p>
        </p:txBody>
      </p:sp>
      <p:sp>
        <p:nvSpPr>
          <p:cNvPr id="45" name="TextBox 44"/>
          <p:cNvSpPr txBox="1"/>
          <p:nvPr/>
        </p:nvSpPr>
        <p:spPr>
          <a:xfrm>
            <a:off x="9857232" y="4956048"/>
            <a:ext cx="2103120" cy="685800"/>
          </a:xfrm>
          <a:prstGeom prst="rect">
            <a:avLst/>
          </a:prstGeom>
          <a:noFill/>
        </p:spPr>
        <p:txBody>
          <a:bodyPr wrap="square">
            <a:spAutoFit/>
          </a:bodyPr>
          <a:lstStyle/>
          <a:p>
            <a:pPr algn="l"/>
            <a:r>
              <a:rPr sz="1150" b="0">
                <a:solidFill>
                  <a:srgbClr val="CCD6F1"/>
                </a:solidFill>
              </a:rPr>
              <a:t>• HF model cache (snapshots)</a:t>
            </a:r>
          </a:p>
        </p:txBody>
      </p:sp>
      <p:pic>
        <p:nvPicPr>
          <p:cNvPr id="46" name="Picture 45">
            <a:extLst>
              <a:ext uri="{FF2B5EF4-FFF2-40B4-BE49-F238E27FC236}">
                <a16:creationId xmlns:a16="http://schemas.microsoft.com/office/drawing/2014/main" id="{95C48775-C090-6407-A72F-3B944A0B9729}"/>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11680"/>
            <a:ext cx="10332720" cy="822960"/>
          </a:xfrm>
          <a:prstGeom prst="rect">
            <a:avLst/>
          </a:prstGeom>
          <a:noFill/>
        </p:spPr>
        <p:txBody>
          <a:bodyPr wrap="square">
            <a:spAutoFit/>
          </a:bodyPr>
          <a:lstStyle/>
          <a:p>
            <a:pPr algn="ctr"/>
            <a:r>
              <a:rPr sz="5200" b="1">
                <a:solidFill>
                  <a:srgbClr val="5B8DFF"/>
                </a:solidFill>
              </a:rPr>
              <a:t>KavinBase</a:t>
            </a:r>
          </a:p>
        </p:txBody>
      </p:sp>
      <p:sp>
        <p:nvSpPr>
          <p:cNvPr id="6" name="TextBox 5"/>
          <p:cNvSpPr txBox="1"/>
          <p:nvPr/>
        </p:nvSpPr>
        <p:spPr>
          <a:xfrm>
            <a:off x="914400" y="2926080"/>
            <a:ext cx="10332720" cy="457200"/>
          </a:xfrm>
          <a:prstGeom prst="rect">
            <a:avLst/>
          </a:prstGeom>
          <a:noFill/>
        </p:spPr>
        <p:txBody>
          <a:bodyPr wrap="square">
            <a:spAutoFit/>
          </a:bodyPr>
          <a:lstStyle/>
          <a:p>
            <a:pPr algn="ctr"/>
            <a:r>
              <a:rPr sz="2000" b="0">
                <a:solidFill>
                  <a:srgbClr val="FFFFFF"/>
                </a:solidFill>
              </a:rPr>
              <a:t>Enterprise AI Document Intelligence – End-to-End</a:t>
            </a:r>
          </a:p>
        </p:txBody>
      </p:sp>
      <p:sp>
        <p:nvSpPr>
          <p:cNvPr id="7" name="TextBox 6"/>
          <p:cNvSpPr txBox="1"/>
          <p:nvPr/>
        </p:nvSpPr>
        <p:spPr>
          <a:xfrm>
            <a:off x="914400" y="3520440"/>
            <a:ext cx="10332720" cy="365760"/>
          </a:xfrm>
          <a:prstGeom prst="rect">
            <a:avLst/>
          </a:prstGeom>
          <a:noFill/>
        </p:spPr>
        <p:txBody>
          <a:bodyPr wrap="square">
            <a:spAutoFit/>
          </a:bodyPr>
          <a:lstStyle/>
          <a:p>
            <a:pPr algn="ctr"/>
            <a:r>
              <a:rPr sz="1400" b="0">
                <a:solidFill>
                  <a:srgbClr val="A0B4FF"/>
                </a:solidFill>
              </a:rPr>
              <a:t>Hybrid RAG · Local LLMs · Agentic Review · Multi-Modal Ingestion</a:t>
            </a:r>
          </a:p>
        </p:txBody>
      </p:sp>
      <p:sp>
        <p:nvSpPr>
          <p:cNvPr id="8" name="TextBox 7"/>
          <p:cNvSpPr txBox="1"/>
          <p:nvPr/>
        </p:nvSpPr>
        <p:spPr>
          <a:xfrm>
            <a:off x="914400" y="5029200"/>
            <a:ext cx="10332720" cy="320040"/>
          </a:xfrm>
          <a:prstGeom prst="rect">
            <a:avLst/>
          </a:prstGeom>
          <a:noFill/>
        </p:spPr>
        <p:txBody>
          <a:bodyPr wrap="square">
            <a:spAutoFit/>
          </a:bodyPr>
          <a:lstStyle/>
          <a:p>
            <a:pPr algn="ctr"/>
            <a:r>
              <a:rPr sz="1600" b="0">
                <a:solidFill>
                  <a:srgbClr val="7080A0"/>
                </a:solidFill>
              </a:rPr>
              <a:t>Thank you</a:t>
            </a:r>
          </a:p>
        </p:txBody>
      </p:sp>
      <p:pic>
        <p:nvPicPr>
          <p:cNvPr id="10" name="Picture 9">
            <a:extLst>
              <a:ext uri="{FF2B5EF4-FFF2-40B4-BE49-F238E27FC236}">
                <a16:creationId xmlns:a16="http://schemas.microsoft.com/office/drawing/2014/main" id="{C203335E-20C5-C62F-DFDB-D9F2CCCADEB2}"/>
              </a:ext>
            </a:extLst>
          </p:cNvPr>
          <p:cNvPicPr>
            <a:picLocks noChangeAspect="1"/>
          </p:cNvPicPr>
          <p:nvPr/>
        </p:nvPicPr>
        <p:blipFill>
          <a:blip r:embed="rId3"/>
          <a:srcRect l="17962" t="32733" r="14250" b="40471"/>
          <a:stretch>
            <a:fillRect/>
          </a:stretch>
        </p:blipFill>
        <p:spPr>
          <a:xfrm>
            <a:off x="645160" y="364537"/>
            <a:ext cx="2088804" cy="63551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Tm="2000">
        <p159:morph option="byObject"/>
      </p:transition>
    </mc:Choice>
    <mc:Fallback>
      <p:transition spd="slow" advTm="2000">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0A18"/>
        </a:solidFill>
        <a:effectLst/>
      </p:bgPr>
    </p:bg>
    <p:spTree>
      <p:nvGrpSpPr>
        <p:cNvPr id="1" name=""/>
        <p:cNvGrpSpPr/>
        <p:nvPr/>
      </p:nvGrpSpPr>
      <p:grpSpPr/>
      <p:sp>
        <p:nvSpPr>
          <p:cNvPr id="2" name="Rectangle 1"/>
          <p:cNvSpPr/>
          <p:nvPr/>
        </p:nvSpPr>
        <p:spPr>
          <a:xfrm>
            <a:off x="164592" y="512064"/>
            <a:ext cx="10214149" cy="713232"/>
          </a:xfrm>
          <a:prstGeom prst="rect">
            <a:avLst/>
          </a:prstGeom>
          <a:solidFill>
            <a:srgbClr val="1E4A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77800" tIns="127000" bIns="50800" wrap="square"/>
          <a:lstStyle/>
          <a:p>
            <a:pPr algn="l">
              <a:spcBef>
                <a:spcPts val="0"/>
              </a:spcBef>
              <a:spcAft>
                <a:spcPts val="0"/>
              </a:spcAft>
            </a:pPr>
            <a:r>
              <a:rPr sz="2200" b="1" i="0">
                <a:solidFill>
                  <a:srgbClr val="FFFFFF"/>
                </a:solidFill>
                <a:latin typeface="Calibri"/>
              </a:rPr>
              <a:t>Developer Mode  —  Overview</a:t>
            </a:r>
          </a:p>
        </p:txBody>
      </p:sp>
      <p:sp>
        <p:nvSpPr>
          <p:cNvPr id="3" name="Rectangle 2"/>
          <p:cNvSpPr/>
          <p:nvPr/>
        </p:nvSpPr>
        <p:spPr>
          <a:xfrm>
            <a:off x="10397029" y="512064"/>
            <a:ext cx="1645491" cy="713232"/>
          </a:xfrm>
          <a:prstGeom prst="rect">
            <a:avLst/>
          </a:prstGeom>
          <a:solidFill>
            <a:srgbClr val="0A142E"/>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tIns="101600" lIns="76200"/>
          <a:lstStyle/>
          <a:p>
            <a:pPr algn="ctr">
              <a:spcBef>
                <a:spcPts val="0"/>
              </a:spcBef>
              <a:spcAft>
                <a:spcPts val="0"/>
              </a:spcAft>
            </a:pPr>
            <a:r>
              <a:rPr sz="1500" b="1" i="0">
                <a:solidFill>
                  <a:srgbClr val="FFFFFF"/>
                </a:solidFill>
                <a:latin typeface="Calibri"/>
              </a:rPr>
              <a:t>  KAVIN</a:t>
            </a:r>
          </a:p>
          <a:p>
            <a:pPr algn="ctr">
              <a:spcBef>
                <a:spcPts val="0"/>
              </a:spcBef>
              <a:spcAft>
                <a:spcPts val="0"/>
              </a:spcAft>
            </a:pPr>
            <a:r>
              <a:rPr sz="900" b="0" i="0">
                <a:solidFill>
                  <a:srgbClr val="93C5FD"/>
                </a:solidFill>
                <a:latin typeface="Calibri"/>
              </a:rPr>
              <a:t>Developer Tools</a:t>
            </a:r>
          </a:p>
        </p:txBody>
      </p:sp>
      <p:sp>
        <p:nvSpPr>
          <p:cNvPr id="4" name="TextBox 3"/>
          <p:cNvSpPr txBox="1"/>
          <p:nvPr/>
        </p:nvSpPr>
        <p:spPr>
          <a:xfrm>
            <a:off x="164592" y="1280160"/>
            <a:ext cx="11859641" cy="292608"/>
          </a:xfrm>
          <a:prstGeom prst="rect">
            <a:avLst/>
          </a:prstGeom>
          <a:noFill/>
        </p:spPr>
        <p:txBody>
          <a:bodyPr wrap="square" lIns="50800" tIns="0">
            <a:spAutoFit/>
          </a:bodyPr>
          <a:lstStyle/>
          <a:p>
            <a:pPr algn="l">
              <a:spcBef>
                <a:spcPts val="0"/>
              </a:spcBef>
              <a:spcAft>
                <a:spcPts val="0"/>
              </a:spcAft>
            </a:pPr>
            <a:r>
              <a:rPr sz="1100" b="0" i="1">
                <a:solidFill>
                  <a:srgbClr val="93C5FD"/>
                </a:solidFill>
                <a:latin typeface="Calibri"/>
              </a:rPr>
              <a:t>Admin-gated REST panel for deep system introspection  |  router prefix: /devtools  |  All endpoints require admin JWT</a:t>
            </a:r>
          </a:p>
        </p:txBody>
      </p:sp>
      <p:sp>
        <p:nvSpPr>
          <p:cNvPr id="5" name="Rectangle 4"/>
          <p:cNvSpPr/>
          <p:nvPr/>
        </p:nvSpPr>
        <p:spPr>
          <a:xfrm>
            <a:off x="182880" y="1627632"/>
            <a:ext cx="5820092" cy="2478024"/>
          </a:xfrm>
          <a:prstGeom prst="rect">
            <a:avLst/>
          </a:prstGeom>
          <a:solidFill>
            <a:srgbClr val="0D1B38"/>
          </a:solidFill>
          <a:ln w="228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3B82F6"/>
                </a:solidFill>
                <a:latin typeface="Calibri"/>
              </a:rPr>
              <a:t>AI  Model Management</a:t>
            </a:r>
          </a:p>
        </p:txBody>
      </p:sp>
      <p:sp>
        <p:nvSpPr>
          <p:cNvPr id="6" name="Rectangle 5"/>
          <p:cNvSpPr/>
          <p:nvPr/>
        </p:nvSpPr>
        <p:spPr>
          <a:xfrm>
            <a:off x="256032" y="2029968"/>
            <a:ext cx="5673788" cy="1280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2066543"/>
            <a:ext cx="5673788" cy="1965960"/>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Install, download &amp; register LLMs at runtime</a:t>
            </a:r>
          </a:p>
          <a:p>
            <a:pPr algn="l">
              <a:spcBef>
                <a:spcPts val="0"/>
              </a:spcBef>
              <a:spcAft>
                <a:spcPts val="100"/>
              </a:spcAft>
            </a:pPr>
            <a:r>
              <a:rPr sz="1200" b="0" i="0">
                <a:solidFill>
                  <a:srgbClr val="D8E8F8"/>
                </a:solidFill>
                <a:latin typeface="Calibri"/>
              </a:rPr>
              <a:t>Three modes: base (HF) / lite (GGUF) / net (Cloud)</a:t>
            </a:r>
          </a:p>
          <a:p>
            <a:pPr algn="l">
              <a:spcBef>
                <a:spcPts val="0"/>
              </a:spcBef>
              <a:spcAft>
                <a:spcPts val="100"/>
              </a:spcAft>
            </a:pPr>
            <a:r>
              <a:rPr sz="1200" b="0" i="0">
                <a:solidFill>
                  <a:srgbClr val="D8E8F8"/>
                </a:solidFill>
                <a:latin typeface="Calibri"/>
              </a:rPr>
              <a:t>Test model output via POST /devtools/models/test</a:t>
            </a:r>
          </a:p>
          <a:p>
            <a:pPr algn="l">
              <a:spcBef>
                <a:spcPts val="0"/>
              </a:spcBef>
              <a:spcAft>
                <a:spcPts val="100"/>
              </a:spcAft>
            </a:pPr>
            <a:r>
              <a:rPr sz="1200" b="0" i="0">
                <a:solidFill>
                  <a:srgbClr val="D8E8F8"/>
                </a:solidFill>
                <a:latin typeface="Calibri"/>
              </a:rPr>
              <a:t>Delete &amp; clean up stale model files from disk</a:t>
            </a:r>
          </a:p>
          <a:p>
            <a:pPr algn="l">
              <a:spcBef>
                <a:spcPts val="0"/>
              </a:spcBef>
              <a:spcAft>
                <a:spcPts val="100"/>
              </a:spcAft>
            </a:pPr>
            <a:r>
              <a:rPr sz="1200" b="0" i="0">
                <a:solidFill>
                  <a:srgbClr val="D8E8F8"/>
                </a:solidFill>
                <a:latin typeface="Calibri"/>
              </a:rPr>
              <a:t>Patch live model registry without restart</a:t>
            </a:r>
          </a:p>
        </p:txBody>
      </p:sp>
      <p:sp>
        <p:nvSpPr>
          <p:cNvPr id="8" name="Rectangle 7"/>
          <p:cNvSpPr/>
          <p:nvPr/>
        </p:nvSpPr>
        <p:spPr>
          <a:xfrm>
            <a:off x="6185852" y="1627632"/>
            <a:ext cx="5820092" cy="2478024"/>
          </a:xfrm>
          <a:prstGeom prst="rect">
            <a:avLst/>
          </a:prstGeom>
          <a:solidFill>
            <a:srgbClr val="0D1B38"/>
          </a:solidFill>
          <a:ln w="2286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8B5CF6"/>
                </a:solidFill>
                <a:latin typeface="Calibri"/>
              </a:rPr>
              <a:t>DEBUG  RAG Debug Tools</a:t>
            </a:r>
          </a:p>
        </p:txBody>
      </p:sp>
      <p:sp>
        <p:nvSpPr>
          <p:cNvPr id="9" name="Rectangle 8"/>
          <p:cNvSpPr/>
          <p:nvPr/>
        </p:nvSpPr>
        <p:spPr>
          <a:xfrm>
            <a:off x="6259004" y="2029968"/>
            <a:ext cx="5673788" cy="12801"/>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9004" y="2066543"/>
            <a:ext cx="5673788" cy="1965960"/>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POST /devtools/intent   — classify query intent</a:t>
            </a:r>
          </a:p>
          <a:p>
            <a:pPr algn="l">
              <a:spcBef>
                <a:spcPts val="0"/>
              </a:spcBef>
              <a:spcAft>
                <a:spcPts val="100"/>
              </a:spcAft>
            </a:pPr>
            <a:r>
              <a:rPr sz="1200" b="0" i="0">
                <a:solidFill>
                  <a:srgbClr val="D8E8F8"/>
                </a:solidFill>
                <a:latin typeface="Calibri"/>
              </a:rPr>
              <a:t>POST /devtools/rewrite  — inspect query rewriting</a:t>
            </a:r>
          </a:p>
          <a:p>
            <a:pPr algn="l">
              <a:spcBef>
                <a:spcPts val="0"/>
              </a:spcBef>
              <a:spcAft>
                <a:spcPts val="100"/>
              </a:spcAft>
            </a:pPr>
            <a:r>
              <a:rPr sz="1200" b="0" i="0">
                <a:solidFill>
                  <a:srgbClr val="D8E8F8"/>
                </a:solidFill>
                <a:latin typeface="Calibri"/>
              </a:rPr>
              <a:t>POST /devtools/keywords — keyword extraction view</a:t>
            </a:r>
          </a:p>
          <a:p>
            <a:pPr algn="l">
              <a:spcBef>
                <a:spcPts val="0"/>
              </a:spcBef>
              <a:spcAft>
                <a:spcPts val="100"/>
              </a:spcAft>
            </a:pPr>
            <a:r>
              <a:rPr sz="1200" b="0" i="0">
                <a:solidFill>
                  <a:srgbClr val="D8E8F8"/>
                </a:solidFill>
                <a:latin typeface="Calibri"/>
              </a:rPr>
              <a:t>POST /devtools/retrieve — full retrieval dry-run</a:t>
            </a:r>
          </a:p>
          <a:p>
            <a:pPr algn="l">
              <a:spcBef>
                <a:spcPts val="0"/>
              </a:spcBef>
              <a:spcAft>
                <a:spcPts val="100"/>
              </a:spcAft>
            </a:pPr>
            <a:r>
              <a:rPr sz="1200" b="0" i="0">
                <a:solidFill>
                  <a:srgbClr val="D8E8F8"/>
                </a:solidFill>
                <a:latin typeface="Calibri"/>
              </a:rPr>
              <a:t>Session state inspector per chat session</a:t>
            </a:r>
          </a:p>
        </p:txBody>
      </p:sp>
      <p:sp>
        <p:nvSpPr>
          <p:cNvPr id="11" name="Rectangle 10"/>
          <p:cNvSpPr/>
          <p:nvPr/>
        </p:nvSpPr>
        <p:spPr>
          <a:xfrm>
            <a:off x="182880" y="4215384"/>
            <a:ext cx="5820092" cy="2478024"/>
          </a:xfrm>
          <a:prstGeom prst="rect">
            <a:avLst/>
          </a:prstGeom>
          <a:solidFill>
            <a:srgbClr val="0D1B38"/>
          </a:solidFill>
          <a:ln w="2286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10B981"/>
                </a:solidFill>
                <a:latin typeface="Calibri"/>
              </a:rPr>
              <a:t>CHART  Analytics Dashboard</a:t>
            </a:r>
          </a:p>
        </p:txBody>
      </p:sp>
      <p:sp>
        <p:nvSpPr>
          <p:cNvPr id="12" name="Rectangle 11"/>
          <p:cNvSpPr/>
          <p:nvPr/>
        </p:nvSpPr>
        <p:spPr>
          <a:xfrm>
            <a:off x="256032" y="4617720"/>
            <a:ext cx="5673788" cy="128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 y="4654296"/>
            <a:ext cx="5673788" cy="1965960"/>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GET /devtools/mvp/overview — command centre</a:t>
            </a:r>
          </a:p>
          <a:p>
            <a:pPr algn="l">
              <a:spcBef>
                <a:spcPts val="0"/>
              </a:spcBef>
              <a:spcAft>
                <a:spcPts val="100"/>
              </a:spcAft>
            </a:pPr>
            <a:r>
              <a:rPr sz="1200" b="0" i="0">
                <a:solidFill>
                  <a:srgbClr val="D8E8F8"/>
                </a:solidFill>
                <a:latin typeface="Calibri"/>
              </a:rPr>
              <a:t>Ingestion funnel: waiting / processing / ready / error</a:t>
            </a:r>
          </a:p>
          <a:p>
            <a:pPr algn="l">
              <a:spcBef>
                <a:spcPts val="0"/>
              </a:spcBef>
              <a:spcAft>
                <a:spcPts val="100"/>
              </a:spcAft>
            </a:pPr>
            <a:r>
              <a:rPr sz="1200" b="0" i="0">
                <a:solidFill>
                  <a:srgbClr val="D8E8F8"/>
                </a:solidFill>
                <a:latin typeface="Calibri"/>
              </a:rPr>
              <a:t>RAG quality: high / medium / low + cache hit %</a:t>
            </a:r>
          </a:p>
          <a:p>
            <a:pPr algn="l">
              <a:spcBef>
                <a:spcPts val="0"/>
              </a:spcBef>
              <a:spcAft>
                <a:spcPts val="100"/>
              </a:spcAft>
            </a:pPr>
            <a:r>
              <a:rPr sz="1200" b="0" i="0">
                <a:solidFill>
                  <a:srgbClr val="D8E8F8"/>
                </a:solidFill>
                <a:latin typeface="Calibri"/>
              </a:rPr>
              <a:t>User feedback score &amp; label distribution</a:t>
            </a:r>
          </a:p>
          <a:p>
            <a:pPr algn="l">
              <a:spcBef>
                <a:spcPts val="0"/>
              </a:spcBef>
              <a:spcAft>
                <a:spcPts val="100"/>
              </a:spcAft>
            </a:pPr>
            <a:r>
              <a:rPr sz="1200" b="0" i="0">
                <a:solidFill>
                  <a:srgbClr val="D8E8F8"/>
                </a:solidFill>
                <a:latin typeface="Calibri"/>
              </a:rPr>
              <a:t>Runtime: GPU VRAM, RabbitMQ, worker queues</a:t>
            </a:r>
          </a:p>
        </p:txBody>
      </p:sp>
      <p:sp>
        <p:nvSpPr>
          <p:cNvPr id="14" name="Rectangle 13"/>
          <p:cNvSpPr/>
          <p:nvPr/>
        </p:nvSpPr>
        <p:spPr>
          <a:xfrm>
            <a:off x="6185852" y="4215384"/>
            <a:ext cx="5820092" cy="2478024"/>
          </a:xfrm>
          <a:prstGeom prst="rect">
            <a:avLst/>
          </a:prstGeom>
          <a:solidFill>
            <a:srgbClr val="0D1B38"/>
          </a:solidFill>
          <a:ln w="2286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EF4444"/>
                </a:solidFill>
                <a:latin typeface="Calibri"/>
              </a:rPr>
              <a:t>CTRL  System Controls</a:t>
            </a:r>
          </a:p>
        </p:txBody>
      </p:sp>
      <p:sp>
        <p:nvSpPr>
          <p:cNvPr id="15" name="Rectangle 14"/>
          <p:cNvSpPr/>
          <p:nvPr/>
        </p:nvSpPr>
        <p:spPr>
          <a:xfrm>
            <a:off x="6259004" y="4617720"/>
            <a:ext cx="5673788" cy="12801"/>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9004" y="4654296"/>
            <a:ext cx="5673788" cy="1965960"/>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Full user lifecycle: create / disable / reset PW</a:t>
            </a:r>
          </a:p>
          <a:p>
            <a:pPr algn="l">
              <a:spcBef>
                <a:spcPts val="0"/>
              </a:spcBef>
              <a:spcAft>
                <a:spcPts val="100"/>
              </a:spcAft>
            </a:pPr>
            <a:r>
              <a:rPr sz="1200" b="0" i="0">
                <a:solidFill>
                  <a:srgbClr val="D8E8F8"/>
                </a:solidFill>
                <a:latin typeface="Calibri"/>
              </a:rPr>
              <a:t>Per-user &amp; per-session RAG override switches</a:t>
            </a:r>
          </a:p>
          <a:p>
            <a:pPr algn="l">
              <a:spcBef>
                <a:spcPts val="0"/>
              </a:spcBef>
              <a:spcAft>
                <a:spcPts val="100"/>
              </a:spcAft>
            </a:pPr>
            <a:r>
              <a:rPr sz="1200" b="0" i="0">
                <a:solidFill>
                  <a:srgbClr val="D8E8F8"/>
                </a:solidFill>
                <a:latin typeface="Calibri"/>
              </a:rPr>
              <a:t>Live DB browser: pgvector, chat DB, Redis, MinIO</a:t>
            </a:r>
          </a:p>
          <a:p>
            <a:pPr algn="l">
              <a:spcBef>
                <a:spcPts val="0"/>
              </a:spcBef>
              <a:spcAft>
                <a:spcPts val="100"/>
              </a:spcAft>
            </a:pPr>
            <a:r>
              <a:rPr sz="1200" b="0" i="0">
                <a:solidFill>
                  <a:srgbClr val="D8E8F8"/>
                </a:solidFill>
                <a:latin typeface="Calibri"/>
              </a:rPr>
              <a:t>Selective reset: RAG / Chat / Redis / MinIO / ALL</a:t>
            </a:r>
          </a:p>
          <a:p>
            <a:pPr algn="l">
              <a:spcBef>
                <a:spcPts val="0"/>
              </a:spcBef>
              <a:spcAft>
                <a:spcPts val="100"/>
              </a:spcAft>
            </a:pPr>
            <a:r>
              <a:rPr sz="1200" b="0" i="0">
                <a:solidFill>
                  <a:srgbClr val="D8E8F8"/>
                </a:solidFill>
                <a:latin typeface="Calibri"/>
              </a:rPr>
              <a:t>Safety gate: env flag + confirmation phrase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50A18"/>
        </a:solidFill>
        <a:effectLst/>
      </p:bgPr>
    </p:bg>
    <p:spTree>
      <p:nvGrpSpPr>
        <p:cNvPr id="1" name=""/>
        <p:cNvGrpSpPr/>
        <p:nvPr/>
      </p:nvGrpSpPr>
      <p:grpSpPr/>
      <p:sp>
        <p:nvSpPr>
          <p:cNvPr id="2" name="Rectangle 1"/>
          <p:cNvSpPr/>
          <p:nvPr/>
        </p:nvSpPr>
        <p:spPr>
          <a:xfrm>
            <a:off x="164592" y="512064"/>
            <a:ext cx="10214149" cy="713232"/>
          </a:xfrm>
          <a:prstGeom prst="rect">
            <a:avLst/>
          </a:prstGeom>
          <a:solidFill>
            <a:srgbClr val="1E4A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77800" tIns="127000" bIns="50800" wrap="square"/>
          <a:lstStyle/>
          <a:p>
            <a:pPr algn="l">
              <a:spcBef>
                <a:spcPts val="0"/>
              </a:spcBef>
              <a:spcAft>
                <a:spcPts val="0"/>
              </a:spcAft>
            </a:pPr>
            <a:r>
              <a:rPr sz="2200" b="1" i="0">
                <a:solidFill>
                  <a:srgbClr val="FFFFFF"/>
                </a:solidFill>
                <a:latin typeface="Calibri"/>
              </a:rPr>
              <a:t>LLM Model Management  —  Three Runtime Modes</a:t>
            </a:r>
          </a:p>
        </p:txBody>
      </p:sp>
      <p:sp>
        <p:nvSpPr>
          <p:cNvPr id="3" name="Rectangle 2"/>
          <p:cNvSpPr/>
          <p:nvPr/>
        </p:nvSpPr>
        <p:spPr>
          <a:xfrm>
            <a:off x="10397029" y="512064"/>
            <a:ext cx="1645491" cy="713232"/>
          </a:xfrm>
          <a:prstGeom prst="rect">
            <a:avLst/>
          </a:prstGeom>
          <a:solidFill>
            <a:srgbClr val="0A142E"/>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tIns="101600" lIns="76200"/>
          <a:lstStyle/>
          <a:p>
            <a:pPr algn="ctr">
              <a:spcBef>
                <a:spcPts val="0"/>
              </a:spcBef>
              <a:spcAft>
                <a:spcPts val="0"/>
              </a:spcAft>
            </a:pPr>
            <a:r>
              <a:rPr sz="1500" b="1" i="0">
                <a:solidFill>
                  <a:srgbClr val="FFFFFF"/>
                </a:solidFill>
                <a:latin typeface="Calibri"/>
              </a:rPr>
              <a:t>  KAVIN</a:t>
            </a:r>
          </a:p>
          <a:p>
            <a:pPr algn="ctr">
              <a:spcBef>
                <a:spcPts val="0"/>
              </a:spcBef>
              <a:spcAft>
                <a:spcPts val="0"/>
              </a:spcAft>
            </a:pPr>
            <a:r>
              <a:rPr sz="900" b="0" i="0">
                <a:solidFill>
                  <a:srgbClr val="93C5FD"/>
                </a:solidFill>
                <a:latin typeface="Calibri"/>
              </a:rPr>
              <a:t>Developer Tools</a:t>
            </a:r>
          </a:p>
        </p:txBody>
      </p:sp>
      <p:sp>
        <p:nvSpPr>
          <p:cNvPr id="4" name="TextBox 3"/>
          <p:cNvSpPr txBox="1"/>
          <p:nvPr/>
        </p:nvSpPr>
        <p:spPr>
          <a:xfrm>
            <a:off x="164592" y="1280160"/>
            <a:ext cx="11859641" cy="292608"/>
          </a:xfrm>
          <a:prstGeom prst="rect">
            <a:avLst/>
          </a:prstGeom>
          <a:noFill/>
        </p:spPr>
        <p:txBody>
          <a:bodyPr wrap="square" lIns="50800" tIns="0">
            <a:spAutoFit/>
          </a:bodyPr>
          <a:lstStyle/>
          <a:p>
            <a:pPr algn="l">
              <a:spcBef>
                <a:spcPts val="0"/>
              </a:spcBef>
              <a:spcAft>
                <a:spcPts val="0"/>
              </a:spcAft>
            </a:pPr>
            <a:r>
              <a:rPr sz="1100" b="0" i="1">
                <a:solidFill>
                  <a:srgbClr val="93C5FD"/>
                </a:solidFill>
                <a:latin typeface="Calibri"/>
              </a:rPr>
              <a:t>Download, register, switch and test language models at runtime without server restart</a:t>
            </a:r>
          </a:p>
        </p:txBody>
      </p:sp>
      <p:sp>
        <p:nvSpPr>
          <p:cNvPr id="5" name="Rectangle 4"/>
          <p:cNvSpPr/>
          <p:nvPr/>
        </p:nvSpPr>
        <p:spPr>
          <a:xfrm>
            <a:off x="182880" y="1627632"/>
            <a:ext cx="3880061" cy="4956048"/>
          </a:xfrm>
          <a:prstGeom prst="rect">
            <a:avLst/>
          </a:prstGeom>
          <a:solidFill>
            <a:srgbClr val="0D1B38"/>
          </a:solidFill>
          <a:ln w="228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3B82F6"/>
                </a:solidFill>
                <a:latin typeface="Calibri"/>
              </a:rPr>
              <a:t>BASE  base  Mode  —  HuggingFace</a:t>
            </a:r>
          </a:p>
        </p:txBody>
      </p:sp>
      <p:sp>
        <p:nvSpPr>
          <p:cNvPr id="6" name="Rectangle 5"/>
          <p:cNvSpPr/>
          <p:nvPr/>
        </p:nvSpPr>
        <p:spPr>
          <a:xfrm>
            <a:off x="256032" y="2029968"/>
            <a:ext cx="3733757" cy="1280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2066543"/>
            <a:ext cx="3733757"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Full-precision transformer models</a:t>
            </a:r>
          </a:p>
          <a:p>
            <a:pPr algn="l">
              <a:spcBef>
                <a:spcPts val="0"/>
              </a:spcBef>
              <a:spcAft>
                <a:spcPts val="100"/>
              </a:spcAft>
            </a:pPr>
            <a:r>
              <a:rPr sz="1200" b="0" i="0">
                <a:solidFill>
                  <a:srgbClr val="D8E8F8"/>
                </a:solidFill>
                <a:latin typeface="Calibri"/>
              </a:rPr>
              <a:t>GPU (CUDA) preferred, CPU fallback</a:t>
            </a:r>
          </a:p>
          <a:p>
            <a:pPr algn="l">
              <a:spcBef>
                <a:spcPts val="0"/>
              </a:spcBef>
              <a:spcAft>
                <a:spcPts val="100"/>
              </a:spcAft>
            </a:pPr>
            <a:r>
              <a:rPr sz="1200" b="0" i="0">
                <a:solidFill>
                  <a:srgbClr val="D8E8F8"/>
                </a:solidFill>
                <a:latin typeface="Calibri"/>
              </a:rPr>
              <a:t>Loaded into memory via HF pipeline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Known models:</a:t>
            </a:r>
          </a:p>
          <a:p>
            <a:pPr algn="l">
              <a:spcBef>
                <a:spcPts val="0"/>
              </a:spcBef>
              <a:spcAft>
                <a:spcPts val="100"/>
              </a:spcAft>
            </a:pPr>
            <a:r>
              <a:rPr sz="1100" b="0" i="0">
                <a:solidFill>
                  <a:srgbClr val="6A8AB0"/>
                </a:solidFill>
                <a:latin typeface="Calibri"/>
              </a:rPr>
              <a:t>  Qwen/Qwen2.5-3B-Instruct</a:t>
            </a:r>
          </a:p>
          <a:p>
            <a:pPr algn="l">
              <a:spcBef>
                <a:spcPts val="0"/>
              </a:spcBef>
              <a:spcAft>
                <a:spcPts val="100"/>
              </a:spcAft>
            </a:pPr>
            <a:r>
              <a:rPr sz="1100" b="0" i="0">
                <a:solidFill>
                  <a:srgbClr val="6A8AB0"/>
                </a:solidFill>
                <a:latin typeface="Calibri"/>
              </a:rPr>
              <a:t>  Qwen/Qwen2.5-7B-Instruct</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Endpoint: POST /devtools/models/hf/install</a:t>
            </a:r>
          </a:p>
          <a:p>
            <a:pPr algn="l">
              <a:spcBef>
                <a:spcPts val="0"/>
              </a:spcBef>
              <a:spcAft>
                <a:spcPts val="100"/>
              </a:spcAft>
            </a:pPr>
            <a:r>
              <a:rPr sz="1200" b="0" i="0">
                <a:solidFill>
                  <a:srgbClr val="D8E8F8"/>
                </a:solidFill>
                <a:latin typeface="Calibri"/>
              </a:rPr>
              <a:t>Caches to: models/hf/ (HF snapshot dir)</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Best for: high-accuracy answers on GPU servers</a:t>
            </a:r>
          </a:p>
        </p:txBody>
      </p:sp>
      <p:sp>
        <p:nvSpPr>
          <p:cNvPr id="8" name="Rectangle 7"/>
          <p:cNvSpPr/>
          <p:nvPr/>
        </p:nvSpPr>
        <p:spPr>
          <a:xfrm>
            <a:off x="4245821" y="1627632"/>
            <a:ext cx="3880061" cy="4956048"/>
          </a:xfrm>
          <a:prstGeom prst="rect">
            <a:avLst/>
          </a:prstGeom>
          <a:solidFill>
            <a:srgbClr val="0D1B38"/>
          </a:solidFill>
          <a:ln w="2286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8B5CF6"/>
                </a:solidFill>
                <a:latin typeface="Calibri"/>
              </a:rPr>
              <a:t>LITE  lite  Mode  —  GGUF / llama.cpp</a:t>
            </a:r>
          </a:p>
        </p:txBody>
      </p:sp>
      <p:sp>
        <p:nvSpPr>
          <p:cNvPr id="9" name="Rectangle 8"/>
          <p:cNvSpPr/>
          <p:nvPr/>
        </p:nvSpPr>
        <p:spPr>
          <a:xfrm>
            <a:off x="4318973" y="2029968"/>
            <a:ext cx="3733757" cy="12801"/>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18973" y="2066543"/>
            <a:ext cx="3733757"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4-bit quantised GGUF models</a:t>
            </a:r>
          </a:p>
          <a:p>
            <a:pPr algn="l">
              <a:spcBef>
                <a:spcPts val="0"/>
              </a:spcBef>
              <a:spcAft>
                <a:spcPts val="100"/>
              </a:spcAft>
            </a:pPr>
            <a:r>
              <a:rPr sz="1200" b="0" i="0">
                <a:solidFill>
                  <a:srgbClr val="D8E8F8"/>
                </a:solidFill>
                <a:latin typeface="Calibri"/>
              </a:rPr>
              <a:t>Runs entirely on CPU (RAM, no GPU needed)</a:t>
            </a:r>
          </a:p>
          <a:p>
            <a:pPr algn="l">
              <a:spcBef>
                <a:spcPts val="0"/>
              </a:spcBef>
              <a:spcAft>
                <a:spcPts val="100"/>
              </a:spcAft>
            </a:pPr>
            <a:r>
              <a:rPr sz="1200" b="0" i="0">
                <a:solidFill>
                  <a:srgbClr val="D8E8F8"/>
                </a:solidFill>
                <a:latin typeface="Calibri"/>
              </a:rPr>
              <a:t>Loaded via llama-cpp-python bindings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Known models:</a:t>
            </a:r>
          </a:p>
          <a:p>
            <a:pPr algn="l">
              <a:spcBef>
                <a:spcPts val="0"/>
              </a:spcBef>
              <a:spcAft>
                <a:spcPts val="100"/>
              </a:spcAft>
            </a:pPr>
            <a:r>
              <a:rPr sz="1100" b="0" i="0">
                <a:solidFill>
                  <a:srgbClr val="6A8AB0"/>
                </a:solidFill>
                <a:latin typeface="Calibri"/>
              </a:rPr>
              <a:t>  Qwen2.5-3B-Instruct-GGUF  (Q4)</a:t>
            </a:r>
          </a:p>
          <a:p>
            <a:pPr algn="l">
              <a:spcBef>
                <a:spcPts val="0"/>
              </a:spcBef>
              <a:spcAft>
                <a:spcPts val="100"/>
              </a:spcAft>
            </a:pPr>
            <a:r>
              <a:rPr sz="1100" b="0" i="0">
                <a:solidFill>
                  <a:srgbClr val="6A8AB0"/>
                </a:solidFill>
                <a:latin typeface="Calibri"/>
              </a:rPr>
              <a:t>  Qwen2.5-1.5B-Instruct-GGUF (Q4)</a:t>
            </a:r>
          </a:p>
          <a:p>
            <a:pPr algn="l">
              <a:spcBef>
                <a:spcPts val="0"/>
              </a:spcBef>
              <a:spcAft>
                <a:spcPts val="100"/>
              </a:spcAft>
            </a:pPr>
            <a:r>
              <a:rPr sz="1100" b="0" i="0">
                <a:solidFill>
                  <a:srgbClr val="6A8AB0"/>
                </a:solidFill>
                <a:latin typeface="Calibri"/>
              </a:rPr>
              <a:t>  Qwen2.5-7B-Instruct-GGUF  (Q4)</a:t>
            </a:r>
          </a:p>
          <a:p>
            <a:pPr algn="l">
              <a:spcBef>
                <a:spcPts val="0"/>
              </a:spcBef>
              <a:spcAft>
                <a:spcPts val="100"/>
              </a:spcAft>
            </a:pPr>
            <a:r>
              <a:rPr sz="1100" b="0" i="0">
                <a:solidFill>
                  <a:srgbClr val="6A8AB0"/>
                </a:solidFill>
                <a:latin typeface="Calibri"/>
              </a:rPr>
              <a:t>  Meta-Llama-3.1-8B-GGUF</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Endpoint: POST /devtools/models/download</a:t>
            </a:r>
          </a:p>
          <a:p>
            <a:pPr algn="l">
              <a:spcBef>
                <a:spcPts val="0"/>
              </a:spcBef>
              <a:spcAft>
                <a:spcPts val="100"/>
              </a:spcAft>
            </a:pPr>
            <a:r>
              <a:rPr sz="1200" b="0" i="0">
                <a:solidFill>
                  <a:srgbClr val="D8E8F8"/>
                </a:solidFill>
                <a:latin typeface="Calibri"/>
              </a:rPr>
              <a:t>Smart-detects GGUF repo, stores in models/gguf/</a:t>
            </a:r>
          </a:p>
        </p:txBody>
      </p:sp>
      <p:sp>
        <p:nvSpPr>
          <p:cNvPr id="11" name="Rectangle 10"/>
          <p:cNvSpPr/>
          <p:nvPr/>
        </p:nvSpPr>
        <p:spPr>
          <a:xfrm>
            <a:off x="8308763" y="1627632"/>
            <a:ext cx="3880061" cy="4956048"/>
          </a:xfrm>
          <a:prstGeom prst="rect">
            <a:avLst/>
          </a:prstGeom>
          <a:solidFill>
            <a:srgbClr val="0D1B38"/>
          </a:solidFill>
          <a:ln w="2286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10B981"/>
                </a:solidFill>
                <a:latin typeface="Calibri"/>
              </a:rPr>
              <a:t>NET  net  Mode  —  Cloud API</a:t>
            </a:r>
          </a:p>
        </p:txBody>
      </p:sp>
      <p:sp>
        <p:nvSpPr>
          <p:cNvPr id="12" name="Rectangle 11"/>
          <p:cNvSpPr/>
          <p:nvPr/>
        </p:nvSpPr>
        <p:spPr>
          <a:xfrm>
            <a:off x="8381915" y="2029968"/>
            <a:ext cx="3733757" cy="128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1915" y="2066543"/>
            <a:ext cx="3733757"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Routes queries to external LLM providers</a:t>
            </a:r>
          </a:p>
          <a:p>
            <a:pPr algn="l">
              <a:spcBef>
                <a:spcPts val="0"/>
              </a:spcBef>
              <a:spcAft>
                <a:spcPts val="100"/>
              </a:spcAft>
            </a:pPr>
            <a:r>
              <a:rPr sz="1200" b="0" i="0">
                <a:solidFill>
                  <a:srgbClr val="D8E8F8"/>
                </a:solidFill>
                <a:latin typeface="Calibri"/>
              </a:rPr>
              <a:t>No local model download required</a:t>
            </a:r>
          </a:p>
          <a:p>
            <a:pPr algn="l">
              <a:spcBef>
                <a:spcPts val="0"/>
              </a:spcBef>
              <a:spcAft>
                <a:spcPts val="100"/>
              </a:spcAft>
            </a:pPr>
            <a:r>
              <a:rPr sz="1200" b="0" i="0">
                <a:solidFill>
                  <a:srgbClr val="D8E8F8"/>
                </a:solidFill>
                <a:latin typeface="Calibri"/>
              </a:rPr>
              <a:t>API key stored in backend secrets store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Supported providers:</a:t>
            </a:r>
          </a:p>
          <a:p>
            <a:pPr algn="l">
              <a:spcBef>
                <a:spcPts val="0"/>
              </a:spcBef>
              <a:spcAft>
                <a:spcPts val="100"/>
              </a:spcAft>
            </a:pPr>
            <a:r>
              <a:rPr sz="1100" b="0" i="0">
                <a:solidFill>
                  <a:srgbClr val="6A8AB0"/>
                </a:solidFill>
                <a:latin typeface="Calibri"/>
              </a:rPr>
              <a:t>  OpenAI  (GPT-4o, GPT-4-turbo)</a:t>
            </a:r>
          </a:p>
          <a:p>
            <a:pPr algn="l">
              <a:spcBef>
                <a:spcPts val="0"/>
              </a:spcBef>
              <a:spcAft>
                <a:spcPts val="100"/>
              </a:spcAft>
            </a:pPr>
            <a:r>
              <a:rPr sz="1100" b="0" i="0">
                <a:solidFill>
                  <a:srgbClr val="6A8AB0"/>
                </a:solidFill>
                <a:latin typeface="Calibri"/>
              </a:rPr>
              <a:t>  Google  (Gemini Pro / Flash)</a:t>
            </a:r>
          </a:p>
          <a:p>
            <a:pPr algn="l">
              <a:spcBef>
                <a:spcPts val="0"/>
              </a:spcBef>
              <a:spcAft>
                <a:spcPts val="100"/>
              </a:spcAft>
            </a:pPr>
            <a:r>
              <a:rPr sz="1100" b="0" i="0">
                <a:solidFill>
                  <a:srgbClr val="6A8AB0"/>
                </a:solidFill>
                <a:latin typeface="Calibri"/>
              </a:rPr>
              <a:t>  Anthropic, Cohere (extensible)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Endpoint: PATCH /devtools/models/registry</a:t>
            </a:r>
          </a:p>
          <a:p>
            <a:pPr algn="l">
              <a:spcBef>
                <a:spcPts val="0"/>
              </a:spcBef>
              <a:spcAft>
                <a:spcPts val="100"/>
              </a:spcAft>
            </a:pPr>
            <a:r>
              <a:rPr sz="1200" b="0" i="0">
                <a:solidFill>
                  <a:srgbClr val="D8E8F8"/>
                </a:solidFill>
                <a:latin typeface="Calibri"/>
              </a:rPr>
              <a:t>Key check: GET /devtools/models/active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Best for: cloud-first deployments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50A18"/>
        </a:solidFill>
        <a:effectLst/>
      </p:bgPr>
    </p:bg>
    <p:spTree>
      <p:nvGrpSpPr>
        <p:cNvPr id="1" name=""/>
        <p:cNvGrpSpPr/>
        <p:nvPr/>
      </p:nvGrpSpPr>
      <p:grpSpPr/>
      <p:sp>
        <p:nvSpPr>
          <p:cNvPr id="2" name="Rectangle 1"/>
          <p:cNvSpPr/>
          <p:nvPr/>
        </p:nvSpPr>
        <p:spPr>
          <a:xfrm>
            <a:off x="164592" y="512064"/>
            <a:ext cx="10214149" cy="713232"/>
          </a:xfrm>
          <a:prstGeom prst="rect">
            <a:avLst/>
          </a:prstGeom>
          <a:solidFill>
            <a:srgbClr val="1E4A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77800" tIns="127000" bIns="50800" wrap="square"/>
          <a:lstStyle/>
          <a:p>
            <a:pPr algn="l">
              <a:spcBef>
                <a:spcPts val="0"/>
              </a:spcBef>
              <a:spcAft>
                <a:spcPts val="0"/>
              </a:spcAft>
            </a:pPr>
            <a:r>
              <a:rPr sz="2200" b="1" i="0">
                <a:solidFill>
                  <a:srgbClr val="FFFFFF"/>
                </a:solidFill>
                <a:latin typeface="Calibri"/>
              </a:rPr>
              <a:t>Model Download &amp; Registry API</a:t>
            </a:r>
          </a:p>
        </p:txBody>
      </p:sp>
      <p:sp>
        <p:nvSpPr>
          <p:cNvPr id="3" name="Rectangle 2"/>
          <p:cNvSpPr/>
          <p:nvPr/>
        </p:nvSpPr>
        <p:spPr>
          <a:xfrm>
            <a:off x="10397029" y="512064"/>
            <a:ext cx="1645491" cy="713232"/>
          </a:xfrm>
          <a:prstGeom prst="rect">
            <a:avLst/>
          </a:prstGeom>
          <a:solidFill>
            <a:srgbClr val="0A142E"/>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tIns="101600" lIns="76200"/>
          <a:lstStyle/>
          <a:p>
            <a:pPr algn="ctr">
              <a:spcBef>
                <a:spcPts val="0"/>
              </a:spcBef>
              <a:spcAft>
                <a:spcPts val="0"/>
              </a:spcAft>
            </a:pPr>
            <a:r>
              <a:rPr sz="1500" b="1" i="0">
                <a:solidFill>
                  <a:srgbClr val="FFFFFF"/>
                </a:solidFill>
                <a:latin typeface="Calibri"/>
              </a:rPr>
              <a:t>  KAVIN</a:t>
            </a:r>
          </a:p>
          <a:p>
            <a:pPr algn="ctr">
              <a:spcBef>
                <a:spcPts val="0"/>
              </a:spcBef>
              <a:spcAft>
                <a:spcPts val="0"/>
              </a:spcAft>
            </a:pPr>
            <a:r>
              <a:rPr sz="900" b="0" i="0">
                <a:solidFill>
                  <a:srgbClr val="93C5FD"/>
                </a:solidFill>
                <a:latin typeface="Calibri"/>
              </a:rPr>
              <a:t>Developer Tools</a:t>
            </a:r>
          </a:p>
        </p:txBody>
      </p:sp>
      <p:sp>
        <p:nvSpPr>
          <p:cNvPr id="4" name="TextBox 3"/>
          <p:cNvSpPr txBox="1"/>
          <p:nvPr/>
        </p:nvSpPr>
        <p:spPr>
          <a:xfrm>
            <a:off x="164592" y="1280160"/>
            <a:ext cx="11859641" cy="292608"/>
          </a:xfrm>
          <a:prstGeom prst="rect">
            <a:avLst/>
          </a:prstGeom>
          <a:noFill/>
        </p:spPr>
        <p:txBody>
          <a:bodyPr wrap="square" lIns="50800" tIns="0">
            <a:spAutoFit/>
          </a:bodyPr>
          <a:lstStyle/>
          <a:p>
            <a:pPr algn="l">
              <a:spcBef>
                <a:spcPts val="0"/>
              </a:spcBef>
              <a:spcAft>
                <a:spcPts val="0"/>
              </a:spcAft>
            </a:pPr>
            <a:r>
              <a:rPr sz="1100" b="0" i="1">
                <a:solidFill>
                  <a:srgbClr val="93C5FD"/>
                </a:solidFill>
                <a:latin typeface="Calibri"/>
              </a:rPr>
              <a:t>REST endpoints to install, register, test and remove models from the live backend</a:t>
            </a:r>
          </a:p>
        </p:txBody>
      </p:sp>
      <p:sp>
        <p:nvSpPr>
          <p:cNvPr id="5" name="Rectangle 4"/>
          <p:cNvSpPr/>
          <p:nvPr/>
        </p:nvSpPr>
        <p:spPr>
          <a:xfrm>
            <a:off x="182880" y="1627632"/>
            <a:ext cx="5820092" cy="4956048"/>
          </a:xfrm>
          <a:prstGeom prst="rect">
            <a:avLst/>
          </a:prstGeom>
          <a:solidFill>
            <a:srgbClr val="0D1B38"/>
          </a:solidFill>
          <a:ln w="228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3B82F6"/>
                </a:solidFill>
                <a:latin typeface="Calibri"/>
              </a:rPr>
              <a:t>DL  Download Endpoints</a:t>
            </a:r>
          </a:p>
        </p:txBody>
      </p:sp>
      <p:sp>
        <p:nvSpPr>
          <p:cNvPr id="6" name="Rectangle 5"/>
          <p:cNvSpPr/>
          <p:nvPr/>
        </p:nvSpPr>
        <p:spPr>
          <a:xfrm>
            <a:off x="256032" y="2029968"/>
            <a:ext cx="5673788" cy="1280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2066543"/>
            <a:ext cx="5673788"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POST /devtools/models/download</a:t>
            </a:r>
          </a:p>
          <a:p>
            <a:pPr algn="l">
              <a:spcBef>
                <a:spcPts val="0"/>
              </a:spcBef>
              <a:spcAft>
                <a:spcPts val="100"/>
              </a:spcAft>
            </a:pPr>
            <a:r>
              <a:rPr sz="1100" b="0" i="0">
                <a:solidFill>
                  <a:srgbClr val="6A8AB0"/>
                </a:solidFill>
                <a:latin typeface="Calibri"/>
              </a:rPr>
              <a:t>  Auto-detects GGUF vs HF snapshot repo</a:t>
            </a:r>
          </a:p>
          <a:p>
            <a:pPr algn="l">
              <a:spcBef>
                <a:spcPts val="0"/>
              </a:spcBef>
              <a:spcAft>
                <a:spcPts val="100"/>
              </a:spcAft>
            </a:pPr>
            <a:r>
              <a:rPr sz="1100" b="0" i="0">
                <a:solidFill>
                  <a:srgbClr val="6A8AB0"/>
                </a:solidFill>
                <a:latin typeface="Calibri"/>
              </a:rPr>
              <a:t>  Handles stale / duplicate registrations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POST /devtools/models/hf/install</a:t>
            </a:r>
          </a:p>
          <a:p>
            <a:pPr algn="l">
              <a:spcBef>
                <a:spcPts val="0"/>
              </a:spcBef>
              <a:spcAft>
                <a:spcPts val="100"/>
              </a:spcAft>
            </a:pPr>
            <a:r>
              <a:rPr sz="1100" b="0" i="0">
                <a:solidFill>
                  <a:srgbClr val="6A8AB0"/>
                </a:solidFill>
                <a:latin typeface="Calibri"/>
              </a:rPr>
              <a:t>  snapshot_download to HF cache dir</a:t>
            </a:r>
          </a:p>
          <a:p>
            <a:pPr algn="l">
              <a:spcBef>
                <a:spcPts val="0"/>
              </a:spcBef>
              <a:spcAft>
                <a:spcPts val="100"/>
              </a:spcAft>
            </a:pPr>
            <a:r>
              <a:rPr sz="1100" b="0" i="0">
                <a:solidFill>
                  <a:srgbClr val="6A8AB0"/>
                </a:solidFill>
                <a:latin typeface="Calibri"/>
              </a:rPr>
              <a:t>  Registers in model config automatically</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POST /devtools/models/gguf/download</a:t>
            </a:r>
          </a:p>
          <a:p>
            <a:pPr algn="l">
              <a:spcBef>
                <a:spcPts val="0"/>
              </a:spcBef>
              <a:spcAft>
                <a:spcPts val="100"/>
              </a:spcAft>
            </a:pPr>
            <a:r>
              <a:rPr sz="1100" b="0" i="0">
                <a:solidFill>
                  <a:srgbClr val="6A8AB0"/>
                </a:solidFill>
                <a:latin typeface="Calibri"/>
              </a:rPr>
              <a:t>  Direct URL stream -&gt; models/gguf/</a:t>
            </a:r>
          </a:p>
          <a:p>
            <a:pPr algn="l">
              <a:spcBef>
                <a:spcPts val="0"/>
              </a:spcBef>
              <a:spcAft>
                <a:spcPts val="100"/>
              </a:spcAft>
            </a:pPr>
            <a:r>
              <a:rPr sz="1100" b="0" i="0">
                <a:solidFill>
                  <a:srgbClr val="6A8AB0"/>
                </a:solidFill>
                <a:latin typeface="Calibri"/>
              </a:rPr>
              <a:t>  25 GB safety cap, .part temp file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POST /devtools/models/gguf/register</a:t>
            </a:r>
          </a:p>
          <a:p>
            <a:pPr algn="l">
              <a:spcBef>
                <a:spcPts val="0"/>
              </a:spcBef>
              <a:spcAft>
                <a:spcPts val="100"/>
              </a:spcAft>
            </a:pPr>
            <a:r>
              <a:rPr sz="1100" b="0" i="0">
                <a:solidFill>
                  <a:srgbClr val="6A8AB0"/>
                </a:solidFill>
                <a:latin typeface="Calibri"/>
              </a:rPr>
              <a:t>  Register a pre-existing local .gguf path</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POST /devtools/models/test</a:t>
            </a:r>
          </a:p>
          <a:p>
            <a:pPr algn="l">
              <a:spcBef>
                <a:spcPts val="0"/>
              </a:spcBef>
              <a:spcAft>
                <a:spcPts val="100"/>
              </a:spcAft>
            </a:pPr>
            <a:r>
              <a:rPr sz="1100" b="0" i="0">
                <a:solidFill>
                  <a:srgbClr val="6A8AB0"/>
                </a:solidFill>
                <a:latin typeface="Calibri"/>
              </a:rPr>
              <a:t>  Generate a sample to confirm model works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DELETE /devtools/models/{model_id}</a:t>
            </a:r>
          </a:p>
          <a:p>
            <a:pPr algn="l">
              <a:spcBef>
                <a:spcPts val="0"/>
              </a:spcBef>
              <a:spcAft>
                <a:spcPts val="100"/>
              </a:spcAft>
            </a:pPr>
            <a:r>
              <a:rPr sz="1100" b="0" i="0">
                <a:solidFill>
                  <a:srgbClr val="6A8AB0"/>
                </a:solidFill>
                <a:latin typeface="Calibri"/>
              </a:rPr>
              <a:t>  Unregisters and deletes files from disk</a:t>
            </a:r>
          </a:p>
        </p:txBody>
      </p:sp>
      <p:sp>
        <p:nvSpPr>
          <p:cNvPr id="8" name="Rectangle 7"/>
          <p:cNvSpPr/>
          <p:nvPr/>
        </p:nvSpPr>
        <p:spPr>
          <a:xfrm>
            <a:off x="6185852" y="1627632"/>
            <a:ext cx="5820092" cy="4956048"/>
          </a:xfrm>
          <a:prstGeom prst="rect">
            <a:avLst/>
          </a:prstGeom>
          <a:solidFill>
            <a:srgbClr val="0D1B38"/>
          </a:solidFill>
          <a:ln w="2286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8B5CF6"/>
                </a:solidFill>
                <a:latin typeface="Calibri"/>
              </a:rPr>
              <a:t>AUX  Auxiliary &amp; Embedding Models</a:t>
            </a:r>
          </a:p>
        </p:txBody>
      </p:sp>
      <p:sp>
        <p:nvSpPr>
          <p:cNvPr id="9" name="Rectangle 8"/>
          <p:cNvSpPr/>
          <p:nvPr/>
        </p:nvSpPr>
        <p:spPr>
          <a:xfrm>
            <a:off x="6259004" y="2029968"/>
            <a:ext cx="5673788" cy="12801"/>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9004" y="2066543"/>
            <a:ext cx="5673788"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EMBEDDING</a:t>
            </a:r>
          </a:p>
          <a:p>
            <a:pPr algn="l">
              <a:spcBef>
                <a:spcPts val="0"/>
              </a:spcBef>
              <a:spcAft>
                <a:spcPts val="100"/>
              </a:spcAft>
            </a:pPr>
            <a:r>
              <a:rPr sz="1100" b="0" i="0">
                <a:solidFill>
                  <a:srgbClr val="6A8AB0"/>
                </a:solidFill>
                <a:latin typeface="Calibri"/>
              </a:rPr>
              <a:t>  BAAI/bge-m3  -&gt;  384-dim dense vectors</a:t>
            </a:r>
          </a:p>
          <a:p>
            <a:pPr algn="l">
              <a:spcBef>
                <a:spcPts val="0"/>
              </a:spcBef>
              <a:spcAft>
                <a:spcPts val="100"/>
              </a:spcAft>
            </a:pPr>
            <a:r>
              <a:rPr sz="1100" b="0" i="0">
                <a:solidFill>
                  <a:srgbClr val="6A8AB0"/>
                </a:solidFill>
                <a:latin typeface="Calibri"/>
              </a:rPr>
              <a:t>  Used by PGVector for semantic search</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INTENT CLASSIFICATION</a:t>
            </a:r>
          </a:p>
          <a:p>
            <a:pPr algn="l">
              <a:spcBef>
                <a:spcPts val="0"/>
              </a:spcBef>
              <a:spcAft>
                <a:spcPts val="100"/>
              </a:spcAft>
            </a:pPr>
            <a:r>
              <a:rPr sz="1100" b="0" i="0">
                <a:solidFill>
                  <a:srgbClr val="6A8AB0"/>
                </a:solidFill>
                <a:latin typeface="Calibri"/>
              </a:rPr>
              <a:t>  facebook/bart-large-mnli</a:t>
            </a:r>
          </a:p>
          <a:p>
            <a:pPr algn="l">
              <a:spcBef>
                <a:spcPts val="0"/>
              </a:spcBef>
              <a:spcAft>
                <a:spcPts val="100"/>
              </a:spcAft>
            </a:pPr>
            <a:r>
              <a:rPr sz="1100" b="0" i="0">
                <a:solidFill>
                  <a:srgbClr val="6A8AB0"/>
                </a:solidFill>
                <a:latin typeface="Calibri"/>
              </a:rPr>
              <a:t>  Zero-shot NLI: fact_lookup / comparison</a:t>
            </a:r>
          </a:p>
          <a:p>
            <a:pPr algn="l">
              <a:spcBef>
                <a:spcPts val="0"/>
              </a:spcBef>
              <a:spcAft>
                <a:spcPts val="100"/>
              </a:spcAft>
            </a:pPr>
            <a:r>
              <a:rPr sz="1100" b="0" i="0">
                <a:solidFill>
                  <a:srgbClr val="6A8AB0"/>
                </a:solidFill>
                <a:latin typeface="Calibri"/>
              </a:rPr>
              <a:t>  /comparison / procedural ...</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LAYOUT / OCR</a:t>
            </a:r>
          </a:p>
          <a:p>
            <a:pPr algn="l">
              <a:spcBef>
                <a:spcPts val="0"/>
              </a:spcBef>
              <a:spcAft>
                <a:spcPts val="100"/>
              </a:spcAft>
            </a:pPr>
            <a:r>
              <a:rPr sz="1100" b="0" i="0">
                <a:solidFill>
                  <a:srgbClr val="6A8AB0"/>
                </a:solidFill>
                <a:latin typeface="Calibri"/>
              </a:rPr>
              <a:t>  microsoft/table-transformer</a:t>
            </a:r>
          </a:p>
          <a:p>
            <a:pPr algn="l">
              <a:spcBef>
                <a:spcPts val="0"/>
              </a:spcBef>
              <a:spcAft>
                <a:spcPts val="100"/>
              </a:spcAft>
            </a:pPr>
            <a:r>
              <a:rPr sz="1100" b="0" i="0">
                <a:solidFill>
                  <a:srgbClr val="6A8AB0"/>
                </a:solidFill>
                <a:latin typeface="Calibri"/>
              </a:rPr>
              <a:t>  unstructuredio/yolo_x_layout</a:t>
            </a:r>
          </a:p>
          <a:p>
            <a:pPr algn="l">
              <a:spcBef>
                <a:spcPts val="0"/>
              </a:spcBef>
              <a:spcAft>
                <a:spcPts val="100"/>
              </a:spcAft>
            </a:pPr>
            <a:r>
              <a:rPr sz="1100" b="0" i="0">
                <a:solidFill>
                  <a:srgbClr val="6A8AB0"/>
                </a:solidFill>
                <a:latin typeface="Calibri"/>
              </a:rPr>
              <a:t>  Used during hi_res PDF preprocessing</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REGISTRY PATCH</a:t>
            </a:r>
          </a:p>
          <a:p>
            <a:pPr algn="l">
              <a:spcBef>
                <a:spcPts val="0"/>
              </a:spcBef>
              <a:spcAft>
                <a:spcPts val="100"/>
              </a:spcAft>
            </a:pPr>
            <a:r>
              <a:rPr sz="1100" b="0" i="0">
                <a:solidFill>
                  <a:srgbClr val="6A8AB0"/>
                </a:solidFill>
                <a:latin typeface="Calibri"/>
              </a:rPr>
              <a:t>  PATCH /devtools/models/registry</a:t>
            </a:r>
          </a:p>
          <a:p>
            <a:pPr algn="l">
              <a:spcBef>
                <a:spcPts val="0"/>
              </a:spcBef>
              <a:spcAft>
                <a:spcPts val="100"/>
              </a:spcAft>
            </a:pPr>
            <a:r>
              <a:rPr sz="1100" b="0" i="0">
                <a:solidFill>
                  <a:srgbClr val="6A8AB0"/>
                </a:solidFill>
                <a:latin typeface="Calibri"/>
              </a:rPr>
              <a:t>  JSON body: {lite:{default:..}, base:{..}}</a:t>
            </a:r>
          </a:p>
          <a:p>
            <a:pPr algn="l">
              <a:spcBef>
                <a:spcPts val="0"/>
              </a:spcBef>
              <a:spcAft>
                <a:spcPts val="100"/>
              </a:spcAft>
            </a:pPr>
            <a:r>
              <a:rPr sz="1100" b="0" i="0">
                <a:solidFill>
                  <a:srgbClr val="6A8AB0"/>
                </a:solidFill>
                <a:latin typeface="Calibri"/>
              </a:rPr>
              <a:t>  Hot-swaps active model without restart</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GET  /devtools/models         (inventory)</a:t>
            </a:r>
          </a:p>
          <a:p>
            <a:pPr algn="l">
              <a:spcBef>
                <a:spcPts val="0"/>
              </a:spcBef>
              <a:spcAft>
                <a:spcPts val="100"/>
              </a:spcAft>
            </a:pPr>
            <a:r>
              <a:rPr sz="1200" b="0" i="0">
                <a:solidFill>
                  <a:srgbClr val="D8E8F8"/>
                </a:solidFill>
                <a:latin typeface="Calibri"/>
              </a:rPr>
              <a:t>GET  /devtools/models/active  (readiness)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50A18"/>
        </a:solidFill>
        <a:effectLst/>
      </p:bgPr>
    </p:bg>
    <p:spTree>
      <p:nvGrpSpPr>
        <p:cNvPr id="1" name=""/>
        <p:cNvGrpSpPr/>
        <p:nvPr/>
      </p:nvGrpSpPr>
      <p:grpSpPr/>
      <p:sp>
        <p:nvSpPr>
          <p:cNvPr id="2" name="Rectangle 1"/>
          <p:cNvSpPr/>
          <p:nvPr/>
        </p:nvSpPr>
        <p:spPr>
          <a:xfrm>
            <a:off x="164592" y="512064"/>
            <a:ext cx="10214149" cy="713232"/>
          </a:xfrm>
          <a:prstGeom prst="rect">
            <a:avLst/>
          </a:prstGeom>
          <a:solidFill>
            <a:srgbClr val="1E4A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77800" tIns="127000" bIns="50800" wrap="square"/>
          <a:lstStyle/>
          <a:p>
            <a:pPr algn="l">
              <a:spcBef>
                <a:spcPts val="0"/>
              </a:spcBef>
              <a:spcAft>
                <a:spcPts val="0"/>
              </a:spcAft>
            </a:pPr>
            <a:r>
              <a:rPr sz="2200" b="1" i="0">
                <a:solidFill>
                  <a:srgbClr val="FFFFFF"/>
                </a:solidFill>
                <a:latin typeface="Calibri"/>
              </a:rPr>
              <a:t>RAG Debug &amp; Retrieval Testing</a:t>
            </a:r>
          </a:p>
        </p:txBody>
      </p:sp>
      <p:sp>
        <p:nvSpPr>
          <p:cNvPr id="3" name="Rectangle 2"/>
          <p:cNvSpPr/>
          <p:nvPr/>
        </p:nvSpPr>
        <p:spPr>
          <a:xfrm>
            <a:off x="10397029" y="512064"/>
            <a:ext cx="1645491" cy="713232"/>
          </a:xfrm>
          <a:prstGeom prst="rect">
            <a:avLst/>
          </a:prstGeom>
          <a:solidFill>
            <a:srgbClr val="0A142E"/>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tIns="101600" lIns="76200"/>
          <a:lstStyle/>
          <a:p>
            <a:pPr algn="ctr">
              <a:spcBef>
                <a:spcPts val="0"/>
              </a:spcBef>
              <a:spcAft>
                <a:spcPts val="0"/>
              </a:spcAft>
            </a:pPr>
            <a:r>
              <a:rPr sz="1500" b="1" i="0">
                <a:solidFill>
                  <a:srgbClr val="FFFFFF"/>
                </a:solidFill>
                <a:latin typeface="Calibri"/>
              </a:rPr>
              <a:t>  KAVIN</a:t>
            </a:r>
          </a:p>
          <a:p>
            <a:pPr algn="ctr">
              <a:spcBef>
                <a:spcPts val="0"/>
              </a:spcBef>
              <a:spcAft>
                <a:spcPts val="0"/>
              </a:spcAft>
            </a:pPr>
            <a:r>
              <a:rPr sz="900" b="0" i="0">
                <a:solidFill>
                  <a:srgbClr val="93C5FD"/>
                </a:solidFill>
                <a:latin typeface="Calibri"/>
              </a:rPr>
              <a:t>Developer Tools</a:t>
            </a:r>
          </a:p>
        </p:txBody>
      </p:sp>
      <p:sp>
        <p:nvSpPr>
          <p:cNvPr id="4" name="TextBox 3"/>
          <p:cNvSpPr txBox="1"/>
          <p:nvPr/>
        </p:nvSpPr>
        <p:spPr>
          <a:xfrm>
            <a:off x="164592" y="1280160"/>
            <a:ext cx="11859641" cy="292608"/>
          </a:xfrm>
          <a:prstGeom prst="rect">
            <a:avLst/>
          </a:prstGeom>
          <a:noFill/>
        </p:spPr>
        <p:txBody>
          <a:bodyPr wrap="square" lIns="50800" tIns="0">
            <a:spAutoFit/>
          </a:bodyPr>
          <a:lstStyle/>
          <a:p>
            <a:pPr algn="l">
              <a:spcBef>
                <a:spcPts val="0"/>
              </a:spcBef>
              <a:spcAft>
                <a:spcPts val="0"/>
              </a:spcAft>
            </a:pPr>
            <a:r>
              <a:rPr sz="1100" b="0" i="1">
                <a:solidFill>
                  <a:srgbClr val="93C5FD"/>
                </a:solidFill>
                <a:latin typeface="Calibri"/>
              </a:rPr>
              <a:t>Step-by-step pipeline testing tools  |  Each stage can be called independently via a dedicated devtools endpoint</a:t>
            </a:r>
          </a:p>
        </p:txBody>
      </p:sp>
      <p:sp>
        <p:nvSpPr>
          <p:cNvPr id="5" name="Rectangle 4"/>
          <p:cNvSpPr/>
          <p:nvPr/>
        </p:nvSpPr>
        <p:spPr>
          <a:xfrm>
            <a:off x="182880" y="1627632"/>
            <a:ext cx="1469553" cy="1508760"/>
          </a:xfrm>
          <a:prstGeom prst="rect">
            <a:avLst/>
          </a:prstGeom>
          <a:solidFill>
            <a:srgbClr val="0D1B38"/>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3B82F6"/>
                </a:solidFill>
                <a:latin typeface="Calibri"/>
              </a:rPr>
              <a:t>1. Input</a:t>
            </a:r>
          </a:p>
          <a:p>
            <a:pPr algn="ctr">
              <a:spcBef>
                <a:spcPts val="0"/>
              </a:spcBef>
              <a:spcAft>
                <a:spcPts val="0"/>
              </a:spcAft>
            </a:pPr>
            <a:r>
              <a:rPr sz="1000" b="0" i="0">
                <a:solidFill>
                  <a:srgbClr val="D8E8F8"/>
                </a:solidFill>
                <a:latin typeface="Calibri"/>
              </a:rPr>
              <a:t>Raw developer</a:t>
            </a:r>
          </a:p>
          <a:p>
            <a:pPr algn="ctr">
              <a:spcBef>
                <a:spcPts val="0"/>
              </a:spcBef>
              <a:spcAft>
                <a:spcPts val="0"/>
              </a:spcAft>
            </a:pPr>
            <a:r>
              <a:rPr sz="1000" b="0" i="0">
                <a:solidFill>
                  <a:srgbClr val="D8E8F8"/>
                </a:solidFill>
                <a:latin typeface="Calibri"/>
              </a:rPr>
              <a:t>question string</a:t>
            </a:r>
          </a:p>
        </p:txBody>
      </p:sp>
      <p:sp>
        <p:nvSpPr>
          <p:cNvPr id="6" name="TextBox 5"/>
          <p:cNvSpPr txBox="1"/>
          <p:nvPr/>
        </p:nvSpPr>
        <p:spPr>
          <a:xfrm>
            <a:off x="1679865" y="2217420"/>
            <a:ext cx="201168" cy="329184"/>
          </a:xfrm>
          <a:prstGeom prst="rect">
            <a:avLst/>
          </a:prstGeom>
          <a:noFill/>
        </p:spPr>
        <p:txBody>
          <a:bodyPr wrap="square" tIns="0">
            <a:spAutoFit/>
          </a:bodyPr>
          <a:lstStyle/>
          <a:p>
            <a:pPr algn="ctr">
              <a:spcBef>
                <a:spcPts val="0"/>
              </a:spcBef>
              <a:spcAft>
                <a:spcPts val="0"/>
              </a:spcAft>
            </a:pPr>
            <a:r>
              <a:rPr sz="1800" b="0" i="0">
                <a:solidFill>
                  <a:srgbClr val="3B82F6"/>
                </a:solidFill>
                <a:latin typeface="Calibri"/>
              </a:rPr>
              <a:t>→</a:t>
            </a:r>
          </a:p>
        </p:txBody>
      </p:sp>
      <p:sp>
        <p:nvSpPr>
          <p:cNvPr id="7" name="Rectangle 6"/>
          <p:cNvSpPr/>
          <p:nvPr/>
        </p:nvSpPr>
        <p:spPr>
          <a:xfrm>
            <a:off x="1908465" y="1627632"/>
            <a:ext cx="1469553" cy="1508760"/>
          </a:xfrm>
          <a:prstGeom prst="rect">
            <a:avLst/>
          </a:prstGeom>
          <a:solidFill>
            <a:srgbClr val="0D1B38"/>
          </a:solidFill>
          <a:ln w="1905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06B6D4"/>
                </a:solidFill>
                <a:latin typeface="Calibri"/>
              </a:rPr>
              <a:t>2. normalize_text</a:t>
            </a:r>
          </a:p>
          <a:p>
            <a:pPr algn="ctr">
              <a:spcBef>
                <a:spcPts val="0"/>
              </a:spcBef>
              <a:spcAft>
                <a:spcPts val="0"/>
              </a:spcAft>
            </a:pPr>
            <a:r>
              <a:rPr sz="1000" b="0" i="0">
                <a:solidFill>
                  <a:srgbClr val="D8E8F8"/>
                </a:solidFill>
                <a:latin typeface="Calibri"/>
              </a:rPr>
              <a:t>Lowercase, strip</a:t>
            </a:r>
          </a:p>
          <a:p>
            <a:pPr algn="ctr">
              <a:spcBef>
                <a:spcPts val="0"/>
              </a:spcBef>
              <a:spcAft>
                <a:spcPts val="0"/>
              </a:spcAft>
            </a:pPr>
            <a:r>
              <a:rPr sz="1000" b="0" i="0">
                <a:solidFill>
                  <a:srgbClr val="D8E8F8"/>
                </a:solidFill>
                <a:latin typeface="Calibri"/>
              </a:rPr>
              <a:t>whitespace, unicode</a:t>
            </a:r>
          </a:p>
        </p:txBody>
      </p:sp>
      <p:sp>
        <p:nvSpPr>
          <p:cNvPr id="8" name="TextBox 7"/>
          <p:cNvSpPr txBox="1"/>
          <p:nvPr/>
        </p:nvSpPr>
        <p:spPr>
          <a:xfrm>
            <a:off x="3405450" y="2217420"/>
            <a:ext cx="201168" cy="329184"/>
          </a:xfrm>
          <a:prstGeom prst="rect">
            <a:avLst/>
          </a:prstGeom>
          <a:noFill/>
        </p:spPr>
        <p:txBody>
          <a:bodyPr wrap="square" tIns="0">
            <a:spAutoFit/>
          </a:bodyPr>
          <a:lstStyle/>
          <a:p>
            <a:pPr algn="ctr">
              <a:spcBef>
                <a:spcPts val="0"/>
              </a:spcBef>
              <a:spcAft>
                <a:spcPts val="0"/>
              </a:spcAft>
            </a:pPr>
            <a:r>
              <a:rPr sz="1800" b="0" i="0">
                <a:solidFill>
                  <a:srgbClr val="3B82F6"/>
                </a:solidFill>
                <a:latin typeface="Calibri"/>
              </a:rPr>
              <a:t>→</a:t>
            </a:r>
          </a:p>
        </p:txBody>
      </p:sp>
      <p:sp>
        <p:nvSpPr>
          <p:cNvPr id="9" name="Rectangle 8"/>
          <p:cNvSpPr/>
          <p:nvPr/>
        </p:nvSpPr>
        <p:spPr>
          <a:xfrm>
            <a:off x="3634050" y="1627632"/>
            <a:ext cx="1469553" cy="1508760"/>
          </a:xfrm>
          <a:prstGeom prst="rect">
            <a:avLst/>
          </a:prstGeom>
          <a:solidFill>
            <a:srgbClr val="0D1B38"/>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8B5CF6"/>
                </a:solidFill>
                <a:latin typeface="Calibri"/>
              </a:rPr>
              <a:t>3. Intent Classify</a:t>
            </a:r>
          </a:p>
          <a:p>
            <a:pPr algn="ctr">
              <a:spcBef>
                <a:spcPts val="0"/>
              </a:spcBef>
              <a:spcAft>
                <a:spcPts val="0"/>
              </a:spcAft>
            </a:pPr>
            <a:r>
              <a:rPr sz="1000" b="0" i="0">
                <a:solidFill>
                  <a:srgbClr val="D8E8F8"/>
                </a:solidFill>
                <a:latin typeface="Calibri"/>
              </a:rPr>
              <a:t>bart-large-mnli</a:t>
            </a:r>
          </a:p>
          <a:p>
            <a:pPr algn="ctr">
              <a:spcBef>
                <a:spcPts val="0"/>
              </a:spcBef>
              <a:spcAft>
                <a:spcPts val="0"/>
              </a:spcAft>
            </a:pPr>
            <a:r>
              <a:rPr sz="1000" b="0" i="0">
                <a:solidFill>
                  <a:srgbClr val="D8E8F8"/>
                </a:solidFill>
                <a:latin typeface="Calibri"/>
              </a:rPr>
              <a:t>fact_lookup / compare</a:t>
            </a:r>
          </a:p>
        </p:txBody>
      </p:sp>
      <p:sp>
        <p:nvSpPr>
          <p:cNvPr id="10" name="TextBox 9"/>
          <p:cNvSpPr txBox="1"/>
          <p:nvPr/>
        </p:nvSpPr>
        <p:spPr>
          <a:xfrm>
            <a:off x="5131035" y="2217420"/>
            <a:ext cx="201168" cy="329184"/>
          </a:xfrm>
          <a:prstGeom prst="rect">
            <a:avLst/>
          </a:prstGeom>
          <a:noFill/>
        </p:spPr>
        <p:txBody>
          <a:bodyPr wrap="square" tIns="0">
            <a:spAutoFit/>
          </a:bodyPr>
          <a:lstStyle/>
          <a:p>
            <a:pPr algn="ctr">
              <a:spcBef>
                <a:spcPts val="0"/>
              </a:spcBef>
              <a:spcAft>
                <a:spcPts val="0"/>
              </a:spcAft>
            </a:pPr>
            <a:r>
              <a:rPr sz="1800" b="0" i="0">
                <a:solidFill>
                  <a:srgbClr val="3B82F6"/>
                </a:solidFill>
                <a:latin typeface="Calibri"/>
              </a:rPr>
              <a:t>→</a:t>
            </a:r>
          </a:p>
        </p:txBody>
      </p:sp>
      <p:sp>
        <p:nvSpPr>
          <p:cNvPr id="11" name="Rectangle 10"/>
          <p:cNvSpPr/>
          <p:nvPr/>
        </p:nvSpPr>
        <p:spPr>
          <a:xfrm>
            <a:off x="5359635" y="1627632"/>
            <a:ext cx="1469553" cy="1508760"/>
          </a:xfrm>
          <a:prstGeom prst="rect">
            <a:avLst/>
          </a:prstGeom>
          <a:solidFill>
            <a:srgbClr val="0D1B38"/>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10B981"/>
                </a:solidFill>
                <a:latin typeface="Calibri"/>
              </a:rPr>
              <a:t>4. Query Rewrite</a:t>
            </a:r>
          </a:p>
          <a:p>
            <a:pPr algn="ctr">
              <a:spcBef>
                <a:spcPts val="0"/>
              </a:spcBef>
              <a:spcAft>
                <a:spcPts val="0"/>
              </a:spcAft>
            </a:pPr>
            <a:r>
              <a:rPr sz="1000" b="0" i="0">
                <a:solidFill>
                  <a:srgbClr val="D8E8F8"/>
                </a:solidFill>
                <a:latin typeface="Calibri"/>
              </a:rPr>
              <a:t>Optional: expand</a:t>
            </a:r>
          </a:p>
          <a:p>
            <a:pPr algn="ctr">
              <a:spcBef>
                <a:spcPts val="0"/>
              </a:spcBef>
              <a:spcAft>
                <a:spcPts val="0"/>
              </a:spcAft>
            </a:pPr>
            <a:r>
              <a:rPr sz="1000" b="0" i="0">
                <a:solidFill>
                  <a:srgbClr val="D8E8F8"/>
                </a:solidFill>
                <a:latin typeface="Calibri"/>
              </a:rPr>
              <a:t>with chat history</a:t>
            </a:r>
          </a:p>
        </p:txBody>
      </p:sp>
      <p:sp>
        <p:nvSpPr>
          <p:cNvPr id="12" name="TextBox 11"/>
          <p:cNvSpPr txBox="1"/>
          <p:nvPr/>
        </p:nvSpPr>
        <p:spPr>
          <a:xfrm>
            <a:off x="6856621" y="2217420"/>
            <a:ext cx="201168" cy="329184"/>
          </a:xfrm>
          <a:prstGeom prst="rect">
            <a:avLst/>
          </a:prstGeom>
          <a:noFill/>
        </p:spPr>
        <p:txBody>
          <a:bodyPr wrap="square" tIns="0">
            <a:spAutoFit/>
          </a:bodyPr>
          <a:lstStyle/>
          <a:p>
            <a:pPr algn="ctr">
              <a:spcBef>
                <a:spcPts val="0"/>
              </a:spcBef>
              <a:spcAft>
                <a:spcPts val="0"/>
              </a:spcAft>
            </a:pPr>
            <a:r>
              <a:rPr sz="1800" b="0" i="0">
                <a:solidFill>
                  <a:srgbClr val="3B82F6"/>
                </a:solidFill>
                <a:latin typeface="Calibri"/>
              </a:rPr>
              <a:t>→</a:t>
            </a:r>
          </a:p>
        </p:txBody>
      </p:sp>
      <p:sp>
        <p:nvSpPr>
          <p:cNvPr id="13" name="Rectangle 12"/>
          <p:cNvSpPr/>
          <p:nvPr/>
        </p:nvSpPr>
        <p:spPr>
          <a:xfrm>
            <a:off x="7085221" y="1627632"/>
            <a:ext cx="1469553" cy="1508760"/>
          </a:xfrm>
          <a:prstGeom prst="rect">
            <a:avLst/>
          </a:prstGeom>
          <a:solidFill>
            <a:srgbClr val="0D1B38"/>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F59E0B"/>
                </a:solidFill>
                <a:latin typeface="Calibri"/>
              </a:rPr>
              <a:t>5. Keyword Extract</a:t>
            </a:r>
          </a:p>
          <a:p>
            <a:pPr algn="ctr">
              <a:spcBef>
                <a:spcPts val="0"/>
              </a:spcBef>
              <a:spcAft>
                <a:spcPts val="0"/>
              </a:spcAft>
            </a:pPr>
            <a:r>
              <a:rPr sz="1000" b="0" i="0">
                <a:solidFill>
                  <a:srgbClr val="D8E8F8"/>
                </a:solidFill>
                <a:latin typeface="Calibri"/>
              </a:rPr>
              <a:t>SQL BM25 terms</a:t>
            </a:r>
          </a:p>
          <a:p>
            <a:pPr algn="ctr">
              <a:spcBef>
                <a:spcPts val="0"/>
              </a:spcBef>
              <a:spcAft>
                <a:spcPts val="0"/>
              </a:spcAft>
            </a:pPr>
            <a:r>
              <a:rPr sz="1000" b="0" i="0">
                <a:solidFill>
                  <a:srgbClr val="D8E8F8"/>
                </a:solidFill>
                <a:latin typeface="Calibri"/>
              </a:rPr>
              <a:t>for hybrid search</a:t>
            </a:r>
          </a:p>
        </p:txBody>
      </p:sp>
      <p:sp>
        <p:nvSpPr>
          <p:cNvPr id="14" name="TextBox 13"/>
          <p:cNvSpPr txBox="1"/>
          <p:nvPr/>
        </p:nvSpPr>
        <p:spPr>
          <a:xfrm>
            <a:off x="8582206" y="2217420"/>
            <a:ext cx="201168" cy="329184"/>
          </a:xfrm>
          <a:prstGeom prst="rect">
            <a:avLst/>
          </a:prstGeom>
          <a:noFill/>
        </p:spPr>
        <p:txBody>
          <a:bodyPr wrap="square" tIns="0">
            <a:spAutoFit/>
          </a:bodyPr>
          <a:lstStyle/>
          <a:p>
            <a:pPr algn="ctr">
              <a:spcBef>
                <a:spcPts val="0"/>
              </a:spcBef>
              <a:spcAft>
                <a:spcPts val="0"/>
              </a:spcAft>
            </a:pPr>
            <a:r>
              <a:rPr sz="1800" b="0" i="0">
                <a:solidFill>
                  <a:srgbClr val="3B82F6"/>
                </a:solidFill>
                <a:latin typeface="Calibri"/>
              </a:rPr>
              <a:t>→</a:t>
            </a:r>
          </a:p>
        </p:txBody>
      </p:sp>
      <p:sp>
        <p:nvSpPr>
          <p:cNvPr id="15" name="Rectangle 14"/>
          <p:cNvSpPr/>
          <p:nvPr/>
        </p:nvSpPr>
        <p:spPr>
          <a:xfrm>
            <a:off x="8810806" y="1627632"/>
            <a:ext cx="1469553" cy="1508760"/>
          </a:xfrm>
          <a:prstGeom prst="rect">
            <a:avLst/>
          </a:prstGeom>
          <a:solidFill>
            <a:srgbClr val="0D1B38"/>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EF4444"/>
                </a:solidFill>
                <a:latin typeface="Calibri"/>
              </a:rPr>
              <a:t>6. PGVector Fetch</a:t>
            </a:r>
          </a:p>
          <a:p>
            <a:pPr algn="ctr">
              <a:spcBef>
                <a:spcPts val="0"/>
              </a:spcBef>
              <a:spcAft>
                <a:spcPts val="0"/>
              </a:spcAft>
            </a:pPr>
            <a:r>
              <a:rPr sz="1000" b="0" i="0">
                <a:solidFill>
                  <a:srgbClr val="D8E8F8"/>
                </a:solidFill>
                <a:latin typeface="Calibri"/>
              </a:rPr>
              <a:t>Dense semantic</a:t>
            </a:r>
          </a:p>
          <a:p>
            <a:pPr algn="ctr">
              <a:spcBef>
                <a:spcPts val="0"/>
              </a:spcBef>
              <a:spcAft>
                <a:spcPts val="0"/>
              </a:spcAft>
            </a:pPr>
            <a:r>
              <a:rPr sz="1000" b="0" i="0">
                <a:solidFill>
                  <a:srgbClr val="D8E8F8"/>
                </a:solidFill>
                <a:latin typeface="Calibri"/>
              </a:rPr>
              <a:t>retrieval from DB</a:t>
            </a:r>
          </a:p>
        </p:txBody>
      </p:sp>
      <p:sp>
        <p:nvSpPr>
          <p:cNvPr id="16" name="TextBox 15"/>
          <p:cNvSpPr txBox="1"/>
          <p:nvPr/>
        </p:nvSpPr>
        <p:spPr>
          <a:xfrm>
            <a:off x="10307791" y="2217420"/>
            <a:ext cx="201168" cy="329184"/>
          </a:xfrm>
          <a:prstGeom prst="rect">
            <a:avLst/>
          </a:prstGeom>
          <a:noFill/>
        </p:spPr>
        <p:txBody>
          <a:bodyPr wrap="square" tIns="0">
            <a:spAutoFit/>
          </a:bodyPr>
          <a:lstStyle/>
          <a:p>
            <a:pPr algn="ctr">
              <a:spcBef>
                <a:spcPts val="0"/>
              </a:spcBef>
              <a:spcAft>
                <a:spcPts val="0"/>
              </a:spcAft>
            </a:pPr>
            <a:r>
              <a:rPr sz="1800" b="0" i="0">
                <a:solidFill>
                  <a:srgbClr val="3B82F6"/>
                </a:solidFill>
                <a:latin typeface="Calibri"/>
              </a:rPr>
              <a:t>→</a:t>
            </a:r>
          </a:p>
        </p:txBody>
      </p:sp>
      <p:sp>
        <p:nvSpPr>
          <p:cNvPr id="17" name="Rectangle 16"/>
          <p:cNvSpPr/>
          <p:nvPr/>
        </p:nvSpPr>
        <p:spPr>
          <a:xfrm>
            <a:off x="10536391" y="1627632"/>
            <a:ext cx="1469553" cy="1508760"/>
          </a:xfrm>
          <a:prstGeom prst="rect">
            <a:avLst/>
          </a:prstGeom>
          <a:solidFill>
            <a:srgbClr val="0D1B38"/>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3B82F6"/>
                </a:solidFill>
                <a:latin typeface="Calibri"/>
              </a:rPr>
              <a:t>7. Top N Chunks</a:t>
            </a:r>
          </a:p>
          <a:p>
            <a:pPr algn="ctr">
              <a:spcBef>
                <a:spcPts val="0"/>
              </a:spcBef>
              <a:spcAft>
                <a:spcPts val="0"/>
              </a:spcAft>
            </a:pPr>
            <a:r>
              <a:rPr sz="1000" b="0" i="0">
                <a:solidFill>
                  <a:srgbClr val="D8E8F8"/>
                </a:solidFill>
                <a:latin typeface="Calibri"/>
              </a:rPr>
              <a:t>Ranked results</a:t>
            </a:r>
          </a:p>
          <a:p>
            <a:pPr algn="ctr">
              <a:spcBef>
                <a:spcPts val="0"/>
              </a:spcBef>
              <a:spcAft>
                <a:spcPts val="0"/>
              </a:spcAft>
            </a:pPr>
            <a:r>
              <a:rPr sz="1000" b="0" i="0">
                <a:solidFill>
                  <a:srgbClr val="D8E8F8"/>
                </a:solidFill>
                <a:latin typeface="Calibri"/>
              </a:rPr>
              <a:t>returned to caller</a:t>
            </a:r>
          </a:p>
        </p:txBody>
      </p:sp>
      <p:sp>
        <p:nvSpPr>
          <p:cNvPr id="18" name="Rectangle 17"/>
          <p:cNvSpPr/>
          <p:nvPr/>
        </p:nvSpPr>
        <p:spPr>
          <a:xfrm>
            <a:off x="182880" y="3392424"/>
            <a:ext cx="2910046" cy="3209544"/>
          </a:xfrm>
          <a:prstGeom prst="rect">
            <a:avLst/>
          </a:prstGeom>
          <a:solidFill>
            <a:srgbClr val="0D1B38"/>
          </a:solidFill>
          <a:ln w="228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3B82F6"/>
                </a:solidFill>
                <a:latin typeface="Calibri"/>
              </a:rPr>
              <a:t>INT  /devtools/intent</a:t>
            </a:r>
          </a:p>
        </p:txBody>
      </p:sp>
      <p:sp>
        <p:nvSpPr>
          <p:cNvPr id="19" name="Rectangle 18"/>
          <p:cNvSpPr/>
          <p:nvPr/>
        </p:nvSpPr>
        <p:spPr>
          <a:xfrm>
            <a:off x="256032" y="3794760"/>
            <a:ext cx="2763742" cy="1280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032" y="3831335"/>
            <a:ext cx="2763742" cy="2697479"/>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Classify any text string</a:t>
            </a:r>
          </a:p>
          <a:p>
            <a:pPr algn="l">
              <a:spcBef>
                <a:spcPts val="0"/>
              </a:spcBef>
              <a:spcAft>
                <a:spcPts val="100"/>
              </a:spcAft>
            </a:pPr>
            <a:r>
              <a:rPr sz="1200" b="0" i="0">
                <a:solidFill>
                  <a:srgbClr val="D8E8F8"/>
                </a:solidFill>
                <a:latin typeface="Calibri"/>
              </a:rPr>
              <a:t>Returns normalized form</a:t>
            </a:r>
          </a:p>
          <a:p>
            <a:pPr algn="l">
              <a:spcBef>
                <a:spcPts val="0"/>
              </a:spcBef>
              <a:spcAft>
                <a:spcPts val="100"/>
              </a:spcAft>
            </a:pPr>
            <a:r>
              <a:rPr sz="1200" b="0" i="0">
                <a:solidFill>
                  <a:srgbClr val="D8E8F8"/>
                </a:solidFill>
                <a:latin typeface="Calibri"/>
              </a:rPr>
              <a:t>and detected intent label</a:t>
            </a:r>
          </a:p>
          <a:p>
            <a:pPr algn="l">
              <a:spcBef>
                <a:spcPts val="0"/>
              </a:spcBef>
              <a:spcAft>
                <a:spcPts val="100"/>
              </a:spcAft>
            </a:pPr>
            <a:r>
              <a:rPr sz="1200" b="0" i="0">
                <a:solidFill>
                  <a:srgbClr val="D8E8F8"/>
                </a:solidFill>
                <a:latin typeface="Calibri"/>
              </a:rPr>
              <a:t>Intents: fact_lookup</a:t>
            </a:r>
          </a:p>
          <a:p>
            <a:pPr algn="l">
              <a:spcBef>
                <a:spcPts val="0"/>
              </a:spcBef>
              <a:spcAft>
                <a:spcPts val="100"/>
              </a:spcAft>
            </a:pPr>
            <a:r>
              <a:rPr sz="1100" b="0" i="0">
                <a:solidFill>
                  <a:srgbClr val="6A8AB0"/>
                </a:solidFill>
                <a:latin typeface="Calibri"/>
              </a:rPr>
              <a:t>  comparison, procedural</a:t>
            </a:r>
          </a:p>
          <a:p>
            <a:pPr algn="l">
              <a:spcBef>
                <a:spcPts val="0"/>
              </a:spcBef>
              <a:spcAft>
                <a:spcPts val="100"/>
              </a:spcAft>
            </a:pPr>
            <a:r>
              <a:rPr sz="1100" b="0" i="0">
                <a:solidFill>
                  <a:srgbClr val="6A8AB0"/>
                </a:solidFill>
                <a:latin typeface="Calibri"/>
              </a:rPr>
              <a:t>  definition, multi_doc</a:t>
            </a:r>
          </a:p>
        </p:txBody>
      </p:sp>
      <p:sp>
        <p:nvSpPr>
          <p:cNvPr id="21" name="Rectangle 20"/>
          <p:cNvSpPr/>
          <p:nvPr/>
        </p:nvSpPr>
        <p:spPr>
          <a:xfrm>
            <a:off x="3275806" y="3392424"/>
            <a:ext cx="2910046" cy="3209544"/>
          </a:xfrm>
          <a:prstGeom prst="rect">
            <a:avLst/>
          </a:prstGeom>
          <a:solidFill>
            <a:srgbClr val="0D1B38"/>
          </a:solidFill>
          <a:ln w="2286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8B5CF6"/>
                </a:solidFill>
                <a:latin typeface="Calibri"/>
              </a:rPr>
              <a:t>RW  /devtools/rewrite</a:t>
            </a:r>
          </a:p>
        </p:txBody>
      </p:sp>
      <p:sp>
        <p:nvSpPr>
          <p:cNvPr id="22" name="Rectangle 21"/>
          <p:cNvSpPr/>
          <p:nvPr/>
        </p:nvSpPr>
        <p:spPr>
          <a:xfrm>
            <a:off x="3348958" y="3794760"/>
            <a:ext cx="2763742" cy="12801"/>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8958" y="3831335"/>
            <a:ext cx="2763742" cy="2697479"/>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Show query rewriting</a:t>
            </a:r>
          </a:p>
          <a:p>
            <a:pPr algn="l">
              <a:spcBef>
                <a:spcPts val="0"/>
              </a:spcBef>
              <a:spcAft>
                <a:spcPts val="100"/>
              </a:spcAft>
            </a:pPr>
            <a:r>
              <a:rPr sz="1200" b="0" i="0">
                <a:solidFill>
                  <a:srgbClr val="D8E8F8"/>
                </a:solidFill>
                <a:latin typeface="Calibri"/>
              </a:rPr>
              <a:t>Pass mock chat history</a:t>
            </a:r>
          </a:p>
          <a:p>
            <a:pPr algn="l">
              <a:spcBef>
                <a:spcPts val="0"/>
              </a:spcBef>
              <a:spcAft>
                <a:spcPts val="100"/>
              </a:spcAft>
            </a:pPr>
            <a:r>
              <a:rPr sz="1200" b="0" i="0">
                <a:solidFill>
                  <a:srgbClr val="D8E8F8"/>
                </a:solidFill>
                <a:latin typeface="Calibri"/>
              </a:rPr>
              <a:t>Returns original +</a:t>
            </a:r>
          </a:p>
          <a:p>
            <a:pPr algn="l">
              <a:spcBef>
                <a:spcPts val="0"/>
              </a:spcBef>
              <a:spcAft>
                <a:spcPts val="100"/>
              </a:spcAft>
            </a:pPr>
            <a:r>
              <a:rPr sz="1200" b="0" i="0">
                <a:solidFill>
                  <a:srgbClr val="D8E8F8"/>
                </a:solidFill>
                <a:latin typeface="Calibri"/>
              </a:rPr>
              <a:t>rewritten question</a:t>
            </a:r>
          </a:p>
          <a:p>
            <a:pPr algn="l">
              <a:spcBef>
                <a:spcPts val="0"/>
              </a:spcBef>
              <a:spcAft>
                <a:spcPts val="100"/>
              </a:spcAft>
            </a:pPr>
            <a:r>
              <a:rPr sz="1200" b="0" i="0">
                <a:solidFill>
                  <a:srgbClr val="D8E8F8"/>
                </a:solidFill>
                <a:latin typeface="Calibri"/>
              </a:rPr>
              <a:t>Uses LLM-based</a:t>
            </a:r>
          </a:p>
          <a:p>
            <a:pPr algn="l">
              <a:spcBef>
                <a:spcPts val="0"/>
              </a:spcBef>
              <a:spcAft>
                <a:spcPts val="100"/>
              </a:spcAft>
            </a:pPr>
            <a:r>
              <a:rPr sz="1200" b="0" i="0">
                <a:solidFill>
                  <a:srgbClr val="D8E8F8"/>
                </a:solidFill>
                <a:latin typeface="Calibri"/>
              </a:rPr>
              <a:t>context expansion</a:t>
            </a:r>
          </a:p>
        </p:txBody>
      </p:sp>
      <p:sp>
        <p:nvSpPr>
          <p:cNvPr id="24" name="Rectangle 23"/>
          <p:cNvSpPr/>
          <p:nvPr/>
        </p:nvSpPr>
        <p:spPr>
          <a:xfrm>
            <a:off x="6368732" y="3392424"/>
            <a:ext cx="2910046" cy="3209544"/>
          </a:xfrm>
          <a:prstGeom prst="rect">
            <a:avLst/>
          </a:prstGeom>
          <a:solidFill>
            <a:srgbClr val="0D1B38"/>
          </a:solidFill>
          <a:ln w="2286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10B981"/>
                </a:solidFill>
                <a:latin typeface="Calibri"/>
              </a:rPr>
              <a:t>KW  /devtools/keywords</a:t>
            </a:r>
          </a:p>
        </p:txBody>
      </p:sp>
      <p:sp>
        <p:nvSpPr>
          <p:cNvPr id="25" name="Rectangle 24"/>
          <p:cNvSpPr/>
          <p:nvPr/>
        </p:nvSpPr>
        <p:spPr>
          <a:xfrm>
            <a:off x="6441884" y="3794760"/>
            <a:ext cx="2763742" cy="128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1884" y="3831335"/>
            <a:ext cx="2763742" cy="2697479"/>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Inspect keyword tokens</a:t>
            </a:r>
          </a:p>
          <a:p>
            <a:pPr algn="l">
              <a:spcBef>
                <a:spcPts val="0"/>
              </a:spcBef>
              <a:spcAft>
                <a:spcPts val="100"/>
              </a:spcAft>
            </a:pPr>
            <a:r>
              <a:rPr sz="1200" b="0" i="0">
                <a:solidFill>
                  <a:srgbClr val="D8E8F8"/>
                </a:solidFill>
                <a:latin typeface="Calibri"/>
              </a:rPr>
              <a:t>extracted for SQL search</a:t>
            </a:r>
          </a:p>
          <a:p>
            <a:pPr algn="l">
              <a:spcBef>
                <a:spcPts val="0"/>
              </a:spcBef>
              <a:spcAft>
                <a:spcPts val="100"/>
              </a:spcAft>
            </a:pPr>
            <a:r>
              <a:rPr sz="1200" b="0" i="0">
                <a:solidFill>
                  <a:srgbClr val="D8E8F8"/>
                </a:solidFill>
                <a:latin typeface="Calibri"/>
              </a:rPr>
              <a:t>Used in hybrid BM25+</a:t>
            </a:r>
          </a:p>
          <a:p>
            <a:pPr algn="l">
              <a:spcBef>
                <a:spcPts val="0"/>
              </a:spcBef>
              <a:spcAft>
                <a:spcPts val="100"/>
              </a:spcAft>
            </a:pPr>
            <a:r>
              <a:rPr sz="1200" b="0" i="0">
                <a:solidFill>
                  <a:srgbClr val="D8E8F8"/>
                </a:solidFill>
                <a:latin typeface="Calibri"/>
              </a:rPr>
              <a:t>semantic mode</a:t>
            </a:r>
          </a:p>
          <a:p>
            <a:pPr algn="l">
              <a:spcBef>
                <a:spcPts val="0"/>
              </a:spcBef>
              <a:spcAft>
                <a:spcPts val="100"/>
              </a:spcAft>
            </a:pPr>
            <a:r>
              <a:rPr sz="1200" b="0" i="0">
                <a:solidFill>
                  <a:srgbClr val="D8E8F8"/>
                </a:solidFill>
                <a:latin typeface="Calibri"/>
              </a:rPr>
              <a:t>Helps debug why a doc</a:t>
            </a:r>
          </a:p>
          <a:p>
            <a:pPr algn="l">
              <a:spcBef>
                <a:spcPts val="0"/>
              </a:spcBef>
              <a:spcAft>
                <a:spcPts val="100"/>
              </a:spcAft>
            </a:pPr>
            <a:r>
              <a:rPr sz="1200" b="0" i="0">
                <a:solidFill>
                  <a:srgbClr val="D8E8F8"/>
                </a:solidFill>
                <a:latin typeface="Calibri"/>
              </a:rPr>
              <a:t>is / isn't retrieved</a:t>
            </a:r>
          </a:p>
        </p:txBody>
      </p:sp>
      <p:sp>
        <p:nvSpPr>
          <p:cNvPr id="27" name="Rectangle 26"/>
          <p:cNvSpPr/>
          <p:nvPr/>
        </p:nvSpPr>
        <p:spPr>
          <a:xfrm>
            <a:off x="9461658" y="3392424"/>
            <a:ext cx="2910046" cy="3209544"/>
          </a:xfrm>
          <a:prstGeom prst="rect">
            <a:avLst/>
          </a:prstGeom>
          <a:solidFill>
            <a:srgbClr val="0D1B38"/>
          </a:solidFill>
          <a:ln w="2286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06B6D4"/>
                </a:solidFill>
                <a:latin typeface="Calibri"/>
              </a:rPr>
              <a:t>RTR  /devtools/retrieve</a:t>
            </a:r>
          </a:p>
        </p:txBody>
      </p:sp>
      <p:sp>
        <p:nvSpPr>
          <p:cNvPr id="28" name="Rectangle 27"/>
          <p:cNvSpPr/>
          <p:nvPr/>
        </p:nvSpPr>
        <p:spPr>
          <a:xfrm>
            <a:off x="9534810" y="3794760"/>
            <a:ext cx="2763742" cy="12801"/>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34810" y="3831335"/>
            <a:ext cx="2763742" cy="2697479"/>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Full pipeline dry-run</a:t>
            </a:r>
          </a:p>
          <a:p>
            <a:pPr algn="l">
              <a:spcBef>
                <a:spcPts val="0"/>
              </a:spcBef>
              <a:spcAft>
                <a:spcPts val="100"/>
              </a:spcAft>
            </a:pPr>
            <a:r>
              <a:rPr sz="1200" b="0" i="0">
                <a:solidFill>
                  <a:srgbClr val="D8E8F8"/>
                </a:solidFill>
                <a:latin typeface="Calibri"/>
              </a:rPr>
              <a:t>Pass: question, doc ID,</a:t>
            </a:r>
          </a:p>
          <a:p>
            <a:pPr algn="l">
              <a:spcBef>
                <a:spcPts val="0"/>
              </a:spcBef>
              <a:spcAft>
                <a:spcPts val="100"/>
              </a:spcAft>
            </a:pPr>
            <a:r>
              <a:rPr sz="1200" b="0" i="0">
                <a:solidFill>
                  <a:srgbClr val="D8E8F8"/>
                </a:solidFill>
                <a:latin typeface="Calibri"/>
              </a:rPr>
              <a:t>revision, collection</a:t>
            </a:r>
          </a:p>
          <a:p>
            <a:pPr algn="l">
              <a:spcBef>
                <a:spcPts val="0"/>
              </a:spcBef>
              <a:spcAft>
                <a:spcPts val="100"/>
              </a:spcAft>
            </a:pPr>
            <a:r>
              <a:rPr sz="1200" b="0" i="0">
                <a:solidFill>
                  <a:srgbClr val="D8E8F8"/>
                </a:solidFill>
                <a:latin typeface="Calibri"/>
              </a:rPr>
              <a:t>Returns top-N chunks,</a:t>
            </a:r>
          </a:p>
          <a:p>
            <a:pPr algn="l">
              <a:spcBef>
                <a:spcPts val="0"/>
              </a:spcBef>
              <a:spcAft>
                <a:spcPts val="100"/>
              </a:spcAft>
            </a:pPr>
            <a:r>
              <a:rPr sz="1200" b="0" i="0">
                <a:solidFill>
                  <a:srgbClr val="D8E8F8"/>
                </a:solidFill>
                <a:latin typeface="Calibri"/>
              </a:rPr>
              <a:t>chunk_ids, rag_mode,</a:t>
            </a:r>
          </a:p>
          <a:p>
            <a:pPr algn="l">
              <a:spcBef>
                <a:spcPts val="0"/>
              </a:spcBef>
              <a:spcAft>
                <a:spcPts val="100"/>
              </a:spcAft>
            </a:pPr>
            <a:r>
              <a:rPr sz="1200" b="0" i="0">
                <a:solidFill>
                  <a:srgbClr val="D8E8F8"/>
                </a:solidFill>
                <a:latin typeface="Calibri"/>
              </a:rPr>
              <a:t>intent, and preview[0:3]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50A18"/>
        </a:solidFill>
        <a:effectLst/>
      </p:bgPr>
    </p:bg>
    <p:spTree>
      <p:nvGrpSpPr>
        <p:cNvPr id="1" name=""/>
        <p:cNvGrpSpPr/>
        <p:nvPr/>
      </p:nvGrpSpPr>
      <p:grpSpPr/>
      <p:sp>
        <p:nvSpPr>
          <p:cNvPr id="2" name="Rectangle 1"/>
          <p:cNvSpPr/>
          <p:nvPr/>
        </p:nvSpPr>
        <p:spPr>
          <a:xfrm>
            <a:off x="164592" y="512064"/>
            <a:ext cx="10214149" cy="713232"/>
          </a:xfrm>
          <a:prstGeom prst="rect">
            <a:avLst/>
          </a:prstGeom>
          <a:solidFill>
            <a:srgbClr val="1E4A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77800" tIns="127000" bIns="50800" wrap="square"/>
          <a:lstStyle/>
          <a:p>
            <a:pPr algn="l">
              <a:spcBef>
                <a:spcPts val="0"/>
              </a:spcBef>
              <a:spcAft>
                <a:spcPts val="0"/>
              </a:spcAft>
            </a:pPr>
            <a:r>
              <a:rPr sz="2200" b="1" i="0">
                <a:solidFill>
                  <a:srgbClr val="FFFFFF"/>
                </a:solidFill>
                <a:latin typeface="Calibri"/>
              </a:rPr>
              <a:t>MVP Analytics Command Center</a:t>
            </a:r>
          </a:p>
        </p:txBody>
      </p:sp>
      <p:sp>
        <p:nvSpPr>
          <p:cNvPr id="3" name="Rectangle 2"/>
          <p:cNvSpPr/>
          <p:nvPr/>
        </p:nvSpPr>
        <p:spPr>
          <a:xfrm>
            <a:off x="10397029" y="512064"/>
            <a:ext cx="1645491" cy="713232"/>
          </a:xfrm>
          <a:prstGeom prst="rect">
            <a:avLst/>
          </a:prstGeom>
          <a:solidFill>
            <a:srgbClr val="0A142E"/>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tIns="101600" lIns="76200"/>
          <a:lstStyle/>
          <a:p>
            <a:pPr algn="ctr">
              <a:spcBef>
                <a:spcPts val="0"/>
              </a:spcBef>
              <a:spcAft>
                <a:spcPts val="0"/>
              </a:spcAft>
            </a:pPr>
            <a:r>
              <a:rPr sz="1500" b="1" i="0">
                <a:solidFill>
                  <a:srgbClr val="FFFFFF"/>
                </a:solidFill>
                <a:latin typeface="Calibri"/>
              </a:rPr>
              <a:t>  KAVIN</a:t>
            </a:r>
          </a:p>
          <a:p>
            <a:pPr algn="ctr">
              <a:spcBef>
                <a:spcPts val="0"/>
              </a:spcBef>
              <a:spcAft>
                <a:spcPts val="0"/>
              </a:spcAft>
            </a:pPr>
            <a:r>
              <a:rPr sz="900" b="0" i="0">
                <a:solidFill>
                  <a:srgbClr val="93C5FD"/>
                </a:solidFill>
                <a:latin typeface="Calibri"/>
              </a:rPr>
              <a:t>Developer Tools</a:t>
            </a:r>
          </a:p>
        </p:txBody>
      </p:sp>
      <p:sp>
        <p:nvSpPr>
          <p:cNvPr id="4" name="TextBox 3"/>
          <p:cNvSpPr txBox="1"/>
          <p:nvPr/>
        </p:nvSpPr>
        <p:spPr>
          <a:xfrm>
            <a:off x="164592" y="1280160"/>
            <a:ext cx="11859641" cy="292608"/>
          </a:xfrm>
          <a:prstGeom prst="rect">
            <a:avLst/>
          </a:prstGeom>
          <a:noFill/>
        </p:spPr>
        <p:txBody>
          <a:bodyPr wrap="square" lIns="50800" tIns="0">
            <a:spAutoFit/>
          </a:bodyPr>
          <a:lstStyle/>
          <a:p>
            <a:pPr algn="l">
              <a:spcBef>
                <a:spcPts val="0"/>
              </a:spcBef>
              <a:spcAft>
                <a:spcPts val="0"/>
              </a:spcAft>
            </a:pPr>
            <a:r>
              <a:rPr sz="1100" b="0" i="1">
                <a:solidFill>
                  <a:srgbClr val="93C5FD"/>
                </a:solidFill>
                <a:latin typeface="Calibri"/>
              </a:rPr>
              <a:t>GET /devtools/mvp/overview  |  window_hours: 1-168  |  Admin-gated real-time operational snapshot</a:t>
            </a:r>
          </a:p>
        </p:txBody>
      </p:sp>
      <p:sp>
        <p:nvSpPr>
          <p:cNvPr id="5" name="Rectangle 4"/>
          <p:cNvSpPr/>
          <p:nvPr/>
        </p:nvSpPr>
        <p:spPr>
          <a:xfrm>
            <a:off x="182880" y="1627632"/>
            <a:ext cx="2910046" cy="4956048"/>
          </a:xfrm>
          <a:prstGeom prst="rect">
            <a:avLst/>
          </a:prstGeom>
          <a:solidFill>
            <a:srgbClr val="0D1B38"/>
          </a:solidFill>
          <a:ln w="2286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EF4444"/>
                </a:solidFill>
                <a:latin typeface="Calibri"/>
              </a:rPr>
              <a:t>RT  Runtime Status</a:t>
            </a:r>
          </a:p>
        </p:txBody>
      </p:sp>
      <p:sp>
        <p:nvSpPr>
          <p:cNvPr id="6" name="Rectangle 5"/>
          <p:cNvSpPr/>
          <p:nvPr/>
        </p:nvSpPr>
        <p:spPr>
          <a:xfrm>
            <a:off x="256032" y="2029968"/>
            <a:ext cx="2763742" cy="12801"/>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2066543"/>
            <a:ext cx="2763742"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GPU: device, VRAM total/free</a:t>
            </a:r>
          </a:p>
          <a:p>
            <a:pPr algn="l">
              <a:spcBef>
                <a:spcPts val="0"/>
              </a:spcBef>
              <a:spcAft>
                <a:spcPts val="100"/>
              </a:spcAft>
            </a:pPr>
            <a:r>
              <a:rPr sz="1200" b="0" i="0">
                <a:solidFill>
                  <a:srgbClr val="D8E8F8"/>
                </a:solidFill>
                <a:latin typeface="Calibri"/>
              </a:rPr>
              <a:t>CUDA version + torch build</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RabbitMQ broker:</a:t>
            </a:r>
          </a:p>
          <a:p>
            <a:pPr algn="l">
              <a:spcBef>
                <a:spcPts val="0"/>
              </a:spcBef>
              <a:spcAft>
                <a:spcPts val="100"/>
              </a:spcAft>
            </a:pPr>
            <a:r>
              <a:rPr sz="1100" b="0" i="0">
                <a:solidFill>
                  <a:srgbClr val="6A8AB0"/>
                </a:solidFill>
                <a:latin typeface="Calibri"/>
              </a:rPr>
              <a:t>  reachability ping</a:t>
            </a:r>
          </a:p>
          <a:p>
            <a:pPr algn="l">
              <a:spcBef>
                <a:spcPts val="0"/>
              </a:spcBef>
              <a:spcAft>
                <a:spcPts val="100"/>
              </a:spcAft>
            </a:pPr>
            <a:r>
              <a:rPr sz="1100" b="0" i="0">
                <a:solidFill>
                  <a:srgbClr val="6A8AB0"/>
                </a:solidFill>
                <a:latin typeface="Calibri"/>
              </a:rPr>
              <a:t>  queue depth per worker</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Celery workers:</a:t>
            </a:r>
          </a:p>
          <a:p>
            <a:pPr algn="l">
              <a:spcBef>
                <a:spcPts val="0"/>
              </a:spcBef>
              <a:spcAft>
                <a:spcPts val="100"/>
              </a:spcAft>
            </a:pPr>
            <a:r>
              <a:rPr sz="1100" b="0" i="0">
                <a:solidFill>
                  <a:srgbClr val="6A8AB0"/>
                </a:solidFill>
                <a:latin typeface="Calibri"/>
              </a:rPr>
              <a:t>  active worker list</a:t>
            </a:r>
          </a:p>
          <a:p>
            <a:pPr algn="l">
              <a:spcBef>
                <a:spcPts val="0"/>
              </a:spcBef>
              <a:spcAft>
                <a:spcPts val="100"/>
              </a:spcAft>
            </a:pPr>
            <a:r>
              <a:rPr sz="1100" b="0" i="0">
                <a:solidFill>
                  <a:srgbClr val="6A8AB0"/>
                </a:solidFill>
                <a:latin typeface="Calibri"/>
              </a:rPr>
              <a:t>  task count per queue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Software versions:</a:t>
            </a:r>
          </a:p>
          <a:p>
            <a:pPr algn="l">
              <a:spcBef>
                <a:spcPts val="0"/>
              </a:spcBef>
              <a:spcAft>
                <a:spcPts val="100"/>
              </a:spcAft>
            </a:pPr>
            <a:r>
              <a:rPr sz="1100" b="0" i="0">
                <a:solidFill>
                  <a:srgbClr val="6A8AB0"/>
                </a:solidFill>
                <a:latin typeface="Calibri"/>
              </a:rPr>
              <a:t>  Python, torch, llama-cpp</a:t>
            </a:r>
          </a:p>
        </p:txBody>
      </p:sp>
      <p:sp>
        <p:nvSpPr>
          <p:cNvPr id="8" name="Rectangle 7"/>
          <p:cNvSpPr/>
          <p:nvPr/>
        </p:nvSpPr>
        <p:spPr>
          <a:xfrm>
            <a:off x="3275806" y="1627632"/>
            <a:ext cx="2910046" cy="4956048"/>
          </a:xfrm>
          <a:prstGeom prst="rect">
            <a:avLst/>
          </a:prstGeom>
          <a:solidFill>
            <a:srgbClr val="0D1B38"/>
          </a:solidFill>
          <a:ln w="228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3B82F6"/>
                </a:solidFill>
                <a:latin typeface="Calibri"/>
              </a:rPr>
              <a:t>INGEST  Ingestion Funnel</a:t>
            </a:r>
          </a:p>
        </p:txBody>
      </p:sp>
      <p:sp>
        <p:nvSpPr>
          <p:cNvPr id="9" name="Rectangle 8"/>
          <p:cNvSpPr/>
          <p:nvPr/>
        </p:nvSpPr>
        <p:spPr>
          <a:xfrm>
            <a:off x="3348958" y="2029968"/>
            <a:ext cx="2763742" cy="1280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48958" y="2066543"/>
            <a:ext cx="2763742"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Per-window job counts:</a:t>
            </a:r>
          </a:p>
          <a:p>
            <a:pPr algn="l">
              <a:spcBef>
                <a:spcPts val="0"/>
              </a:spcBef>
              <a:spcAft>
                <a:spcPts val="100"/>
              </a:spcAft>
            </a:pPr>
            <a:r>
              <a:rPr sz="1100" b="0" i="0">
                <a:solidFill>
                  <a:srgbClr val="6A8AB0"/>
                </a:solidFill>
                <a:latin typeface="Calibri"/>
              </a:rPr>
              <a:t>  WAIT_FOR_METADATA</a:t>
            </a:r>
          </a:p>
          <a:p>
            <a:pPr algn="l">
              <a:spcBef>
                <a:spcPts val="0"/>
              </a:spcBef>
              <a:spcAft>
                <a:spcPts val="100"/>
              </a:spcAft>
            </a:pPr>
            <a:r>
              <a:rPr sz="1100" b="0" i="0">
                <a:solidFill>
                  <a:srgbClr val="6A8AB0"/>
                </a:solidFill>
                <a:latin typeface="Calibri"/>
              </a:rPr>
              <a:t>  PROCESSING (active)</a:t>
            </a:r>
          </a:p>
          <a:p>
            <a:pPr algn="l">
              <a:spcBef>
                <a:spcPts val="0"/>
              </a:spcBef>
              <a:spcAft>
                <a:spcPts val="100"/>
              </a:spcAft>
            </a:pPr>
            <a:r>
              <a:rPr sz="1100" b="0" i="0">
                <a:solidFill>
                  <a:srgbClr val="6A8AB0"/>
                </a:solidFill>
                <a:latin typeface="Calibri"/>
              </a:rPr>
              <a:t>  READY  (success)</a:t>
            </a:r>
          </a:p>
          <a:p>
            <a:pPr algn="l">
              <a:spcBef>
                <a:spcPts val="0"/>
              </a:spcBef>
              <a:spcAft>
                <a:spcPts val="100"/>
              </a:spcAft>
            </a:pPr>
            <a:r>
              <a:rPr sz="1100" b="0" i="0">
                <a:solidFill>
                  <a:srgbClr val="6A8AB0"/>
                </a:solidFill>
                <a:latin typeface="Calibri"/>
              </a:rPr>
              <a:t>  ERROR  (failed)</a:t>
            </a:r>
          </a:p>
          <a:p>
            <a:pPr algn="l">
              <a:spcBef>
                <a:spcPts val="0"/>
              </a:spcBef>
              <a:spcAft>
                <a:spcPts val="100"/>
              </a:spcAft>
            </a:pPr>
            <a:r>
              <a:rPr sz="1100" b="0" i="0">
                <a:solidFill>
                  <a:srgbClr val="6A8AB0"/>
                </a:solidFill>
                <a:latin typeface="Calibri"/>
              </a:rPr>
              <a:t>  TOTAL  (all statuses)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Success rate</a:t>
            </a:r>
          </a:p>
          <a:p>
            <a:pPr algn="l">
              <a:spcBef>
                <a:spcPts val="0"/>
              </a:spcBef>
              <a:spcAft>
                <a:spcPts val="100"/>
              </a:spcAft>
            </a:pPr>
            <a:r>
              <a:rPr sz="1100" b="0" i="0">
                <a:solidFill>
                  <a:srgbClr val="6A8AB0"/>
                </a:solidFill>
                <a:latin typeface="Calibri"/>
              </a:rPr>
              <a:t>  = ready / (ready+error)</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Avg completion seconds</a:t>
            </a:r>
          </a:p>
          <a:p>
            <a:pPr algn="l">
              <a:spcBef>
                <a:spcPts val="0"/>
              </a:spcBef>
              <a:spcAft>
                <a:spcPts val="100"/>
              </a:spcAft>
            </a:pPr>
            <a:r>
              <a:rPr sz="1100" b="0" i="0">
                <a:solidFill>
                  <a:srgbClr val="6A8AB0"/>
                </a:solidFill>
                <a:latin typeface="Calibri"/>
              </a:rPr>
              <a:t>  (READY + ERROR jobs)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Top 5 error messages</a:t>
            </a:r>
          </a:p>
        </p:txBody>
      </p:sp>
      <p:sp>
        <p:nvSpPr>
          <p:cNvPr id="11" name="Rectangle 10"/>
          <p:cNvSpPr/>
          <p:nvPr/>
        </p:nvSpPr>
        <p:spPr>
          <a:xfrm>
            <a:off x="6368732" y="1627632"/>
            <a:ext cx="2910046" cy="4956048"/>
          </a:xfrm>
          <a:prstGeom prst="rect">
            <a:avLst/>
          </a:prstGeom>
          <a:solidFill>
            <a:srgbClr val="0D1B38"/>
          </a:solidFill>
          <a:ln w="2286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10B981"/>
                </a:solidFill>
                <a:latin typeface="Calibri"/>
              </a:rPr>
              <a:t>RAG  RAG Quality Metrics</a:t>
            </a:r>
          </a:p>
        </p:txBody>
      </p:sp>
      <p:sp>
        <p:nvSpPr>
          <p:cNvPr id="12" name="Rectangle 11"/>
          <p:cNvSpPr/>
          <p:nvPr/>
        </p:nvSpPr>
        <p:spPr>
          <a:xfrm>
            <a:off x="6441884" y="2029968"/>
            <a:ext cx="2763742" cy="128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1884" y="2066543"/>
            <a:ext cx="2763742"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Total Q&amp;A turns in window</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Quality distribution:</a:t>
            </a:r>
          </a:p>
          <a:p>
            <a:pPr algn="l">
              <a:spcBef>
                <a:spcPts val="0"/>
              </a:spcBef>
              <a:spcAft>
                <a:spcPts val="100"/>
              </a:spcAft>
            </a:pPr>
            <a:r>
              <a:rPr sz="1100" b="0" i="0">
                <a:solidFill>
                  <a:srgbClr val="6A8AB0"/>
                </a:solidFill>
                <a:latin typeface="Calibri"/>
              </a:rPr>
              <a:t>  HIGH  quality responses</a:t>
            </a:r>
          </a:p>
          <a:p>
            <a:pPr algn="l">
              <a:spcBef>
                <a:spcPts val="0"/>
              </a:spcBef>
              <a:spcAft>
                <a:spcPts val="100"/>
              </a:spcAft>
            </a:pPr>
            <a:r>
              <a:rPr sz="1100" b="0" i="0">
                <a:solidFill>
                  <a:srgbClr val="6A8AB0"/>
                </a:solidFill>
                <a:latin typeface="Calibri"/>
              </a:rPr>
              <a:t>  MEDIUM quality</a:t>
            </a:r>
          </a:p>
          <a:p>
            <a:pPr algn="l">
              <a:spcBef>
                <a:spcPts val="0"/>
              </a:spcBef>
              <a:spcAft>
                <a:spcPts val="100"/>
              </a:spcAft>
            </a:pPr>
            <a:r>
              <a:rPr sz="1100" b="0" i="0">
                <a:solidFill>
                  <a:srgbClr val="6A8AB0"/>
                </a:solidFill>
                <a:latin typeface="Calibri"/>
              </a:rPr>
              <a:t>  LOW   quality</a:t>
            </a:r>
          </a:p>
          <a:p>
            <a:pPr algn="l">
              <a:spcBef>
                <a:spcPts val="0"/>
              </a:spcBef>
              <a:spcAft>
                <a:spcPts val="100"/>
              </a:spcAft>
            </a:pPr>
            <a:r>
              <a:rPr sz="1100" b="0" i="0">
                <a:solidFill>
                  <a:srgbClr val="6A8AB0"/>
                </a:solidFill>
                <a:latin typeface="Calibri"/>
              </a:rPr>
              <a:t>  UNKNOWN (unscored)</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Cache hit rate</a:t>
            </a:r>
          </a:p>
          <a:p>
            <a:pPr algn="l">
              <a:spcBef>
                <a:spcPts val="0"/>
              </a:spcBef>
              <a:spcAft>
                <a:spcPts val="100"/>
              </a:spcAft>
            </a:pPr>
            <a:r>
              <a:rPr sz="1100" b="0" i="0">
                <a:solidFill>
                  <a:srgbClr val="6A8AB0"/>
                </a:solidFill>
                <a:latin typeface="Calibri"/>
              </a:rPr>
              <a:t>  (Redis semantic cache)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Avg latency  (ms)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Worst 5 docs by</a:t>
            </a:r>
          </a:p>
          <a:p>
            <a:pPr algn="l">
              <a:spcBef>
                <a:spcPts val="0"/>
              </a:spcBef>
              <a:spcAft>
                <a:spcPts val="100"/>
              </a:spcAft>
            </a:pPr>
            <a:r>
              <a:rPr sz="1100" b="0" i="0">
                <a:solidFill>
                  <a:srgbClr val="6A8AB0"/>
                </a:solidFill>
                <a:latin typeface="Calibri"/>
              </a:rPr>
              <a:t>  low-quality rate</a:t>
            </a:r>
          </a:p>
        </p:txBody>
      </p:sp>
      <p:sp>
        <p:nvSpPr>
          <p:cNvPr id="14" name="Rectangle 13"/>
          <p:cNvSpPr/>
          <p:nvPr/>
        </p:nvSpPr>
        <p:spPr>
          <a:xfrm>
            <a:off x="9461658" y="1627632"/>
            <a:ext cx="2910046" cy="4956048"/>
          </a:xfrm>
          <a:prstGeom prst="rect">
            <a:avLst/>
          </a:prstGeom>
          <a:solidFill>
            <a:srgbClr val="0D1B38"/>
          </a:solidFill>
          <a:ln w="2286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8B5CF6"/>
                </a:solidFill>
                <a:latin typeface="Calibri"/>
              </a:rPr>
              <a:t>FB  User Feedback</a:t>
            </a:r>
          </a:p>
        </p:txBody>
      </p:sp>
      <p:sp>
        <p:nvSpPr>
          <p:cNvPr id="15" name="Rectangle 14"/>
          <p:cNvSpPr/>
          <p:nvPr/>
        </p:nvSpPr>
        <p:spPr>
          <a:xfrm>
            <a:off x="9534810" y="2029968"/>
            <a:ext cx="2763742" cy="12801"/>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34810" y="2066543"/>
            <a:ext cx="2763742"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Total feedback events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POSITIVE labels:</a:t>
            </a:r>
          </a:p>
          <a:p>
            <a:pPr algn="l">
              <a:spcBef>
                <a:spcPts val="0"/>
              </a:spcBef>
              <a:spcAft>
                <a:spcPts val="100"/>
              </a:spcAft>
            </a:pPr>
            <a:r>
              <a:rPr sz="1100" b="0" i="0">
                <a:solidFill>
                  <a:srgbClr val="6A8AB0"/>
                </a:solidFill>
                <a:latin typeface="Calibri"/>
              </a:rPr>
              <a:t>  correct / helpful</a:t>
            </a:r>
          </a:p>
          <a:p>
            <a:pPr algn="l">
              <a:spcBef>
                <a:spcPts val="0"/>
              </a:spcBef>
              <a:spcAft>
                <a:spcPts val="100"/>
              </a:spcAft>
            </a:pPr>
            <a:r>
              <a:rPr sz="1100" b="0" i="0">
                <a:solidFill>
                  <a:srgbClr val="6A8AB0"/>
                </a:solidFill>
                <a:latin typeface="Calibri"/>
              </a:rPr>
              <a:t>  thumbs_up</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NEGATIVE labels:</a:t>
            </a:r>
          </a:p>
          <a:p>
            <a:pPr algn="l">
              <a:spcBef>
                <a:spcPts val="0"/>
              </a:spcBef>
              <a:spcAft>
                <a:spcPts val="100"/>
              </a:spcAft>
            </a:pPr>
            <a:r>
              <a:rPr sz="1100" b="0" i="0">
                <a:solidFill>
                  <a:srgbClr val="6A8AB0"/>
                </a:solidFill>
                <a:latin typeface="Calibri"/>
              </a:rPr>
              <a:t>  incorrect</a:t>
            </a:r>
          </a:p>
          <a:p>
            <a:pPr algn="l">
              <a:spcBef>
                <a:spcPts val="0"/>
              </a:spcBef>
              <a:spcAft>
                <a:spcPts val="100"/>
              </a:spcAft>
            </a:pPr>
            <a:r>
              <a:rPr sz="1100" b="0" i="0">
                <a:solidFill>
                  <a:srgbClr val="6A8AB0"/>
                </a:solidFill>
                <a:latin typeface="Calibri"/>
              </a:rPr>
              <a:t>  hallucination</a:t>
            </a:r>
          </a:p>
          <a:p>
            <a:pPr algn="l">
              <a:spcBef>
                <a:spcPts val="0"/>
              </a:spcBef>
              <a:spcAft>
                <a:spcPts val="100"/>
              </a:spcAft>
            </a:pPr>
            <a:r>
              <a:rPr sz="1100" b="0" i="0">
                <a:solidFill>
                  <a:srgbClr val="6A8AB0"/>
                </a:solidFill>
                <a:latin typeface="Calibri"/>
              </a:rPr>
              <a:t>  missing_context</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Average feedback score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Label distribution</a:t>
            </a:r>
          </a:p>
          <a:p>
            <a:pPr algn="l">
              <a:spcBef>
                <a:spcPts val="0"/>
              </a:spcBef>
              <a:spcAft>
                <a:spcPts val="100"/>
              </a:spcAft>
            </a:pPr>
            <a:r>
              <a:rPr sz="1100" b="0" i="0">
                <a:solidFill>
                  <a:srgbClr val="6A8AB0"/>
                </a:solidFill>
                <a:latin typeface="Calibri"/>
              </a:rPr>
              <a:t>  (top 8 labels ranked)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50A18"/>
        </a:solidFill>
        <a:effectLst/>
      </p:bgPr>
    </p:bg>
    <p:spTree>
      <p:nvGrpSpPr>
        <p:cNvPr id="1" name=""/>
        <p:cNvGrpSpPr/>
        <p:nvPr/>
      </p:nvGrpSpPr>
      <p:grpSpPr/>
      <p:sp>
        <p:nvSpPr>
          <p:cNvPr id="2" name="Rectangle 1"/>
          <p:cNvSpPr/>
          <p:nvPr/>
        </p:nvSpPr>
        <p:spPr>
          <a:xfrm>
            <a:off x="164592" y="512064"/>
            <a:ext cx="10214149" cy="713232"/>
          </a:xfrm>
          <a:prstGeom prst="rect">
            <a:avLst/>
          </a:prstGeom>
          <a:solidFill>
            <a:srgbClr val="1E4A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77800" tIns="127000" bIns="50800" wrap="square"/>
          <a:lstStyle/>
          <a:p>
            <a:pPr algn="l">
              <a:spcBef>
                <a:spcPts val="0"/>
              </a:spcBef>
              <a:spcAft>
                <a:spcPts val="0"/>
              </a:spcAft>
            </a:pPr>
            <a:r>
              <a:rPr sz="2200" b="1" i="0">
                <a:solidFill>
                  <a:srgbClr val="FFFFFF"/>
                </a:solidFill>
                <a:latin typeface="Calibri"/>
              </a:rPr>
              <a:t>Upload Job Inspector &amp; Preprocessing Preview</a:t>
            </a:r>
          </a:p>
        </p:txBody>
      </p:sp>
      <p:sp>
        <p:nvSpPr>
          <p:cNvPr id="3" name="Rectangle 2"/>
          <p:cNvSpPr/>
          <p:nvPr/>
        </p:nvSpPr>
        <p:spPr>
          <a:xfrm>
            <a:off x="10397029" y="512064"/>
            <a:ext cx="1645491" cy="713232"/>
          </a:xfrm>
          <a:prstGeom prst="rect">
            <a:avLst/>
          </a:prstGeom>
          <a:solidFill>
            <a:srgbClr val="0A142E"/>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tIns="101600" lIns="76200"/>
          <a:lstStyle/>
          <a:p>
            <a:pPr algn="ctr">
              <a:spcBef>
                <a:spcPts val="0"/>
              </a:spcBef>
              <a:spcAft>
                <a:spcPts val="0"/>
              </a:spcAft>
            </a:pPr>
            <a:r>
              <a:rPr sz="1500" b="1" i="0">
                <a:solidFill>
                  <a:srgbClr val="FFFFFF"/>
                </a:solidFill>
                <a:latin typeface="Calibri"/>
              </a:rPr>
              <a:t>  KAVIN</a:t>
            </a:r>
          </a:p>
          <a:p>
            <a:pPr algn="ctr">
              <a:spcBef>
                <a:spcPts val="0"/>
              </a:spcBef>
              <a:spcAft>
                <a:spcPts val="0"/>
              </a:spcAft>
            </a:pPr>
            <a:r>
              <a:rPr sz="900" b="0" i="0">
                <a:solidFill>
                  <a:srgbClr val="93C5FD"/>
                </a:solidFill>
                <a:latin typeface="Calibri"/>
              </a:rPr>
              <a:t>Developer Tools</a:t>
            </a:r>
          </a:p>
        </p:txBody>
      </p:sp>
      <p:sp>
        <p:nvSpPr>
          <p:cNvPr id="4" name="TextBox 3"/>
          <p:cNvSpPr txBox="1"/>
          <p:nvPr/>
        </p:nvSpPr>
        <p:spPr>
          <a:xfrm>
            <a:off x="164592" y="1280160"/>
            <a:ext cx="11859641" cy="292608"/>
          </a:xfrm>
          <a:prstGeom prst="rect">
            <a:avLst/>
          </a:prstGeom>
          <a:noFill/>
        </p:spPr>
        <p:txBody>
          <a:bodyPr wrap="square" lIns="50800" tIns="0">
            <a:spAutoFit/>
          </a:bodyPr>
          <a:lstStyle/>
          <a:p>
            <a:pPr algn="l">
              <a:spcBef>
                <a:spcPts val="0"/>
              </a:spcBef>
              <a:spcAft>
                <a:spcPts val="0"/>
              </a:spcAft>
            </a:pPr>
            <a:r>
              <a:rPr sz="1100" b="0" i="1">
                <a:solidFill>
                  <a:srgbClr val="93C5FD"/>
                </a:solidFill>
                <a:latin typeface="Calibri"/>
              </a:rPr>
              <a:t>GET /devtools/uploads/recent  |  Last N ingestion jobs with full metadata, artifact links and preview flags</a:t>
            </a:r>
          </a:p>
        </p:txBody>
      </p:sp>
      <p:sp>
        <p:nvSpPr>
          <p:cNvPr id="5" name="Rectangle 4"/>
          <p:cNvSpPr/>
          <p:nvPr/>
        </p:nvSpPr>
        <p:spPr>
          <a:xfrm>
            <a:off x="182880" y="1627632"/>
            <a:ext cx="5820092" cy="4956048"/>
          </a:xfrm>
          <a:prstGeom prst="rect">
            <a:avLst/>
          </a:prstGeom>
          <a:solidFill>
            <a:srgbClr val="0D1B38"/>
          </a:solidFill>
          <a:ln w="228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3B82F6"/>
                </a:solidFill>
                <a:latin typeface="Calibri"/>
              </a:rPr>
              <a:t>JOB  Job Record Fields</a:t>
            </a:r>
          </a:p>
        </p:txBody>
      </p:sp>
      <p:sp>
        <p:nvSpPr>
          <p:cNvPr id="6" name="Rectangle 5"/>
          <p:cNvSpPr/>
          <p:nvPr/>
        </p:nvSpPr>
        <p:spPr>
          <a:xfrm>
            <a:off x="256032" y="2029968"/>
            <a:ext cx="5673788" cy="1280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2066543"/>
            <a:ext cx="5673788"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job_id          unique Celery task UUID</a:t>
            </a:r>
          </a:p>
          <a:p>
            <a:pPr algn="l">
              <a:spcBef>
                <a:spcPts val="0"/>
              </a:spcBef>
              <a:spcAft>
                <a:spcPts val="100"/>
              </a:spcAft>
            </a:pPr>
            <a:r>
              <a:rPr sz="1200" b="0" i="0">
                <a:solidFill>
                  <a:srgbClr val="D8E8F8"/>
                </a:solidFill>
                <a:latin typeface="Calibri"/>
              </a:rPr>
              <a:t>session_id      originating chat session</a:t>
            </a:r>
          </a:p>
          <a:p>
            <a:pPr algn="l">
              <a:spcBef>
                <a:spcPts val="0"/>
              </a:spcBef>
              <a:spcAft>
                <a:spcPts val="100"/>
              </a:spcAft>
            </a:pPr>
            <a:r>
              <a:rPr sz="1200" b="0" i="0">
                <a:solidFill>
                  <a:srgbClr val="D8E8F8"/>
                </a:solidFill>
                <a:latin typeface="Calibri"/>
              </a:rPr>
              <a:t>status          PROCESSING / READY / ERROR</a:t>
            </a:r>
          </a:p>
          <a:p>
            <a:pPr algn="l">
              <a:spcBef>
                <a:spcPts val="0"/>
              </a:spcBef>
              <a:spcAft>
                <a:spcPts val="100"/>
              </a:spcAft>
            </a:pPr>
            <a:r>
              <a:rPr sz="1200" b="0" i="0">
                <a:solidFill>
                  <a:srgbClr val="D8E8F8"/>
                </a:solidFill>
                <a:latin typeface="Calibri"/>
              </a:rPr>
              <a:t>progress        0-100 integer percentage</a:t>
            </a:r>
          </a:p>
          <a:p>
            <a:pPr algn="l">
              <a:spcBef>
                <a:spcPts val="0"/>
              </a:spcBef>
              <a:spcAft>
                <a:spcPts val="100"/>
              </a:spcAft>
            </a:pPr>
            <a:r>
              <a:rPr sz="1200" b="0" i="0">
                <a:solidFill>
                  <a:srgbClr val="D8E8F8"/>
                </a:solidFill>
                <a:latin typeface="Calibri"/>
              </a:rPr>
              <a:t>progress_label  human-readable stage name</a:t>
            </a:r>
          </a:p>
          <a:p>
            <a:pPr algn="l">
              <a:spcBef>
                <a:spcPts val="0"/>
              </a:spcBef>
              <a:spcAft>
                <a:spcPts val="100"/>
              </a:spcAft>
            </a:pPr>
            <a:r>
              <a:rPr sz="1200" b="0" i="0">
                <a:solidFill>
                  <a:srgbClr val="D8E8F8"/>
                </a:solidFill>
                <a:latin typeface="Calibri"/>
              </a:rPr>
              <a:t>error           last error message if any</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company_document_id  doc reference code</a:t>
            </a:r>
          </a:p>
          <a:p>
            <a:pPr algn="l">
              <a:spcBef>
                <a:spcPts val="0"/>
              </a:spcBef>
              <a:spcAft>
                <a:spcPts val="100"/>
              </a:spcAft>
            </a:pPr>
            <a:r>
              <a:rPr sz="1200" b="0" i="0">
                <a:solidFill>
                  <a:srgbClr val="D8E8F8"/>
                </a:solidFill>
                <a:latin typeface="Calibri"/>
              </a:rPr>
              <a:t>revision_number       doc version tag</a:t>
            </a:r>
          </a:p>
          <a:p>
            <a:pPr algn="l">
              <a:spcBef>
                <a:spcPts val="0"/>
              </a:spcBef>
              <a:spcAft>
                <a:spcPts val="100"/>
              </a:spcAft>
            </a:pPr>
            <a:r>
              <a:rPr sz="1200" b="0" i="0">
                <a:solidFill>
                  <a:srgbClr val="D8E8F8"/>
                </a:solidFill>
                <a:latin typeface="Calibri"/>
              </a:rPr>
              <a:t>source_file           original filename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rag_preprocessor   pypdf / pymupdf / unstructured</a:t>
            </a:r>
          </a:p>
          <a:p>
            <a:pPr algn="l">
              <a:spcBef>
                <a:spcPts val="0"/>
              </a:spcBef>
              <a:spcAft>
                <a:spcPts val="100"/>
              </a:spcAft>
            </a:pPr>
            <a:r>
              <a:rPr sz="1200" b="0" i="0">
                <a:solidFill>
                  <a:srgbClr val="D8E8F8"/>
                </a:solidFill>
                <a:latin typeface="Calibri"/>
              </a:rPr>
              <a:t>rag_ingest_mode   fast / balanced / hi_fi</a:t>
            </a:r>
          </a:p>
          <a:p>
            <a:pPr algn="l">
              <a:spcBef>
                <a:spcPts val="0"/>
              </a:spcBef>
              <a:spcAft>
                <a:spcPts val="100"/>
              </a:spcAft>
            </a:pPr>
            <a:r>
              <a:rPr sz="1200" b="0" i="0">
                <a:solidFill>
                  <a:srgbClr val="D8E8F8"/>
                </a:solidFill>
                <a:latin typeface="Calibri"/>
              </a:rPr>
              <a:t>rag_collection_name  PGVector collection used</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created_at / updated_at  timestamps</a:t>
            </a:r>
          </a:p>
        </p:txBody>
      </p:sp>
      <p:sp>
        <p:nvSpPr>
          <p:cNvPr id="8" name="Rectangle 7"/>
          <p:cNvSpPr/>
          <p:nvPr/>
        </p:nvSpPr>
        <p:spPr>
          <a:xfrm>
            <a:off x="6185852" y="1627632"/>
            <a:ext cx="5820092" cy="4956048"/>
          </a:xfrm>
          <a:prstGeom prst="rect">
            <a:avLst/>
          </a:prstGeom>
          <a:solidFill>
            <a:srgbClr val="0D1B38"/>
          </a:solidFill>
          <a:ln w="2286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10B981"/>
                </a:solidFill>
                <a:latin typeface="Calibri"/>
              </a:rPr>
              <a:t>PRV  Preview &amp; Artifact Flags</a:t>
            </a:r>
          </a:p>
        </p:txBody>
      </p:sp>
      <p:sp>
        <p:nvSpPr>
          <p:cNvPr id="9" name="Rectangle 8"/>
          <p:cNvSpPr/>
          <p:nvPr/>
        </p:nvSpPr>
        <p:spPr>
          <a:xfrm>
            <a:off x="6259004" y="2029968"/>
            <a:ext cx="5673788" cy="128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9004" y="2066543"/>
            <a:ext cx="5673788"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preview_available</a:t>
            </a:r>
          </a:p>
          <a:p>
            <a:pPr algn="l">
              <a:spcBef>
                <a:spcPts val="0"/>
              </a:spcBef>
              <a:spcAft>
                <a:spcPts val="100"/>
              </a:spcAft>
            </a:pPr>
            <a:r>
              <a:rPr sz="1100" b="0" i="0">
                <a:solidFill>
                  <a:srgbClr val="6A8AB0"/>
                </a:solidFill>
                <a:latin typeface="Calibri"/>
              </a:rPr>
              <a:t>  True if PDF or cached artifacts exist</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artifact_only_preview</a:t>
            </a:r>
          </a:p>
          <a:p>
            <a:pPr algn="l">
              <a:spcBef>
                <a:spcPts val="0"/>
              </a:spcBef>
              <a:spcAft>
                <a:spcPts val="100"/>
              </a:spcAft>
            </a:pPr>
            <a:r>
              <a:rPr sz="1100" b="0" i="0">
                <a:solidFill>
                  <a:srgbClr val="6A8AB0"/>
                </a:solidFill>
                <a:latin typeface="Calibri"/>
              </a:rPr>
              <a:t>  PDF gone but cached JSON artifacts remain</a:t>
            </a:r>
          </a:p>
          <a:p>
            <a:pPr algn="l">
              <a:spcBef>
                <a:spcPts val="0"/>
              </a:spcBef>
              <a:spcAft>
                <a:spcPts val="100"/>
              </a:spcAft>
            </a:pPr>
            <a:r>
              <a:rPr sz="1100" b="0" i="0">
                <a:solidFill>
                  <a:srgbClr val="6A8AB0"/>
                </a:solidFill>
                <a:latin typeface="Calibri"/>
              </a:rPr>
              <a:t>  Artifacts: raw_elements.json</a:t>
            </a:r>
          </a:p>
          <a:p>
            <a:pPr algn="l">
              <a:spcBef>
                <a:spcPts val="0"/>
              </a:spcBef>
              <a:spcAft>
                <a:spcPts val="100"/>
              </a:spcAft>
            </a:pPr>
            <a:r>
              <a:rPr sz="1100" b="0" i="0">
                <a:solidFill>
                  <a:srgbClr val="6A8AB0"/>
                </a:solidFill>
                <a:latin typeface="Calibri"/>
              </a:rPr>
              <a:t>             filtered_elements.json</a:t>
            </a:r>
          </a:p>
          <a:p>
            <a:pPr algn="l">
              <a:spcBef>
                <a:spcPts val="0"/>
              </a:spcBef>
              <a:spcAft>
                <a:spcPts val="100"/>
              </a:spcAft>
            </a:pPr>
            <a:r>
              <a:rPr sz="1100" b="0" i="0">
                <a:solidFill>
                  <a:srgbClr val="6A8AB0"/>
                </a:solidFill>
                <a:latin typeface="Calibri"/>
              </a:rPr>
              <a:t>             removed_elements.json</a:t>
            </a:r>
          </a:p>
          <a:p>
            <a:pPr algn="l">
              <a:spcBef>
                <a:spcPts val="0"/>
              </a:spcBef>
              <a:spcAft>
                <a:spcPts val="100"/>
              </a:spcAft>
            </a:pPr>
            <a:r>
              <a:rPr sz="1100" b="0" i="0">
                <a:solidFill>
                  <a:srgbClr val="6A8AB0"/>
                </a:solidFill>
                <a:latin typeface="Calibri"/>
              </a:rPr>
              <a:t>             filter_report.json</a:t>
            </a:r>
          </a:p>
          <a:p>
            <a:pPr algn="l">
              <a:spcBef>
                <a:spcPts val="0"/>
              </a:spcBef>
              <a:spcAft>
                <a:spcPts val="100"/>
              </a:spcAft>
            </a:pPr>
            <a:r>
              <a:rPr sz="1100" b="0" i="0">
                <a:solidFill>
                  <a:srgbClr val="6A8AB0"/>
                </a:solidFill>
                <a:latin typeface="Calibri"/>
              </a:rPr>
              <a:t>             chunks.json</a:t>
            </a:r>
          </a:p>
          <a:p>
            <a:pPr algn="l">
              <a:spcBef>
                <a:spcPts val="0"/>
              </a:spcBef>
              <a:spcAft>
                <a:spcPts val="100"/>
              </a:spcAft>
            </a:pPr>
            <a:r>
              <a:rPr sz="1100" b="0" i="0">
                <a:solidFill>
                  <a:srgbClr val="6A8AB0"/>
                </a:solidFill>
                <a:latin typeface="Calibri"/>
              </a:rPr>
              <a:t>             enriched_chunks.json</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segregation_summary</a:t>
            </a:r>
          </a:p>
          <a:p>
            <a:pPr algn="l">
              <a:spcBef>
                <a:spcPts val="0"/>
              </a:spcBef>
              <a:spcAft>
                <a:spcPts val="100"/>
              </a:spcAft>
            </a:pPr>
            <a:r>
              <a:rPr sz="1100" b="0" i="0">
                <a:solidFill>
                  <a:srgbClr val="6A8AB0"/>
                </a:solidFill>
                <a:latin typeface="Calibri"/>
              </a:rPr>
              <a:t>  element_groups from filter_report.json</a:t>
            </a:r>
          </a:p>
          <a:p>
            <a:pPr algn="l">
              <a:spcBef>
                <a:spcPts val="0"/>
              </a:spcBef>
              <a:spcAft>
                <a:spcPts val="100"/>
              </a:spcAft>
            </a:pPr>
            <a:r>
              <a:rPr sz="1100" b="0" i="0">
                <a:solidFill>
                  <a:srgbClr val="6A8AB0"/>
                </a:solidFill>
                <a:latin typeface="Calibri"/>
              </a:rPr>
              <a:t>  Breakdown: text / table / image blocks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missing_fields</a:t>
            </a:r>
          </a:p>
          <a:p>
            <a:pPr algn="l">
              <a:spcBef>
                <a:spcPts val="0"/>
              </a:spcBef>
              <a:spcAft>
                <a:spcPts val="100"/>
              </a:spcAft>
            </a:pPr>
            <a:r>
              <a:rPr sz="1100" b="0" i="0">
                <a:solidFill>
                  <a:srgbClr val="6A8AB0"/>
                </a:solidFill>
                <a:latin typeface="Calibri"/>
              </a:rPr>
              <a:t>  List of required metadata not yet provided</a:t>
            </a:r>
          </a:p>
          <a:p>
            <a:pPr algn="l">
              <a:spcBef>
                <a:spcPts val="0"/>
              </a:spcBef>
              <a:spcAft>
                <a:spcPts val="100"/>
              </a:spcAft>
            </a:pPr>
            <a:r>
              <a:rPr sz="1100" b="0" i="0">
                <a:solidFill>
                  <a:srgbClr val="6A8AB0"/>
                </a:solidFill>
                <a:latin typeface="Calibri"/>
              </a:rPr>
              <a:t>  (WAIT_FOR_METADATA status trigger)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50A18"/>
        </a:solidFill>
        <a:effectLst/>
      </p:bgPr>
    </p:bg>
    <p:spTree>
      <p:nvGrpSpPr>
        <p:cNvPr id="1" name=""/>
        <p:cNvGrpSpPr/>
        <p:nvPr/>
      </p:nvGrpSpPr>
      <p:grpSpPr/>
      <p:sp>
        <p:nvSpPr>
          <p:cNvPr id="2" name="Rectangle 1"/>
          <p:cNvSpPr/>
          <p:nvPr/>
        </p:nvSpPr>
        <p:spPr>
          <a:xfrm>
            <a:off x="164592" y="512064"/>
            <a:ext cx="10214149" cy="713232"/>
          </a:xfrm>
          <a:prstGeom prst="rect">
            <a:avLst/>
          </a:prstGeom>
          <a:solidFill>
            <a:srgbClr val="1E4A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77800" tIns="127000" bIns="50800" wrap="square"/>
          <a:lstStyle/>
          <a:p>
            <a:pPr algn="l">
              <a:spcBef>
                <a:spcPts val="0"/>
              </a:spcBef>
              <a:spcAft>
                <a:spcPts val="0"/>
              </a:spcAft>
            </a:pPr>
            <a:r>
              <a:rPr sz="2200" b="1" i="0">
                <a:solidFill>
                  <a:srgbClr val="FFFFFF"/>
                </a:solidFill>
                <a:latin typeface="Calibri"/>
              </a:rPr>
              <a:t>User Management &amp; Resource Provisioning</a:t>
            </a:r>
          </a:p>
        </p:txBody>
      </p:sp>
      <p:sp>
        <p:nvSpPr>
          <p:cNvPr id="3" name="Rectangle 2"/>
          <p:cNvSpPr/>
          <p:nvPr/>
        </p:nvSpPr>
        <p:spPr>
          <a:xfrm>
            <a:off x="10397029" y="512064"/>
            <a:ext cx="1645491" cy="713232"/>
          </a:xfrm>
          <a:prstGeom prst="rect">
            <a:avLst/>
          </a:prstGeom>
          <a:solidFill>
            <a:srgbClr val="0A142E"/>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tIns="101600" lIns="76200"/>
          <a:lstStyle/>
          <a:p>
            <a:pPr algn="ctr">
              <a:spcBef>
                <a:spcPts val="0"/>
              </a:spcBef>
              <a:spcAft>
                <a:spcPts val="0"/>
              </a:spcAft>
            </a:pPr>
            <a:r>
              <a:rPr sz="1500" b="1" i="0">
                <a:solidFill>
                  <a:srgbClr val="FFFFFF"/>
                </a:solidFill>
                <a:latin typeface="Calibri"/>
              </a:rPr>
              <a:t>  KAVIN</a:t>
            </a:r>
          </a:p>
          <a:p>
            <a:pPr algn="ctr">
              <a:spcBef>
                <a:spcPts val="0"/>
              </a:spcBef>
              <a:spcAft>
                <a:spcPts val="0"/>
              </a:spcAft>
            </a:pPr>
            <a:r>
              <a:rPr sz="900" b="0" i="0">
                <a:solidFill>
                  <a:srgbClr val="93C5FD"/>
                </a:solidFill>
                <a:latin typeface="Calibri"/>
              </a:rPr>
              <a:t>Developer Tools</a:t>
            </a:r>
          </a:p>
        </p:txBody>
      </p:sp>
      <p:sp>
        <p:nvSpPr>
          <p:cNvPr id="4" name="TextBox 3"/>
          <p:cNvSpPr txBox="1"/>
          <p:nvPr/>
        </p:nvSpPr>
        <p:spPr>
          <a:xfrm>
            <a:off x="164592" y="1280160"/>
            <a:ext cx="11859641" cy="292608"/>
          </a:xfrm>
          <a:prstGeom prst="rect">
            <a:avLst/>
          </a:prstGeom>
          <a:noFill/>
        </p:spPr>
        <p:txBody>
          <a:bodyPr wrap="square" lIns="50800" tIns="0">
            <a:spAutoFit/>
          </a:bodyPr>
          <a:lstStyle/>
          <a:p>
            <a:pPr algn="l">
              <a:spcBef>
                <a:spcPts val="0"/>
              </a:spcBef>
              <a:spcAft>
                <a:spcPts val="0"/>
              </a:spcAft>
            </a:pPr>
            <a:r>
              <a:rPr sz="1100" b="0" i="1">
                <a:solidFill>
                  <a:srgbClr val="93C5FD"/>
                </a:solidFill>
                <a:latin typeface="Calibri"/>
              </a:rPr>
              <a:t>Admin-only lifecycle management  |  Every user gets isolated PostgreSQL DB + MinIO bucket + Redis namespace</a:t>
            </a:r>
          </a:p>
        </p:txBody>
      </p:sp>
      <p:sp>
        <p:nvSpPr>
          <p:cNvPr id="5" name="Rectangle 4"/>
          <p:cNvSpPr/>
          <p:nvPr/>
        </p:nvSpPr>
        <p:spPr>
          <a:xfrm>
            <a:off x="182880" y="1627632"/>
            <a:ext cx="3880061" cy="4956048"/>
          </a:xfrm>
          <a:prstGeom prst="rect">
            <a:avLst/>
          </a:prstGeom>
          <a:solidFill>
            <a:srgbClr val="0D1B38"/>
          </a:solidFill>
          <a:ln w="228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3B82F6"/>
                </a:solidFill>
                <a:latin typeface="Calibri"/>
              </a:rPr>
              <a:t>NEW  Create User</a:t>
            </a:r>
          </a:p>
        </p:txBody>
      </p:sp>
      <p:sp>
        <p:nvSpPr>
          <p:cNvPr id="6" name="Rectangle 5"/>
          <p:cNvSpPr/>
          <p:nvPr/>
        </p:nvSpPr>
        <p:spPr>
          <a:xfrm>
            <a:off x="256032" y="2029968"/>
            <a:ext cx="3733757" cy="1280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2066543"/>
            <a:ext cx="3733757"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POST /devtools/users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Payload fields:</a:t>
            </a:r>
          </a:p>
          <a:p>
            <a:pPr algn="l">
              <a:spcBef>
                <a:spcPts val="0"/>
              </a:spcBef>
              <a:spcAft>
                <a:spcPts val="100"/>
              </a:spcAft>
            </a:pPr>
            <a:r>
              <a:rPr sz="1100" b="0" i="0">
                <a:solidFill>
                  <a:srgbClr val="6A8AB0"/>
                </a:solidFill>
                <a:latin typeface="Calibri"/>
              </a:rPr>
              <a:t>  email        unique email address</a:t>
            </a:r>
          </a:p>
          <a:p>
            <a:pPr algn="l">
              <a:spcBef>
                <a:spcPts val="0"/>
              </a:spcBef>
              <a:spcAft>
                <a:spcPts val="100"/>
              </a:spcAft>
            </a:pPr>
            <a:r>
              <a:rPr sz="1100" b="0" i="0">
                <a:solidFill>
                  <a:srgbClr val="6A8AB0"/>
                </a:solidFill>
                <a:latin typeface="Calibri"/>
              </a:rPr>
              <a:t>  username     login handle</a:t>
            </a:r>
          </a:p>
          <a:p>
            <a:pPr algn="l">
              <a:spcBef>
                <a:spcPts val="0"/>
              </a:spcBef>
              <a:spcAft>
                <a:spcPts val="100"/>
              </a:spcAft>
            </a:pPr>
            <a:r>
              <a:rPr sz="1100" b="0" i="0">
                <a:solidFill>
                  <a:srgbClr val="6A8AB0"/>
                </a:solidFill>
                <a:latin typeface="Calibri"/>
              </a:rPr>
              <a:t>  password     plain text (hashed)</a:t>
            </a:r>
          </a:p>
          <a:p>
            <a:pPr algn="l">
              <a:spcBef>
                <a:spcPts val="0"/>
              </a:spcBef>
              <a:spcAft>
                <a:spcPts val="100"/>
              </a:spcAft>
            </a:pPr>
            <a:r>
              <a:rPr sz="1100" b="0" i="0">
                <a:solidFill>
                  <a:srgbClr val="6A8AB0"/>
                </a:solidFill>
                <a:latin typeface="Calibri"/>
              </a:rPr>
              <a:t>  role         user | admin</a:t>
            </a:r>
          </a:p>
          <a:p>
            <a:pPr algn="l">
              <a:spcBef>
                <a:spcPts val="0"/>
              </a:spcBef>
              <a:spcAft>
                <a:spcPts val="100"/>
              </a:spcAft>
            </a:pPr>
            <a:r>
              <a:rPr sz="1100" b="0" i="0">
                <a:solidFill>
                  <a:srgbClr val="6A8AB0"/>
                </a:solidFill>
                <a:latin typeface="Calibri"/>
              </a:rPr>
              <a:t>  pg_database  optional, auto-derived</a:t>
            </a:r>
          </a:p>
          <a:p>
            <a:pPr algn="l">
              <a:spcBef>
                <a:spcPts val="0"/>
              </a:spcBef>
              <a:spcAft>
                <a:spcPts val="100"/>
              </a:spcAft>
            </a:pPr>
            <a:r>
              <a:rPr sz="1100" b="0" i="0">
                <a:solidFill>
                  <a:srgbClr val="6A8AB0"/>
                </a:solidFill>
                <a:latin typeface="Calibri"/>
              </a:rPr>
              <a:t>  minio_bucket optional, auto-derived</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Auto-provisions:</a:t>
            </a:r>
          </a:p>
          <a:p>
            <a:pPr algn="l">
              <a:spcBef>
                <a:spcPts val="0"/>
              </a:spcBef>
              <a:spcAft>
                <a:spcPts val="100"/>
              </a:spcAft>
            </a:pPr>
            <a:r>
              <a:rPr sz="1100" b="0" i="0">
                <a:solidFill>
                  <a:srgbClr val="6A8AB0"/>
                </a:solidFill>
                <a:latin typeface="Calibri"/>
              </a:rPr>
              <a:t>  PostgreSQL DB  chat_ui_{username}</a:t>
            </a:r>
          </a:p>
          <a:p>
            <a:pPr algn="l">
              <a:spcBef>
                <a:spcPts val="0"/>
              </a:spcBef>
              <a:spcAft>
                <a:spcPts val="100"/>
              </a:spcAft>
            </a:pPr>
            <a:r>
              <a:rPr sz="1100" b="0" i="0">
                <a:solidFill>
                  <a:srgbClr val="6A8AB0"/>
                </a:solidFill>
                <a:latin typeface="Calibri"/>
              </a:rPr>
              <a:t>  MinIO bucket   chat-ui-{username}</a:t>
            </a:r>
          </a:p>
          <a:p>
            <a:pPr algn="l">
              <a:spcBef>
                <a:spcPts val="0"/>
              </a:spcBef>
              <a:spcAft>
                <a:spcPts val="100"/>
              </a:spcAft>
            </a:pPr>
            <a:r>
              <a:rPr sz="1100" b="0" i="0">
                <a:solidFill>
                  <a:srgbClr val="6A8AB0"/>
                </a:solidFill>
                <a:latin typeface="Calibri"/>
              </a:rPr>
              <a:t>  Redis namespace user:{username}: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Rollback: deletes user if provisioning fails</a:t>
            </a:r>
          </a:p>
        </p:txBody>
      </p:sp>
      <p:sp>
        <p:nvSpPr>
          <p:cNvPr id="8" name="Rectangle 7"/>
          <p:cNvSpPr/>
          <p:nvPr/>
        </p:nvSpPr>
        <p:spPr>
          <a:xfrm>
            <a:off x="4245821" y="1627632"/>
            <a:ext cx="3880061" cy="4956048"/>
          </a:xfrm>
          <a:prstGeom prst="rect">
            <a:avLst/>
          </a:prstGeom>
          <a:solidFill>
            <a:srgbClr val="0D1B38"/>
          </a:solidFill>
          <a:ln w="2286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8B5CF6"/>
                </a:solidFill>
                <a:latin typeface="Calibri"/>
              </a:rPr>
              <a:t>MGR  Manage Existing Users</a:t>
            </a:r>
          </a:p>
        </p:txBody>
      </p:sp>
      <p:sp>
        <p:nvSpPr>
          <p:cNvPr id="9" name="Rectangle 8"/>
          <p:cNvSpPr/>
          <p:nvPr/>
        </p:nvSpPr>
        <p:spPr>
          <a:xfrm>
            <a:off x="4318973" y="2029968"/>
            <a:ext cx="3733757" cy="12801"/>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18973" y="2066543"/>
            <a:ext cx="3733757"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GET /devtools/users</a:t>
            </a:r>
          </a:p>
          <a:p>
            <a:pPr algn="l">
              <a:spcBef>
                <a:spcPts val="0"/>
              </a:spcBef>
              <a:spcAft>
                <a:spcPts val="100"/>
              </a:spcAft>
            </a:pPr>
            <a:r>
              <a:rPr sz="1100" b="0" i="0">
                <a:solidFill>
                  <a:srgbClr val="6A8AB0"/>
                </a:solidFill>
                <a:latin typeface="Calibri"/>
              </a:rPr>
              <a:t>  List all registered users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PATCH /devtools/users/disable</a:t>
            </a:r>
          </a:p>
          <a:p>
            <a:pPr algn="l">
              <a:spcBef>
                <a:spcPts val="0"/>
              </a:spcBef>
              <a:spcAft>
                <a:spcPts val="100"/>
              </a:spcAft>
            </a:pPr>
            <a:r>
              <a:rPr sz="1100" b="0" i="0">
                <a:solidFill>
                  <a:srgbClr val="6A8AB0"/>
                </a:solidFill>
                <a:latin typeface="Calibri"/>
              </a:rPr>
              <a:t>  Enable or disable login</a:t>
            </a:r>
          </a:p>
          <a:p>
            <a:pPr algn="l">
              <a:spcBef>
                <a:spcPts val="0"/>
              </a:spcBef>
              <a:spcAft>
                <a:spcPts val="100"/>
              </a:spcAft>
            </a:pPr>
            <a:r>
              <a:rPr sz="1100" b="0" i="0">
                <a:solidFill>
                  <a:srgbClr val="6A8AB0"/>
                </a:solidFill>
                <a:latin typeface="Calibri"/>
              </a:rPr>
              <a:t>  Body: {identifier, disabled:bool}</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PATCH /devtools/users/password</a:t>
            </a:r>
          </a:p>
          <a:p>
            <a:pPr algn="l">
              <a:spcBef>
                <a:spcPts val="0"/>
              </a:spcBef>
              <a:spcAft>
                <a:spcPts val="100"/>
              </a:spcAft>
            </a:pPr>
            <a:r>
              <a:rPr sz="1100" b="0" i="0">
                <a:solidFill>
                  <a:srgbClr val="6A8AB0"/>
                </a:solidFill>
                <a:latin typeface="Calibri"/>
              </a:rPr>
              <a:t>  Admin reset (no old pwd needed)</a:t>
            </a:r>
          </a:p>
          <a:p>
            <a:pPr algn="l">
              <a:spcBef>
                <a:spcPts val="0"/>
              </a:spcBef>
              <a:spcAft>
                <a:spcPts val="100"/>
              </a:spcAft>
            </a:pPr>
            <a:r>
              <a:rPr sz="1100" b="0" i="0">
                <a:solidFill>
                  <a:srgbClr val="6A8AB0"/>
                </a:solidFill>
                <a:latin typeface="Calibri"/>
              </a:rPr>
              <a:t>  Body: {identifier, new_password}</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PATCH /devtools/users/role</a:t>
            </a:r>
          </a:p>
          <a:p>
            <a:pPr algn="l">
              <a:spcBef>
                <a:spcPts val="0"/>
              </a:spcBef>
              <a:spcAft>
                <a:spcPts val="100"/>
              </a:spcAft>
            </a:pPr>
            <a:r>
              <a:rPr sz="1100" b="0" i="0">
                <a:solidFill>
                  <a:srgbClr val="6A8AB0"/>
                </a:solidFill>
                <a:latin typeface="Calibri"/>
              </a:rPr>
              <a:t>  Promote / demote to admin</a:t>
            </a:r>
          </a:p>
          <a:p>
            <a:pPr algn="l">
              <a:spcBef>
                <a:spcPts val="0"/>
              </a:spcBef>
              <a:spcAft>
                <a:spcPts val="100"/>
              </a:spcAft>
            </a:pPr>
            <a:r>
              <a:rPr sz="1100" b="0" i="0">
                <a:solidFill>
                  <a:srgbClr val="6A8AB0"/>
                </a:solidFill>
                <a:latin typeface="Calibri"/>
              </a:rPr>
              <a:t>  Body: {identifier, role}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DELETE /devtools/users</a:t>
            </a:r>
          </a:p>
          <a:p>
            <a:pPr algn="l">
              <a:spcBef>
                <a:spcPts val="0"/>
              </a:spcBef>
              <a:spcAft>
                <a:spcPts val="100"/>
              </a:spcAft>
            </a:pPr>
            <a:r>
              <a:rPr sz="1200" b="0" i="0">
                <a:solidFill>
                  <a:srgbClr val="D8E8F8"/>
                </a:solidFill>
                <a:latin typeface="Calibri"/>
              </a:rPr>
              <a:t>POST   /devtools/users/delete</a:t>
            </a:r>
          </a:p>
          <a:p>
            <a:pPr algn="l">
              <a:spcBef>
                <a:spcPts val="0"/>
              </a:spcBef>
              <a:spcAft>
                <a:spcPts val="100"/>
              </a:spcAft>
            </a:pPr>
            <a:r>
              <a:rPr sz="1100" b="0" i="0">
                <a:solidFill>
                  <a:srgbClr val="6A8AB0"/>
                </a:solidFill>
                <a:latin typeface="Calibri"/>
              </a:rPr>
              <a:t>  Remove user record from auth store</a:t>
            </a:r>
          </a:p>
        </p:txBody>
      </p:sp>
      <p:sp>
        <p:nvSpPr>
          <p:cNvPr id="11" name="Rectangle 10"/>
          <p:cNvSpPr/>
          <p:nvPr/>
        </p:nvSpPr>
        <p:spPr>
          <a:xfrm>
            <a:off x="8308763" y="1627632"/>
            <a:ext cx="3880061" cy="4956048"/>
          </a:xfrm>
          <a:prstGeom prst="rect">
            <a:avLst/>
          </a:prstGeom>
          <a:solidFill>
            <a:srgbClr val="0D1B38"/>
          </a:solidFill>
          <a:ln w="2286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10B981"/>
                </a:solidFill>
                <a:latin typeface="Calibri"/>
              </a:rPr>
              <a:t>RES  Resource Provisioning Detail</a:t>
            </a:r>
          </a:p>
        </p:txBody>
      </p:sp>
      <p:sp>
        <p:nvSpPr>
          <p:cNvPr id="12" name="Rectangle 11"/>
          <p:cNvSpPr/>
          <p:nvPr/>
        </p:nvSpPr>
        <p:spPr>
          <a:xfrm>
            <a:off x="8381915" y="2029968"/>
            <a:ext cx="3733757" cy="128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1915" y="2066543"/>
            <a:ext cx="3733757"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PostgreSQL Database</a:t>
            </a:r>
          </a:p>
          <a:p>
            <a:pPr algn="l">
              <a:spcBef>
                <a:spcPts val="0"/>
              </a:spcBef>
              <a:spcAft>
                <a:spcPts val="100"/>
              </a:spcAft>
            </a:pPr>
            <a:r>
              <a:rPr sz="1100" b="0" i="0">
                <a:solidFill>
                  <a:srgbClr val="6A8AB0"/>
                </a:solidFill>
                <a:latin typeface="Calibri"/>
              </a:rPr>
              <a:t>  _ensure_postgres_database()</a:t>
            </a:r>
          </a:p>
          <a:p>
            <a:pPr algn="l">
              <a:spcBef>
                <a:spcPts val="0"/>
              </a:spcBef>
              <a:spcAft>
                <a:spcPts val="100"/>
              </a:spcAft>
            </a:pPr>
            <a:r>
              <a:rPr sz="1100" b="0" i="0">
                <a:solidFill>
                  <a:srgbClr val="6A8AB0"/>
                </a:solidFill>
                <a:latin typeface="Calibri"/>
              </a:rPr>
              <a:t>  Creates DB if not exists</a:t>
            </a:r>
          </a:p>
          <a:p>
            <a:pPr algn="l">
              <a:spcBef>
                <a:spcPts val="0"/>
              </a:spcBef>
              <a:spcAft>
                <a:spcPts val="100"/>
              </a:spcAft>
            </a:pPr>
            <a:r>
              <a:rPr sz="1100" b="0" i="0">
                <a:solidFill>
                  <a:srgbClr val="6A8AB0"/>
                </a:solidFill>
                <a:latin typeface="Calibri"/>
              </a:rPr>
              <a:t>  Runs _init_db() for chat schema</a:t>
            </a:r>
          </a:p>
          <a:p>
            <a:pPr algn="l">
              <a:spcBef>
                <a:spcPts val="0"/>
              </a:spcBef>
              <a:spcAft>
                <a:spcPts val="100"/>
              </a:spcAft>
            </a:pPr>
            <a:r>
              <a:rPr sz="1100" b="0" i="0">
                <a:solidFill>
                  <a:srgbClr val="6A8AB0"/>
                </a:solidFill>
                <a:latin typeface="Calibri"/>
              </a:rPr>
              <a:t>  Name: 3-63 chars, auto-sanitised</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MinIO Object Bucket</a:t>
            </a:r>
          </a:p>
          <a:p>
            <a:pPr algn="l">
              <a:spcBef>
                <a:spcPts val="0"/>
              </a:spcBef>
              <a:spcAft>
                <a:spcPts val="100"/>
              </a:spcAft>
            </a:pPr>
            <a:r>
              <a:rPr sz="1100" b="0" i="0">
                <a:solidFill>
                  <a:srgbClr val="6A8AB0"/>
                </a:solidFill>
                <a:latin typeface="Calibri"/>
              </a:rPr>
              <a:t>  _ensure_minio_bucket()</a:t>
            </a:r>
          </a:p>
          <a:p>
            <a:pPr algn="l">
              <a:spcBef>
                <a:spcPts val="0"/>
              </a:spcBef>
              <a:spcAft>
                <a:spcPts val="100"/>
              </a:spcAft>
            </a:pPr>
            <a:r>
              <a:rPr sz="1100" b="0" i="0">
                <a:solidFill>
                  <a:srgbClr val="6A8AB0"/>
                </a:solidFill>
                <a:latin typeface="Calibri"/>
              </a:rPr>
              <a:t>  Creates bucket if not present</a:t>
            </a:r>
          </a:p>
          <a:p>
            <a:pPr algn="l">
              <a:spcBef>
                <a:spcPts val="0"/>
              </a:spcBef>
              <a:spcAft>
                <a:spcPts val="100"/>
              </a:spcAft>
            </a:pPr>
            <a:r>
              <a:rPr sz="1100" b="0" i="0">
                <a:solidFill>
                  <a:srgbClr val="6A8AB0"/>
                </a:solidFill>
                <a:latin typeface="Calibri"/>
              </a:rPr>
              <a:t>  Name: lowercase, 3-63 chars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Redis Namespace</a:t>
            </a:r>
          </a:p>
          <a:p>
            <a:pPr algn="l">
              <a:spcBef>
                <a:spcPts val="0"/>
              </a:spcBef>
              <a:spcAft>
                <a:spcPts val="100"/>
              </a:spcAft>
            </a:pPr>
            <a:r>
              <a:rPr sz="1100" b="0" i="0">
                <a:solidFill>
                  <a:srgbClr val="6A8AB0"/>
                </a:solidFill>
                <a:latin typeface="Calibri"/>
              </a:rPr>
              <a:t>  Pattern: user:{username}:</a:t>
            </a:r>
          </a:p>
          <a:p>
            <a:pPr algn="l">
              <a:spcBef>
                <a:spcPts val="0"/>
              </a:spcBef>
              <a:spcAft>
                <a:spcPts val="100"/>
              </a:spcAft>
            </a:pPr>
            <a:r>
              <a:rPr sz="1100" b="0" i="0">
                <a:solidFill>
                  <a:srgbClr val="6A8AB0"/>
                </a:solidFill>
                <a:latin typeface="Calibri"/>
              </a:rPr>
              <a:t>  Namespaced key isolation</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set_user_resources()</a:t>
            </a:r>
          </a:p>
          <a:p>
            <a:pPr algn="l">
              <a:spcBef>
                <a:spcPts val="0"/>
              </a:spcBef>
              <a:spcAft>
                <a:spcPts val="100"/>
              </a:spcAft>
            </a:pPr>
            <a:r>
              <a:rPr sz="1100" b="0" i="0">
                <a:solidFill>
                  <a:srgbClr val="6A8AB0"/>
                </a:solidFill>
                <a:latin typeface="Calibri"/>
              </a:rPr>
              <a:t>  Persists provisioning metadata</a:t>
            </a:r>
          </a:p>
          <a:p>
            <a:pPr algn="l">
              <a:spcBef>
                <a:spcPts val="0"/>
              </a:spcBef>
              <a:spcAft>
                <a:spcPts val="100"/>
              </a:spcAft>
            </a:pPr>
            <a:r>
              <a:rPr sz="1100" b="0" i="0">
                <a:solidFill>
                  <a:srgbClr val="6A8AB0"/>
                </a:solidFill>
                <a:latin typeface="Calibri"/>
              </a:rPr>
              <a:t>  to auth store for the user record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50A18"/>
        </a:solidFill>
        <a:effectLst/>
      </p:bgPr>
    </p:bg>
    <p:spTree>
      <p:nvGrpSpPr>
        <p:cNvPr id="1" name=""/>
        <p:cNvGrpSpPr/>
        <p:nvPr/>
      </p:nvGrpSpPr>
      <p:grpSpPr/>
      <p:sp>
        <p:nvSpPr>
          <p:cNvPr id="2" name="Rectangle 1"/>
          <p:cNvSpPr/>
          <p:nvPr/>
        </p:nvSpPr>
        <p:spPr>
          <a:xfrm>
            <a:off x="164592" y="512064"/>
            <a:ext cx="10214149" cy="713232"/>
          </a:xfrm>
          <a:prstGeom prst="rect">
            <a:avLst/>
          </a:prstGeom>
          <a:solidFill>
            <a:srgbClr val="1E4A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77800" tIns="127000" bIns="50800" wrap="square"/>
          <a:lstStyle/>
          <a:p>
            <a:pPr algn="l">
              <a:spcBef>
                <a:spcPts val="0"/>
              </a:spcBef>
              <a:spcAft>
                <a:spcPts val="0"/>
              </a:spcAft>
            </a:pPr>
            <a:r>
              <a:rPr sz="2200" b="1" i="0">
                <a:solidFill>
                  <a:srgbClr val="FFFFFF"/>
                </a:solidFill>
                <a:latin typeface="Calibri"/>
              </a:rPr>
              <a:t>RAG Overrides, Session State &amp; Feature Flags</a:t>
            </a:r>
          </a:p>
        </p:txBody>
      </p:sp>
      <p:sp>
        <p:nvSpPr>
          <p:cNvPr id="3" name="Rectangle 2"/>
          <p:cNvSpPr/>
          <p:nvPr/>
        </p:nvSpPr>
        <p:spPr>
          <a:xfrm>
            <a:off x="10397029" y="512064"/>
            <a:ext cx="1645491" cy="713232"/>
          </a:xfrm>
          <a:prstGeom prst="rect">
            <a:avLst/>
          </a:prstGeom>
          <a:solidFill>
            <a:srgbClr val="0A142E"/>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tIns="101600" lIns="76200"/>
          <a:lstStyle/>
          <a:p>
            <a:pPr algn="ctr">
              <a:spcBef>
                <a:spcPts val="0"/>
              </a:spcBef>
              <a:spcAft>
                <a:spcPts val="0"/>
              </a:spcAft>
            </a:pPr>
            <a:r>
              <a:rPr sz="1500" b="1" i="0">
                <a:solidFill>
                  <a:srgbClr val="FFFFFF"/>
                </a:solidFill>
                <a:latin typeface="Calibri"/>
              </a:rPr>
              <a:t>  KAVIN</a:t>
            </a:r>
          </a:p>
          <a:p>
            <a:pPr algn="ctr">
              <a:spcBef>
                <a:spcPts val="0"/>
              </a:spcBef>
              <a:spcAft>
                <a:spcPts val="0"/>
              </a:spcAft>
            </a:pPr>
            <a:r>
              <a:rPr sz="900" b="0" i="0">
                <a:solidFill>
                  <a:srgbClr val="93C5FD"/>
                </a:solidFill>
                <a:latin typeface="Calibri"/>
              </a:rPr>
              <a:t>Developer Tools</a:t>
            </a:r>
          </a:p>
        </p:txBody>
      </p:sp>
      <p:sp>
        <p:nvSpPr>
          <p:cNvPr id="4" name="TextBox 3"/>
          <p:cNvSpPr txBox="1"/>
          <p:nvPr/>
        </p:nvSpPr>
        <p:spPr>
          <a:xfrm>
            <a:off x="164592" y="1280160"/>
            <a:ext cx="11859641" cy="292608"/>
          </a:xfrm>
          <a:prstGeom prst="rect">
            <a:avLst/>
          </a:prstGeom>
          <a:noFill/>
        </p:spPr>
        <p:txBody>
          <a:bodyPr wrap="square" lIns="50800" tIns="0">
            <a:spAutoFit/>
          </a:bodyPr>
          <a:lstStyle/>
          <a:p>
            <a:pPr algn="l">
              <a:spcBef>
                <a:spcPts val="0"/>
              </a:spcBef>
              <a:spcAft>
                <a:spcPts val="0"/>
              </a:spcAft>
            </a:pPr>
            <a:r>
              <a:rPr sz="1100" b="0" i="1">
                <a:solidFill>
                  <a:srgbClr val="93C5FD"/>
                </a:solidFill>
                <a:latin typeface="Calibri"/>
              </a:rPr>
              <a:t>Per-session and per-user toggles for retrieval behaviour  |  Live feature flag tuning without restart</a:t>
            </a:r>
          </a:p>
        </p:txBody>
      </p:sp>
      <p:sp>
        <p:nvSpPr>
          <p:cNvPr id="5" name="Rectangle 4"/>
          <p:cNvSpPr/>
          <p:nvPr/>
        </p:nvSpPr>
        <p:spPr>
          <a:xfrm>
            <a:off x="182880" y="1627632"/>
            <a:ext cx="6052896" cy="4956048"/>
          </a:xfrm>
          <a:prstGeom prst="rect">
            <a:avLst/>
          </a:prstGeom>
          <a:solidFill>
            <a:srgbClr val="0D1B38"/>
          </a:solidFill>
          <a:ln w="228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3B82F6"/>
                </a:solidFill>
                <a:latin typeface="Calibri"/>
              </a:rPr>
              <a:t>OVR  RAG Override Controls</a:t>
            </a:r>
          </a:p>
        </p:txBody>
      </p:sp>
      <p:sp>
        <p:nvSpPr>
          <p:cNvPr id="6" name="Rectangle 5"/>
          <p:cNvSpPr/>
          <p:nvPr/>
        </p:nvSpPr>
        <p:spPr>
          <a:xfrm>
            <a:off x="256032" y="2029968"/>
            <a:ext cx="5906592" cy="1280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2066543"/>
            <a:ext cx="5906592"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GET /devtools/rag/overrides</a:t>
            </a:r>
          </a:p>
          <a:p>
            <a:pPr algn="l">
              <a:spcBef>
                <a:spcPts val="0"/>
              </a:spcBef>
              <a:spcAft>
                <a:spcPts val="100"/>
              </a:spcAft>
            </a:pPr>
            <a:r>
              <a:rPr sz="1100" b="0" i="0">
                <a:solidFill>
                  <a:srgbClr val="6A8AB0"/>
                </a:solidFill>
                <a:latin typeface="Calibri"/>
              </a:rPr>
              <a:t>  List all active session/user overrides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POST /devtools/rag/disable</a:t>
            </a:r>
          </a:p>
          <a:p>
            <a:pPr algn="l">
              <a:spcBef>
                <a:spcPts val="0"/>
              </a:spcBef>
              <a:spcAft>
                <a:spcPts val="100"/>
              </a:spcAft>
            </a:pPr>
            <a:r>
              <a:rPr sz="1100" b="0" i="0">
                <a:solidFill>
                  <a:srgbClr val="6A8AB0"/>
                </a:solidFill>
                <a:latin typeface="Calibri"/>
              </a:rPr>
              <a:t>  Body: {session_id?, username?}</a:t>
            </a:r>
          </a:p>
          <a:p>
            <a:pPr algn="l">
              <a:spcBef>
                <a:spcPts val="0"/>
              </a:spcBef>
              <a:spcAft>
                <a:spcPts val="100"/>
              </a:spcAft>
            </a:pPr>
            <a:r>
              <a:rPr sz="1100" b="0" i="0">
                <a:solidFill>
                  <a:srgbClr val="6A8AB0"/>
                </a:solidFill>
                <a:latin typeface="Calibri"/>
              </a:rPr>
              <a:t>  Forces direct LLM — no RAG retrieval</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POST /devtools/rag/enable</a:t>
            </a:r>
          </a:p>
          <a:p>
            <a:pPr algn="l">
              <a:spcBef>
                <a:spcPts val="0"/>
              </a:spcBef>
              <a:spcAft>
                <a:spcPts val="100"/>
              </a:spcAft>
            </a:pPr>
            <a:r>
              <a:rPr sz="1100" b="0" i="0">
                <a:solidFill>
                  <a:srgbClr val="6A8AB0"/>
                </a:solidFill>
                <a:latin typeface="Calibri"/>
              </a:rPr>
              <a:t>  Re-enables RAG for that session/user</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Use cases:</a:t>
            </a:r>
          </a:p>
          <a:p>
            <a:pPr algn="l">
              <a:spcBef>
                <a:spcPts val="0"/>
              </a:spcBef>
              <a:spcAft>
                <a:spcPts val="100"/>
              </a:spcAft>
            </a:pPr>
            <a:r>
              <a:rPr sz="1100" b="0" i="0">
                <a:solidFill>
                  <a:srgbClr val="6A8AB0"/>
                </a:solidFill>
                <a:latin typeface="Calibri"/>
              </a:rPr>
              <a:t>  Debug hallucination vs. retrieval gap</a:t>
            </a:r>
          </a:p>
          <a:p>
            <a:pPr algn="l">
              <a:spcBef>
                <a:spcPts val="0"/>
              </a:spcBef>
              <a:spcAft>
                <a:spcPts val="100"/>
              </a:spcAft>
            </a:pPr>
            <a:r>
              <a:rPr sz="1100" b="0" i="0">
                <a:solidFill>
                  <a:srgbClr val="6A8AB0"/>
                </a:solidFill>
                <a:latin typeface="Calibri"/>
              </a:rPr>
              <a:t>  Force base model answer for comparison</a:t>
            </a:r>
          </a:p>
          <a:p>
            <a:pPr algn="l">
              <a:spcBef>
                <a:spcPts val="0"/>
              </a:spcBef>
              <a:spcAft>
                <a:spcPts val="100"/>
              </a:spcAft>
            </a:pPr>
            <a:r>
              <a:rPr sz="1100" b="0" i="0">
                <a:solidFill>
                  <a:srgbClr val="6A8AB0"/>
                </a:solidFill>
                <a:latin typeface="Calibri"/>
              </a:rPr>
              <a:t>  Temporarily bypass RAG for a power user</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Session State Inspector</a:t>
            </a:r>
          </a:p>
          <a:p>
            <a:pPr algn="l">
              <a:spcBef>
                <a:spcPts val="0"/>
              </a:spcBef>
              <a:spcAft>
                <a:spcPts val="100"/>
              </a:spcAft>
            </a:pPr>
            <a:r>
              <a:rPr sz="1200" b="0" i="0">
                <a:solidFill>
                  <a:srgbClr val="D8E8F8"/>
                </a:solidFill>
                <a:latin typeface="Calibri"/>
              </a:rPr>
              <a:t>GET /devtools/session-state/{session_id}</a:t>
            </a:r>
          </a:p>
          <a:p>
            <a:pPr algn="l">
              <a:spcBef>
                <a:spcPts val="0"/>
              </a:spcBef>
              <a:spcAft>
                <a:spcPts val="100"/>
              </a:spcAft>
            </a:pPr>
            <a:r>
              <a:rPr sz="1100" b="0" i="0">
                <a:solidFill>
                  <a:srgbClr val="6A8AB0"/>
                </a:solidFill>
                <a:latin typeface="Calibri"/>
              </a:rPr>
              <a:t>  postgres_message_count</a:t>
            </a:r>
          </a:p>
          <a:p>
            <a:pPr algn="l">
              <a:spcBef>
                <a:spcPts val="0"/>
              </a:spcBef>
              <a:spcAft>
                <a:spcPts val="100"/>
              </a:spcAft>
            </a:pPr>
            <a:r>
              <a:rPr sz="1100" b="0" i="0">
                <a:solidFill>
                  <a:srgbClr val="6A8AB0"/>
                </a:solidFill>
                <a:latin typeface="Calibri"/>
              </a:rPr>
              <a:t>  recent_user_messages  (last 3)</a:t>
            </a:r>
          </a:p>
          <a:p>
            <a:pPr algn="l">
              <a:spcBef>
                <a:spcPts val="0"/>
              </a:spcBef>
              <a:spcAft>
                <a:spcPts val="100"/>
              </a:spcAft>
            </a:pPr>
            <a:r>
              <a:rPr sz="1100" b="0" i="0">
                <a:solidFill>
                  <a:srgbClr val="6A8AB0"/>
                </a:solidFill>
                <a:latin typeface="Calibri"/>
              </a:rPr>
              <a:t>  active_topic          (Redis value)</a:t>
            </a:r>
          </a:p>
          <a:p>
            <a:pPr algn="l">
              <a:spcBef>
                <a:spcPts val="0"/>
              </a:spcBef>
              <a:spcAft>
                <a:spcPts val="100"/>
              </a:spcAft>
            </a:pPr>
            <a:r>
              <a:rPr sz="1100" b="0" i="0">
                <a:solidFill>
                  <a:srgbClr val="6A8AB0"/>
                </a:solidFill>
                <a:latin typeface="Calibri"/>
              </a:rPr>
              <a:t>  used_chunk_ids_count  (Redis set size)</a:t>
            </a:r>
          </a:p>
        </p:txBody>
      </p:sp>
      <p:sp>
        <p:nvSpPr>
          <p:cNvPr id="8" name="Rectangle 7"/>
          <p:cNvSpPr/>
          <p:nvPr/>
        </p:nvSpPr>
        <p:spPr>
          <a:xfrm>
            <a:off x="6418656" y="1627632"/>
            <a:ext cx="5587288" cy="4956048"/>
          </a:xfrm>
          <a:prstGeom prst="rect">
            <a:avLst/>
          </a:prstGeom>
          <a:solidFill>
            <a:srgbClr val="0D1B38"/>
          </a:solidFill>
          <a:ln w="2286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8B5CF6"/>
                </a:solidFill>
                <a:latin typeface="Calibri"/>
              </a:rPr>
              <a:t>FLAGS  Feature Flags</a:t>
            </a:r>
          </a:p>
        </p:txBody>
      </p:sp>
      <p:sp>
        <p:nvSpPr>
          <p:cNvPr id="9" name="Rectangle 8"/>
          <p:cNvSpPr/>
          <p:nvPr/>
        </p:nvSpPr>
        <p:spPr>
          <a:xfrm>
            <a:off x="6491808" y="2029968"/>
            <a:ext cx="5440984" cy="12801"/>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1808" y="2066543"/>
            <a:ext cx="5440984"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GET  /devtools/settings</a:t>
            </a:r>
          </a:p>
          <a:p>
            <a:pPr algn="l">
              <a:spcBef>
                <a:spcPts val="0"/>
              </a:spcBef>
              <a:spcAft>
                <a:spcPts val="100"/>
              </a:spcAft>
            </a:pPr>
            <a:r>
              <a:rPr sz="1200" b="0" i="0">
                <a:solidFill>
                  <a:srgbClr val="D8E8F8"/>
                </a:solidFill>
                <a:latin typeface="Calibri"/>
              </a:rPr>
              <a:t>PATCH /devtools/settings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enable_query_rewrite</a:t>
            </a:r>
          </a:p>
          <a:p>
            <a:pPr algn="l">
              <a:spcBef>
                <a:spcPts val="0"/>
              </a:spcBef>
              <a:spcAft>
                <a:spcPts val="100"/>
              </a:spcAft>
            </a:pPr>
            <a:r>
              <a:rPr sz="1100" b="0" i="0">
                <a:solidFill>
                  <a:srgbClr val="6A8AB0"/>
                </a:solidFill>
                <a:latin typeface="Calibri"/>
              </a:rPr>
              <a:t>  Rewrites question with history</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enable_hybrid_retrieval</a:t>
            </a:r>
          </a:p>
          <a:p>
            <a:pPr algn="l">
              <a:spcBef>
                <a:spcPts val="0"/>
              </a:spcBef>
              <a:spcAft>
                <a:spcPts val="100"/>
              </a:spcAft>
            </a:pPr>
            <a:r>
              <a:rPr sz="1100" b="0" i="0">
                <a:solidFill>
                  <a:srgbClr val="6A8AB0"/>
                </a:solidFill>
                <a:latin typeface="Calibri"/>
              </a:rPr>
              <a:t>  Dense + BM25 keyword search</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force_detailed_retrieval</a:t>
            </a:r>
          </a:p>
          <a:p>
            <a:pPr algn="l">
              <a:spcBef>
                <a:spcPts val="0"/>
              </a:spcBef>
              <a:spcAft>
                <a:spcPts val="100"/>
              </a:spcAft>
            </a:pPr>
            <a:r>
              <a:rPr sz="1100" b="0" i="0">
                <a:solidFill>
                  <a:srgbClr val="6A8AB0"/>
                </a:solidFill>
                <a:latin typeface="Calibri"/>
              </a:rPr>
              <a:t>  Ignores mode profile limits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rag_retrieval_mode</a:t>
            </a:r>
          </a:p>
          <a:p>
            <a:pPr algn="l">
              <a:spcBef>
                <a:spcPts val="0"/>
              </a:spcBef>
              <a:spcAft>
                <a:spcPts val="100"/>
              </a:spcAft>
            </a:pPr>
            <a:r>
              <a:rPr sz="1100" b="0" i="0">
                <a:solidFill>
                  <a:srgbClr val="6A8AB0"/>
                </a:solidFill>
                <a:latin typeface="Calibri"/>
              </a:rPr>
              <a:t>  auto / semantic / keyword</a:t>
            </a:r>
          </a:p>
          <a:p>
            <a:pPr algn="l">
              <a:spcBef>
                <a:spcPts val="0"/>
              </a:spcBef>
              <a:spcAft>
                <a:spcPts val="100"/>
              </a:spcAft>
            </a:pPr>
            <a:r>
              <a:rPr sz="1100" b="0" i="0">
                <a:solidFill>
                  <a:srgbClr val="6A8AB0"/>
                </a:solidFill>
                <a:latin typeface="Calibri"/>
              </a:rPr>
              <a:t>  / hybrid / detailed</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rag_collection_name</a:t>
            </a:r>
          </a:p>
          <a:p>
            <a:pPr algn="l">
              <a:spcBef>
                <a:spcPts val="0"/>
              </a:spcBef>
              <a:spcAft>
                <a:spcPts val="100"/>
              </a:spcAft>
            </a:pPr>
            <a:r>
              <a:rPr sz="1100" b="0" i="0">
                <a:solidFill>
                  <a:srgbClr val="6A8AB0"/>
                </a:solidFill>
                <a:latin typeface="Calibri"/>
              </a:rPr>
              <a:t>  Switch target PGVector</a:t>
            </a:r>
          </a:p>
          <a:p>
            <a:pPr algn="l">
              <a:spcBef>
                <a:spcPts val="0"/>
              </a:spcBef>
              <a:spcAft>
                <a:spcPts val="100"/>
              </a:spcAft>
            </a:pPr>
            <a:r>
              <a:rPr sz="1100" b="0" i="0">
                <a:solidFill>
                  <a:srgbClr val="6A8AB0"/>
                </a:solidFill>
                <a:latin typeface="Calibri"/>
              </a:rPr>
              <a:t>  collection on-the-fly</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Job Inspector</a:t>
            </a:r>
          </a:p>
          <a:p>
            <a:pPr algn="l">
              <a:spcBef>
                <a:spcPts val="0"/>
              </a:spcBef>
              <a:spcAft>
                <a:spcPts val="100"/>
              </a:spcAft>
            </a:pPr>
            <a:r>
              <a:rPr sz="1200" b="0" i="0">
                <a:solidFill>
                  <a:srgbClr val="D8E8F8"/>
                </a:solidFill>
                <a:latin typeface="Calibri"/>
              </a:rPr>
              <a:t>GET /devtools/jobs</a:t>
            </a:r>
          </a:p>
          <a:p>
            <a:pPr algn="l">
              <a:spcBef>
                <a:spcPts val="0"/>
              </a:spcBef>
              <a:spcAft>
                <a:spcPts val="100"/>
              </a:spcAft>
            </a:pPr>
            <a:r>
              <a:rPr sz="1100" b="0" i="0">
                <a:solidFill>
                  <a:srgbClr val="6A8AB0"/>
                </a:solidFill>
                <a:latin typeface="Calibri"/>
              </a:rPr>
              <a:t>  Active in-memory job states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50A18"/>
        </a:solidFill>
        <a:effectLst/>
      </p:bgPr>
    </p:bg>
    <p:spTree>
      <p:nvGrpSpPr>
        <p:cNvPr id="1" name=""/>
        <p:cNvGrpSpPr/>
        <p:nvPr/>
      </p:nvGrpSpPr>
      <p:grpSpPr/>
      <p:sp>
        <p:nvSpPr>
          <p:cNvPr id="2" name="Rectangle 1"/>
          <p:cNvSpPr/>
          <p:nvPr/>
        </p:nvSpPr>
        <p:spPr>
          <a:xfrm>
            <a:off x="164592" y="512064"/>
            <a:ext cx="10214149" cy="713232"/>
          </a:xfrm>
          <a:prstGeom prst="rect">
            <a:avLst/>
          </a:prstGeom>
          <a:solidFill>
            <a:srgbClr val="1E4A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77800" tIns="127000" bIns="50800" wrap="square"/>
          <a:lstStyle/>
          <a:p>
            <a:pPr algn="l">
              <a:spcBef>
                <a:spcPts val="0"/>
              </a:spcBef>
              <a:spcAft>
                <a:spcPts val="0"/>
              </a:spcAft>
            </a:pPr>
            <a:r>
              <a:rPr sz="2200" b="1" i="0">
                <a:solidFill>
                  <a:srgbClr val="FFFFFF"/>
                </a:solidFill>
                <a:latin typeface="Calibri"/>
              </a:rPr>
              <a:t>Database Visibility Panel</a:t>
            </a:r>
          </a:p>
        </p:txBody>
      </p:sp>
      <p:sp>
        <p:nvSpPr>
          <p:cNvPr id="3" name="Rectangle 2"/>
          <p:cNvSpPr/>
          <p:nvPr/>
        </p:nvSpPr>
        <p:spPr>
          <a:xfrm>
            <a:off x="10397029" y="512064"/>
            <a:ext cx="1645491" cy="713232"/>
          </a:xfrm>
          <a:prstGeom prst="rect">
            <a:avLst/>
          </a:prstGeom>
          <a:solidFill>
            <a:srgbClr val="0A142E"/>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tIns="101600" lIns="76200"/>
          <a:lstStyle/>
          <a:p>
            <a:pPr algn="ctr">
              <a:spcBef>
                <a:spcPts val="0"/>
              </a:spcBef>
              <a:spcAft>
                <a:spcPts val="0"/>
              </a:spcAft>
            </a:pPr>
            <a:r>
              <a:rPr sz="1500" b="1" i="0">
                <a:solidFill>
                  <a:srgbClr val="FFFFFF"/>
                </a:solidFill>
                <a:latin typeface="Calibri"/>
              </a:rPr>
              <a:t>  KAVIN</a:t>
            </a:r>
          </a:p>
          <a:p>
            <a:pPr algn="ctr">
              <a:spcBef>
                <a:spcPts val="0"/>
              </a:spcBef>
              <a:spcAft>
                <a:spcPts val="0"/>
              </a:spcAft>
            </a:pPr>
            <a:r>
              <a:rPr sz="900" b="0" i="0">
                <a:solidFill>
                  <a:srgbClr val="93C5FD"/>
                </a:solidFill>
                <a:latin typeface="Calibri"/>
              </a:rPr>
              <a:t>Developer Tools</a:t>
            </a:r>
          </a:p>
        </p:txBody>
      </p:sp>
      <p:sp>
        <p:nvSpPr>
          <p:cNvPr id="4" name="TextBox 3"/>
          <p:cNvSpPr txBox="1"/>
          <p:nvPr/>
        </p:nvSpPr>
        <p:spPr>
          <a:xfrm>
            <a:off x="164592" y="1280160"/>
            <a:ext cx="11859641" cy="292608"/>
          </a:xfrm>
          <a:prstGeom prst="rect">
            <a:avLst/>
          </a:prstGeom>
          <a:noFill/>
        </p:spPr>
        <p:txBody>
          <a:bodyPr wrap="square" lIns="50800" tIns="0">
            <a:spAutoFit/>
          </a:bodyPr>
          <a:lstStyle/>
          <a:p>
            <a:pPr algn="l">
              <a:spcBef>
                <a:spcPts val="0"/>
              </a:spcBef>
              <a:spcAft>
                <a:spcPts val="0"/>
              </a:spcAft>
            </a:pPr>
            <a:r>
              <a:rPr sz="1100" b="0" i="1">
                <a:solidFill>
                  <a:srgbClr val="93C5FD"/>
                </a:solidFill>
                <a:latin typeface="Calibri"/>
              </a:rPr>
              <a:t>Admin-gated live inspection of all persistence layers  |  GET /devtools/dbs/{db_id}/records  with pagination</a:t>
            </a:r>
          </a:p>
        </p:txBody>
      </p:sp>
      <p:sp>
        <p:nvSpPr>
          <p:cNvPr id="5" name="Rectangle 4"/>
          <p:cNvSpPr/>
          <p:nvPr/>
        </p:nvSpPr>
        <p:spPr>
          <a:xfrm>
            <a:off x="182880" y="1627632"/>
            <a:ext cx="2910046" cy="4956048"/>
          </a:xfrm>
          <a:prstGeom prst="rect">
            <a:avLst/>
          </a:prstGeom>
          <a:solidFill>
            <a:srgbClr val="0D1B38"/>
          </a:solidFill>
          <a:ln w="228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3B82F6"/>
                </a:solidFill>
                <a:latin typeface="Calibri"/>
              </a:rPr>
              <a:t>PGV  rag_db  (pgvector)</a:t>
            </a:r>
          </a:p>
        </p:txBody>
      </p:sp>
      <p:sp>
        <p:nvSpPr>
          <p:cNvPr id="6" name="Rectangle 5"/>
          <p:cNvSpPr/>
          <p:nvPr/>
        </p:nvSpPr>
        <p:spPr>
          <a:xfrm>
            <a:off x="256032" y="2029968"/>
            <a:ext cx="2763742" cy="1280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2066543"/>
            <a:ext cx="2763742"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PostgreSQL + pgvector</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Tables:</a:t>
            </a:r>
          </a:p>
          <a:p>
            <a:pPr algn="l">
              <a:spcBef>
                <a:spcPts val="0"/>
              </a:spcBef>
              <a:spcAft>
                <a:spcPts val="100"/>
              </a:spcAft>
            </a:pPr>
            <a:r>
              <a:rPr sz="1100" b="0" i="0">
                <a:solidFill>
                  <a:srgbClr val="6A8AB0"/>
                </a:solidFill>
                <a:latin typeface="Calibri"/>
              </a:rPr>
              <a:t>  langchain_pg_embedding</a:t>
            </a:r>
          </a:p>
          <a:p>
            <a:pPr algn="l">
              <a:spcBef>
                <a:spcPts val="0"/>
              </a:spcBef>
              <a:spcAft>
                <a:spcPts val="100"/>
              </a:spcAft>
            </a:pPr>
            <a:r>
              <a:rPr sz="1100" b="0" i="0">
                <a:solidFill>
                  <a:srgbClr val="6A8AB0"/>
                </a:solidFill>
                <a:latin typeface="Calibri"/>
              </a:rPr>
              <a:t>  langchain_pg_collection</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Records browser:</a:t>
            </a:r>
          </a:p>
          <a:p>
            <a:pPr algn="l">
              <a:spcBef>
                <a:spcPts val="0"/>
              </a:spcBef>
              <a:spcAft>
                <a:spcPts val="100"/>
              </a:spcAft>
            </a:pPr>
            <a:r>
              <a:rPr sz="1100" b="0" i="0">
                <a:solidFill>
                  <a:srgbClr val="6A8AB0"/>
                </a:solidFill>
                <a:latin typeface="Calibri"/>
              </a:rPr>
              <a:t>  Paginated (limit/offset)</a:t>
            </a:r>
          </a:p>
          <a:p>
            <a:pPr algn="l">
              <a:spcBef>
                <a:spcPts val="0"/>
              </a:spcBef>
              <a:spcAft>
                <a:spcPts val="100"/>
              </a:spcAft>
            </a:pPr>
            <a:r>
              <a:rPr sz="1100" b="0" i="0">
                <a:solidFill>
                  <a:srgbClr val="6A8AB0"/>
                </a:solidFill>
                <a:latin typeface="Calibri"/>
              </a:rPr>
              <a:t>  embedding column auto-</a:t>
            </a:r>
          </a:p>
          <a:p>
            <a:pPr algn="l">
              <a:spcBef>
                <a:spcPts val="0"/>
              </a:spcBef>
              <a:spcAft>
                <a:spcPts val="100"/>
              </a:spcAft>
            </a:pPr>
            <a:r>
              <a:rPr sz="1100" b="0" i="0">
                <a:solidFill>
                  <a:srgbClr val="6A8AB0"/>
                </a:solidFill>
                <a:latin typeface="Calibri"/>
              </a:rPr>
              <a:t>  excluded (too large)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Used for:</a:t>
            </a:r>
          </a:p>
          <a:p>
            <a:pPr algn="l">
              <a:spcBef>
                <a:spcPts val="0"/>
              </a:spcBef>
              <a:spcAft>
                <a:spcPts val="100"/>
              </a:spcAft>
            </a:pPr>
            <a:r>
              <a:rPr sz="1100" b="0" i="0">
                <a:solidFill>
                  <a:srgbClr val="6A8AB0"/>
                </a:solidFill>
                <a:latin typeface="Calibri"/>
              </a:rPr>
              <a:t>  Semantic search index</a:t>
            </a:r>
          </a:p>
          <a:p>
            <a:pPr algn="l">
              <a:spcBef>
                <a:spcPts val="0"/>
              </a:spcBef>
              <a:spcAft>
                <a:spcPts val="100"/>
              </a:spcAft>
            </a:pPr>
            <a:r>
              <a:rPr sz="1100" b="0" i="0">
                <a:solidFill>
                  <a:srgbClr val="6A8AB0"/>
                </a:solidFill>
                <a:latin typeface="Calibri"/>
              </a:rPr>
              <a:t>  384-dim BGE-M3 vectors</a:t>
            </a:r>
          </a:p>
          <a:p>
            <a:pPr algn="l">
              <a:spcBef>
                <a:spcPts val="0"/>
              </a:spcBef>
              <a:spcAft>
                <a:spcPts val="100"/>
              </a:spcAft>
            </a:pPr>
            <a:r>
              <a:rPr sz="1100" b="0" i="0">
                <a:solidFill>
                  <a:srgbClr val="6A8AB0"/>
                </a:solidFill>
                <a:latin typeface="Calibri"/>
              </a:rPr>
              <a:t>  Per-doc, per-revision</a:t>
            </a:r>
          </a:p>
        </p:txBody>
      </p:sp>
      <p:sp>
        <p:nvSpPr>
          <p:cNvPr id="8" name="Rectangle 7"/>
          <p:cNvSpPr/>
          <p:nvPr/>
        </p:nvSpPr>
        <p:spPr>
          <a:xfrm>
            <a:off x="3275806" y="1627632"/>
            <a:ext cx="2910046" cy="4956048"/>
          </a:xfrm>
          <a:prstGeom prst="rect">
            <a:avLst/>
          </a:prstGeom>
          <a:solidFill>
            <a:srgbClr val="0D1B38"/>
          </a:solidFill>
          <a:ln w="2286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8B5CF6"/>
                </a:solidFill>
                <a:latin typeface="Calibri"/>
              </a:rPr>
              <a:t>CHAT  chat_db  (postgres)</a:t>
            </a:r>
          </a:p>
        </p:txBody>
      </p:sp>
      <p:sp>
        <p:nvSpPr>
          <p:cNvPr id="9" name="Rectangle 8"/>
          <p:cNvSpPr/>
          <p:nvPr/>
        </p:nvSpPr>
        <p:spPr>
          <a:xfrm>
            <a:off x="3348958" y="2029968"/>
            <a:ext cx="2763742" cy="12801"/>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48958" y="2066543"/>
            <a:ext cx="2763742"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PostgreSQL chat memory</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Tables:</a:t>
            </a:r>
          </a:p>
          <a:p>
            <a:pPr algn="l">
              <a:spcBef>
                <a:spcPts val="0"/>
              </a:spcBef>
              <a:spcAft>
                <a:spcPts val="100"/>
              </a:spcAft>
            </a:pPr>
            <a:r>
              <a:rPr sz="1100" b="0" i="0">
                <a:solidFill>
                  <a:srgbClr val="6A8AB0"/>
                </a:solidFill>
                <a:latin typeface="Calibri"/>
              </a:rPr>
              <a:t>  chat_messages</a:t>
            </a:r>
          </a:p>
          <a:p>
            <a:pPr algn="l">
              <a:spcBef>
                <a:spcPts val="0"/>
              </a:spcBef>
              <a:spcAft>
                <a:spcPts val="100"/>
              </a:spcAft>
            </a:pPr>
            <a:r>
              <a:rPr sz="1100" b="0" i="0">
                <a:solidFill>
                  <a:srgbClr val="6A8AB0"/>
                </a:solidFill>
                <a:latin typeface="Calibri"/>
              </a:rPr>
              <a:t>  chat_sessions</a:t>
            </a:r>
          </a:p>
          <a:p>
            <a:pPr algn="l">
              <a:spcBef>
                <a:spcPts val="0"/>
              </a:spcBef>
              <a:spcAft>
                <a:spcPts val="100"/>
              </a:spcAft>
            </a:pPr>
            <a:r>
              <a:rPr sz="1100" b="0" i="0">
                <a:solidFill>
                  <a:srgbClr val="6A8AB0"/>
                </a:solidFill>
                <a:latin typeface="Calibri"/>
              </a:rPr>
              <a:t>  session_topic_hints</a:t>
            </a:r>
          </a:p>
          <a:p>
            <a:pPr algn="l">
              <a:spcBef>
                <a:spcPts val="0"/>
              </a:spcBef>
              <a:spcAft>
                <a:spcPts val="100"/>
              </a:spcAft>
            </a:pPr>
            <a:r>
              <a:rPr sz="1100" b="0" i="0">
                <a:solidFill>
                  <a:srgbClr val="6A8AB0"/>
                </a:solidFill>
                <a:latin typeface="Calibri"/>
              </a:rPr>
              <a:t>  session_active_documents</a:t>
            </a:r>
          </a:p>
          <a:p>
            <a:pPr algn="l">
              <a:spcBef>
                <a:spcPts val="0"/>
              </a:spcBef>
              <a:spcAft>
                <a:spcPts val="100"/>
              </a:spcAft>
            </a:pPr>
            <a:r>
              <a:rPr sz="1100" b="0" i="0">
                <a:solidFill>
                  <a:srgbClr val="6A8AB0"/>
                </a:solidFill>
                <a:latin typeface="Calibri"/>
              </a:rPr>
              <a:t>  rag_job_runs</a:t>
            </a:r>
          </a:p>
          <a:p>
            <a:pPr algn="l">
              <a:spcBef>
                <a:spcPts val="0"/>
              </a:spcBef>
              <a:spcAft>
                <a:spcPts val="100"/>
              </a:spcAft>
            </a:pPr>
            <a:r>
              <a:rPr sz="1100" b="0" i="0">
                <a:solidFill>
                  <a:srgbClr val="6A8AB0"/>
                </a:solidFill>
                <a:latin typeface="Calibri"/>
              </a:rPr>
              <a:t>  rag_audit_log</a:t>
            </a:r>
          </a:p>
          <a:p>
            <a:pPr algn="l">
              <a:spcBef>
                <a:spcPts val="0"/>
              </a:spcBef>
              <a:spcAft>
                <a:spcPts val="100"/>
              </a:spcAft>
            </a:pPr>
            <a:r>
              <a:rPr sz="1100" b="0" i="0">
                <a:solidFill>
                  <a:srgbClr val="6A8AB0"/>
                </a:solidFill>
                <a:latin typeface="Calibri"/>
              </a:rPr>
              <a:t>  retrieval_feedback</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Stores:</a:t>
            </a:r>
          </a:p>
          <a:p>
            <a:pPr algn="l">
              <a:spcBef>
                <a:spcPts val="0"/>
              </a:spcBef>
              <a:spcAft>
                <a:spcPts val="100"/>
              </a:spcAft>
            </a:pPr>
            <a:r>
              <a:rPr sz="1100" b="0" i="0">
                <a:solidFill>
                  <a:srgbClr val="6A8AB0"/>
                </a:solidFill>
                <a:latin typeface="Calibri"/>
              </a:rPr>
              <a:t>  Full conversation history</a:t>
            </a:r>
          </a:p>
          <a:p>
            <a:pPr algn="l">
              <a:spcBef>
                <a:spcPts val="0"/>
              </a:spcBef>
              <a:spcAft>
                <a:spcPts val="100"/>
              </a:spcAft>
            </a:pPr>
            <a:r>
              <a:rPr sz="1100" b="0" i="0">
                <a:solidFill>
                  <a:srgbClr val="6A8AB0"/>
                </a:solidFill>
                <a:latin typeface="Calibri"/>
              </a:rPr>
              <a:t>  RAG quality audit events</a:t>
            </a:r>
          </a:p>
          <a:p>
            <a:pPr algn="l">
              <a:spcBef>
                <a:spcPts val="0"/>
              </a:spcBef>
              <a:spcAft>
                <a:spcPts val="100"/>
              </a:spcAft>
            </a:pPr>
            <a:r>
              <a:rPr sz="1100" b="0" i="0">
                <a:solidFill>
                  <a:srgbClr val="6A8AB0"/>
                </a:solidFill>
                <a:latin typeface="Calibri"/>
              </a:rPr>
              <a:t>  User feedback records</a:t>
            </a:r>
          </a:p>
        </p:txBody>
      </p:sp>
      <p:sp>
        <p:nvSpPr>
          <p:cNvPr id="11" name="Rectangle 10"/>
          <p:cNvSpPr/>
          <p:nvPr/>
        </p:nvSpPr>
        <p:spPr>
          <a:xfrm>
            <a:off x="6368732" y="1627632"/>
            <a:ext cx="2910046" cy="4956048"/>
          </a:xfrm>
          <a:prstGeom prst="rect">
            <a:avLst/>
          </a:prstGeom>
          <a:solidFill>
            <a:srgbClr val="0D1B38"/>
          </a:solidFill>
          <a:ln w="2286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10B981"/>
                </a:solidFill>
                <a:latin typeface="Calibri"/>
              </a:rPr>
              <a:t>RDS  redis  (key-value)</a:t>
            </a:r>
          </a:p>
        </p:txBody>
      </p:sp>
      <p:sp>
        <p:nvSpPr>
          <p:cNvPr id="12" name="Rectangle 11"/>
          <p:cNvSpPr/>
          <p:nvPr/>
        </p:nvSpPr>
        <p:spPr>
          <a:xfrm>
            <a:off x="6441884" y="2029968"/>
            <a:ext cx="2763742" cy="128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1884" y="2066543"/>
            <a:ext cx="2763742"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Redis key browser</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Key types shown:</a:t>
            </a:r>
          </a:p>
          <a:p>
            <a:pPr algn="l">
              <a:spcBef>
                <a:spcPts val="0"/>
              </a:spcBef>
              <a:spcAft>
                <a:spcPts val="100"/>
              </a:spcAft>
            </a:pPr>
            <a:r>
              <a:rPr sz="1100" b="0" i="0">
                <a:solidFill>
                  <a:srgbClr val="6A8AB0"/>
                </a:solidFill>
                <a:latin typeface="Calibri"/>
              </a:rPr>
              <a:t>  string  — raw value</a:t>
            </a:r>
          </a:p>
          <a:p>
            <a:pPr algn="l">
              <a:spcBef>
                <a:spcPts val="0"/>
              </a:spcBef>
              <a:spcAft>
                <a:spcPts val="100"/>
              </a:spcAft>
            </a:pPr>
            <a:r>
              <a:rPr sz="1100" b="0" i="0">
                <a:solidFill>
                  <a:srgbClr val="6A8AB0"/>
                </a:solidFill>
                <a:latin typeface="Calibri"/>
              </a:rPr>
              <a:t>  list    — list[N] count</a:t>
            </a:r>
          </a:p>
          <a:p>
            <a:pPr algn="l">
              <a:spcBef>
                <a:spcPts val="0"/>
              </a:spcBef>
              <a:spcAft>
                <a:spcPts val="100"/>
              </a:spcAft>
            </a:pPr>
            <a:r>
              <a:rPr sz="1100" b="0" i="0">
                <a:solidFill>
                  <a:srgbClr val="6A8AB0"/>
                </a:solidFill>
                <a:latin typeface="Calibri"/>
              </a:rPr>
              <a:t>  set     — set[N] count</a:t>
            </a:r>
          </a:p>
          <a:p>
            <a:pPr algn="l">
              <a:spcBef>
                <a:spcPts val="0"/>
              </a:spcBef>
              <a:spcAft>
                <a:spcPts val="100"/>
              </a:spcAft>
            </a:pPr>
            <a:r>
              <a:rPr sz="1100" b="0" i="0">
                <a:solidFill>
                  <a:srgbClr val="6A8AB0"/>
                </a:solidFill>
                <a:latin typeface="Calibri"/>
              </a:rPr>
              <a:t>  zset    — zset[N] count</a:t>
            </a:r>
          </a:p>
          <a:p>
            <a:pPr algn="l">
              <a:spcBef>
                <a:spcPts val="0"/>
              </a:spcBef>
              <a:spcAft>
                <a:spcPts val="100"/>
              </a:spcAft>
            </a:pPr>
            <a:r>
              <a:rPr sz="1100" b="0" i="0">
                <a:solidFill>
                  <a:srgbClr val="6A8AB0"/>
                </a:solidFill>
                <a:latin typeface="Calibri"/>
              </a:rPr>
              <a:t>  hash    — hash[N] count</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Namespaces:</a:t>
            </a:r>
          </a:p>
          <a:p>
            <a:pPr algn="l">
              <a:spcBef>
                <a:spcPts val="0"/>
              </a:spcBef>
              <a:spcAft>
                <a:spcPts val="100"/>
              </a:spcAft>
            </a:pPr>
            <a:r>
              <a:rPr sz="1100" b="0" i="0">
                <a:solidFill>
                  <a:srgbClr val="6A8AB0"/>
                </a:solidFill>
                <a:latin typeface="Calibri"/>
              </a:rPr>
              <a:t>  rag:*     retrieval cache</a:t>
            </a:r>
          </a:p>
          <a:p>
            <a:pPr algn="l">
              <a:spcBef>
                <a:spcPts val="0"/>
              </a:spcBef>
              <a:spcAft>
                <a:spcPts val="100"/>
              </a:spcAft>
            </a:pPr>
            <a:r>
              <a:rPr sz="1100" b="0" i="0">
                <a:solidFill>
                  <a:srgbClr val="6A8AB0"/>
                </a:solidFill>
                <a:latin typeface="Calibri"/>
              </a:rPr>
              <a:t>  abort:*   stream kill flags</a:t>
            </a:r>
          </a:p>
          <a:p>
            <a:pPr algn="l">
              <a:spcBef>
                <a:spcPts val="0"/>
              </a:spcBef>
              <a:spcAft>
                <a:spcPts val="100"/>
              </a:spcAft>
            </a:pPr>
            <a:r>
              <a:rPr sz="1100" b="0" i="0">
                <a:solidFill>
                  <a:srgbClr val="6A8AB0"/>
                </a:solidFill>
                <a:latin typeface="Calibri"/>
              </a:rPr>
              <a:t>  user:*    session state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Values truncated at 500 chars</a:t>
            </a:r>
          </a:p>
        </p:txBody>
      </p:sp>
      <p:sp>
        <p:nvSpPr>
          <p:cNvPr id="14" name="Rectangle 13"/>
          <p:cNvSpPr/>
          <p:nvPr/>
        </p:nvSpPr>
        <p:spPr>
          <a:xfrm>
            <a:off x="9461658" y="1627632"/>
            <a:ext cx="2910046" cy="4956048"/>
          </a:xfrm>
          <a:prstGeom prst="rect">
            <a:avLst/>
          </a:prstGeom>
          <a:solidFill>
            <a:srgbClr val="0D1B38"/>
          </a:solidFill>
          <a:ln w="2286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F59E0B"/>
                </a:solidFill>
                <a:latin typeface="Calibri"/>
              </a:rPr>
              <a:t>S3  minio  (object store)</a:t>
            </a:r>
          </a:p>
        </p:txBody>
      </p:sp>
      <p:sp>
        <p:nvSpPr>
          <p:cNvPr id="15" name="Rectangle 14"/>
          <p:cNvSpPr/>
          <p:nvPr/>
        </p:nvSpPr>
        <p:spPr>
          <a:xfrm>
            <a:off x="9534810" y="2029968"/>
            <a:ext cx="2763742" cy="128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34810" y="2066543"/>
            <a:ext cx="2763742" cy="4443983"/>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MinIO object browser</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Fields shown:</a:t>
            </a:r>
          </a:p>
          <a:p>
            <a:pPr algn="l">
              <a:spcBef>
                <a:spcPts val="0"/>
              </a:spcBef>
              <a:spcAft>
                <a:spcPts val="100"/>
              </a:spcAft>
            </a:pPr>
            <a:r>
              <a:rPr sz="1100" b="0" i="0">
                <a:solidFill>
                  <a:srgbClr val="6A8AB0"/>
                </a:solidFill>
                <a:latin typeface="Calibri"/>
              </a:rPr>
              <a:t>  object      full path/key</a:t>
            </a:r>
          </a:p>
          <a:p>
            <a:pPr algn="l">
              <a:spcBef>
                <a:spcPts val="0"/>
              </a:spcBef>
              <a:spcAft>
                <a:spcPts val="100"/>
              </a:spcAft>
            </a:pPr>
            <a:r>
              <a:rPr sz="1100" b="0" i="0">
                <a:solidFill>
                  <a:srgbClr val="6A8AB0"/>
                </a:solidFill>
                <a:latin typeface="Calibri"/>
              </a:rPr>
              <a:t>  size        bytes</a:t>
            </a:r>
          </a:p>
          <a:p>
            <a:pPr algn="l">
              <a:spcBef>
                <a:spcPts val="0"/>
              </a:spcBef>
              <a:spcAft>
                <a:spcPts val="100"/>
              </a:spcAft>
            </a:pPr>
            <a:r>
              <a:rPr sz="1100" b="0" i="0">
                <a:solidFill>
                  <a:srgbClr val="6A8AB0"/>
                </a:solidFill>
                <a:latin typeface="Calibri"/>
              </a:rPr>
              <a:t>  last_modified  ISO datetime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Default bucket:</a:t>
            </a:r>
          </a:p>
          <a:p>
            <a:pPr algn="l">
              <a:spcBef>
                <a:spcPts val="0"/>
              </a:spcBef>
              <a:spcAft>
                <a:spcPts val="100"/>
              </a:spcAft>
            </a:pPr>
            <a:r>
              <a:rPr sz="1100" b="0" i="0">
                <a:solidFill>
                  <a:srgbClr val="6A8AB0"/>
                </a:solidFill>
                <a:latin typeface="Calibri"/>
              </a:rPr>
              <a:t>  chat-ui-documents  (env)</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Lists ALL objects</a:t>
            </a:r>
          </a:p>
          <a:p>
            <a:pPr algn="l">
              <a:spcBef>
                <a:spcPts val="0"/>
              </a:spcBef>
              <a:spcAft>
                <a:spcPts val="100"/>
              </a:spcAft>
            </a:pPr>
            <a:r>
              <a:rPr sz="1200" b="0" i="0">
                <a:solidFill>
                  <a:srgbClr val="D8E8F8"/>
                </a:solidFill>
                <a:latin typeface="Calibri"/>
              </a:rPr>
              <a:t>recursively in bucket</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Paginated: limit / offset</a:t>
            </a:r>
          </a:p>
          <a:p>
            <a:pPr algn="l">
              <a:spcBef>
                <a:spcPts val="0"/>
              </a:spcBef>
              <a:spcAft>
                <a:spcPts val="100"/>
              </a:spcAft>
            </a:pPr>
            <a:r>
              <a:rPr sz="1200" b="0" i="0">
                <a:solidFill>
                  <a:srgbClr val="D8E8F8"/>
                </a:solidFill>
                <a:latin typeface="Calibri"/>
              </a:rPr>
              <a:t>returns total object count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50A18"/>
        </a:solidFill>
        <a:effectLst/>
      </p:bgPr>
    </p:bg>
    <p:spTree>
      <p:nvGrpSpPr>
        <p:cNvPr id="1" name=""/>
        <p:cNvGrpSpPr/>
        <p:nvPr/>
      </p:nvGrpSpPr>
      <p:grpSpPr/>
      <p:sp>
        <p:nvSpPr>
          <p:cNvPr id="2" name="Rectangle 1"/>
          <p:cNvSpPr/>
          <p:nvPr/>
        </p:nvSpPr>
        <p:spPr>
          <a:xfrm>
            <a:off x="164592" y="512064"/>
            <a:ext cx="10214149" cy="713232"/>
          </a:xfrm>
          <a:prstGeom prst="rect">
            <a:avLst/>
          </a:prstGeom>
          <a:solidFill>
            <a:srgbClr val="1E4A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77800" tIns="127000" bIns="50800" wrap="square"/>
          <a:lstStyle/>
          <a:p>
            <a:pPr algn="l">
              <a:spcBef>
                <a:spcPts val="0"/>
              </a:spcBef>
              <a:spcAft>
                <a:spcPts val="0"/>
              </a:spcAft>
            </a:pPr>
            <a:r>
              <a:rPr sz="2200" b="1" i="0">
                <a:solidFill>
                  <a:srgbClr val="FFFFFF"/>
                </a:solidFill>
                <a:latin typeface="Calibri"/>
              </a:rPr>
              <a:t>Runtime Status  —  System Health Monitoring</a:t>
            </a:r>
          </a:p>
        </p:txBody>
      </p:sp>
      <p:sp>
        <p:nvSpPr>
          <p:cNvPr id="3" name="Rectangle 2"/>
          <p:cNvSpPr/>
          <p:nvPr/>
        </p:nvSpPr>
        <p:spPr>
          <a:xfrm>
            <a:off x="10397029" y="512064"/>
            <a:ext cx="1645491" cy="713232"/>
          </a:xfrm>
          <a:prstGeom prst="rect">
            <a:avLst/>
          </a:prstGeom>
          <a:solidFill>
            <a:srgbClr val="0A142E"/>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tIns="101600" lIns="76200"/>
          <a:lstStyle/>
          <a:p>
            <a:pPr algn="ctr">
              <a:spcBef>
                <a:spcPts val="0"/>
              </a:spcBef>
              <a:spcAft>
                <a:spcPts val="0"/>
              </a:spcAft>
            </a:pPr>
            <a:r>
              <a:rPr sz="1500" b="1" i="0">
                <a:solidFill>
                  <a:srgbClr val="FFFFFF"/>
                </a:solidFill>
                <a:latin typeface="Calibri"/>
              </a:rPr>
              <a:t>  KAVIN</a:t>
            </a:r>
          </a:p>
          <a:p>
            <a:pPr algn="ctr">
              <a:spcBef>
                <a:spcPts val="0"/>
              </a:spcBef>
              <a:spcAft>
                <a:spcPts val="0"/>
              </a:spcAft>
            </a:pPr>
            <a:r>
              <a:rPr sz="900" b="0" i="0">
                <a:solidFill>
                  <a:srgbClr val="93C5FD"/>
                </a:solidFill>
                <a:latin typeface="Calibri"/>
              </a:rPr>
              <a:t>Developer Tools</a:t>
            </a:r>
          </a:p>
        </p:txBody>
      </p:sp>
      <p:sp>
        <p:nvSpPr>
          <p:cNvPr id="4" name="TextBox 3"/>
          <p:cNvSpPr txBox="1"/>
          <p:nvPr/>
        </p:nvSpPr>
        <p:spPr>
          <a:xfrm>
            <a:off x="164592" y="1280160"/>
            <a:ext cx="11859641" cy="292608"/>
          </a:xfrm>
          <a:prstGeom prst="rect">
            <a:avLst/>
          </a:prstGeom>
          <a:noFill/>
        </p:spPr>
        <p:txBody>
          <a:bodyPr wrap="square" lIns="50800" tIns="0">
            <a:spAutoFit/>
          </a:bodyPr>
          <a:lstStyle/>
          <a:p>
            <a:pPr algn="l">
              <a:spcBef>
                <a:spcPts val="0"/>
              </a:spcBef>
              <a:spcAft>
                <a:spcPts val="0"/>
              </a:spcAft>
            </a:pPr>
            <a:r>
              <a:rPr sz="1100" b="0" i="1">
                <a:solidFill>
                  <a:srgbClr val="93C5FD"/>
                </a:solidFill>
                <a:latin typeface="Calibri"/>
              </a:rPr>
              <a:t>GET /devtools/runtime  |  GET /devtools/models/active  |  Real-time hardware &amp; service readiness</a:t>
            </a:r>
          </a:p>
        </p:txBody>
      </p:sp>
      <p:sp>
        <p:nvSpPr>
          <p:cNvPr id="5" name="Rectangle 4"/>
          <p:cNvSpPr/>
          <p:nvPr/>
        </p:nvSpPr>
        <p:spPr>
          <a:xfrm>
            <a:off x="182880" y="1627632"/>
            <a:ext cx="5820092" cy="2441448"/>
          </a:xfrm>
          <a:prstGeom prst="rect">
            <a:avLst/>
          </a:prstGeom>
          <a:solidFill>
            <a:srgbClr val="0D1B38"/>
          </a:solidFill>
          <a:ln w="2286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3B82F6"/>
                </a:solidFill>
                <a:latin typeface="Calibri"/>
              </a:rPr>
              <a:t>GPU  GPU &amp; Compute</a:t>
            </a:r>
          </a:p>
        </p:txBody>
      </p:sp>
      <p:sp>
        <p:nvSpPr>
          <p:cNvPr id="6" name="Rectangle 5"/>
          <p:cNvSpPr/>
          <p:nvPr/>
        </p:nvSpPr>
        <p:spPr>
          <a:xfrm>
            <a:off x="256032" y="2029968"/>
            <a:ext cx="5673788" cy="1280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2066543"/>
            <a:ext cx="5673788" cy="1929384"/>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Device name (e.g. NVIDIA RTX 3090)</a:t>
            </a:r>
          </a:p>
          <a:p>
            <a:pPr algn="l">
              <a:spcBef>
                <a:spcPts val="0"/>
              </a:spcBef>
              <a:spcAft>
                <a:spcPts val="100"/>
              </a:spcAft>
            </a:pPr>
            <a:r>
              <a:rPr sz="1200" b="0" i="0">
                <a:solidFill>
                  <a:srgbClr val="D8E8F8"/>
                </a:solidFill>
                <a:latin typeface="Calibri"/>
              </a:rPr>
              <a:t>VRAM total  /  free  /  used  (GB)</a:t>
            </a:r>
          </a:p>
          <a:p>
            <a:pPr algn="l">
              <a:spcBef>
                <a:spcPts val="0"/>
              </a:spcBef>
              <a:spcAft>
                <a:spcPts val="100"/>
              </a:spcAft>
            </a:pPr>
            <a:r>
              <a:rPr sz="1200" b="0" i="0">
                <a:solidFill>
                  <a:srgbClr val="D8E8F8"/>
                </a:solidFill>
                <a:latin typeface="Calibri"/>
              </a:rPr>
              <a:t>CUDA version detected by torch</a:t>
            </a:r>
          </a:p>
          <a:p>
            <a:pPr algn="l">
              <a:spcBef>
                <a:spcPts val="0"/>
              </a:spcBef>
              <a:spcAft>
                <a:spcPts val="100"/>
              </a:spcAft>
            </a:pPr>
            <a:r>
              <a:rPr sz="1200" b="0" i="0">
                <a:solidFill>
                  <a:srgbClr val="D8E8F8"/>
                </a:solidFill>
                <a:latin typeface="Calibri"/>
              </a:rPr>
              <a:t>torch version + build config</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Used to determine:</a:t>
            </a:r>
          </a:p>
          <a:p>
            <a:pPr algn="l">
              <a:spcBef>
                <a:spcPts val="0"/>
              </a:spcBef>
              <a:spcAft>
                <a:spcPts val="100"/>
              </a:spcAft>
            </a:pPr>
            <a:r>
              <a:rPr sz="1100" b="0" i="0">
                <a:solidFill>
                  <a:srgbClr val="6A8AB0"/>
                </a:solidFill>
                <a:latin typeface="Calibri"/>
              </a:rPr>
              <a:t>  base vs lite mode auto-selection</a:t>
            </a:r>
          </a:p>
          <a:p>
            <a:pPr algn="l">
              <a:spcBef>
                <a:spcPts val="0"/>
              </a:spcBef>
              <a:spcAft>
                <a:spcPts val="100"/>
              </a:spcAft>
            </a:pPr>
            <a:r>
              <a:rPr sz="1100" b="0" i="0">
                <a:solidFill>
                  <a:srgbClr val="6A8AB0"/>
                </a:solidFill>
                <a:latin typeface="Calibri"/>
              </a:rPr>
              <a:t>  Whether model fits in VRAM</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Fallback: CPU-only mode reported</a:t>
            </a:r>
          </a:p>
        </p:txBody>
      </p:sp>
      <p:sp>
        <p:nvSpPr>
          <p:cNvPr id="8" name="Rectangle 7"/>
          <p:cNvSpPr/>
          <p:nvPr/>
        </p:nvSpPr>
        <p:spPr>
          <a:xfrm>
            <a:off x="6185852" y="1627632"/>
            <a:ext cx="5820092" cy="2441448"/>
          </a:xfrm>
          <a:prstGeom prst="rect">
            <a:avLst/>
          </a:prstGeom>
          <a:solidFill>
            <a:srgbClr val="0D1B38"/>
          </a:solidFill>
          <a:ln w="2286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EF4444"/>
                </a:solidFill>
                <a:latin typeface="Calibri"/>
              </a:rPr>
              <a:t>MQ  RabbitMQ Broker</a:t>
            </a:r>
          </a:p>
        </p:txBody>
      </p:sp>
      <p:sp>
        <p:nvSpPr>
          <p:cNvPr id="9" name="Rectangle 8"/>
          <p:cNvSpPr/>
          <p:nvPr/>
        </p:nvSpPr>
        <p:spPr>
          <a:xfrm>
            <a:off x="6259004" y="2029968"/>
            <a:ext cx="5673788" cy="12801"/>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9004" y="2066543"/>
            <a:ext cx="5673788" cy="1929384"/>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Broker reachability ping result</a:t>
            </a:r>
          </a:p>
          <a:p>
            <a:pPr algn="l">
              <a:spcBef>
                <a:spcPts val="0"/>
              </a:spcBef>
              <a:spcAft>
                <a:spcPts val="100"/>
              </a:spcAft>
            </a:pPr>
            <a:r>
              <a:rPr sz="1200" b="0" i="0">
                <a:solidFill>
                  <a:srgbClr val="D8E8F8"/>
                </a:solidFill>
                <a:latin typeface="Calibri"/>
              </a:rPr>
              <a:t>If unreachable: error message shown</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Queue depths reported:</a:t>
            </a:r>
          </a:p>
          <a:p>
            <a:pPr algn="l">
              <a:spcBef>
                <a:spcPts val="0"/>
              </a:spcBef>
              <a:spcAft>
                <a:spcPts val="100"/>
              </a:spcAft>
            </a:pPr>
            <a:r>
              <a:rPr sz="1100" b="0" i="0">
                <a:solidFill>
                  <a:srgbClr val="6A8AB0"/>
                </a:solidFill>
                <a:latin typeface="Calibri"/>
              </a:rPr>
              <a:t>  default        general tasks</a:t>
            </a:r>
          </a:p>
          <a:p>
            <a:pPr algn="l">
              <a:spcBef>
                <a:spcPts val="0"/>
              </a:spcBef>
              <a:spcAft>
                <a:spcPts val="100"/>
              </a:spcAft>
            </a:pPr>
            <a:r>
              <a:rPr sz="1100" b="0" i="0">
                <a:solidFill>
                  <a:srgbClr val="6A8AB0"/>
                </a:solidFill>
                <a:latin typeface="Calibri"/>
              </a:rPr>
              <a:t>  rag_ingest     document pipeline</a:t>
            </a:r>
          </a:p>
          <a:p>
            <a:pPr algn="l">
              <a:spcBef>
                <a:spcPts val="0"/>
              </a:spcBef>
              <a:spcAft>
                <a:spcPts val="100"/>
              </a:spcAft>
            </a:pPr>
            <a:r>
              <a:rPr sz="1100" b="0" i="0">
                <a:solidFill>
                  <a:srgbClr val="6A8AB0"/>
                </a:solidFill>
                <a:latin typeface="Calibri"/>
              </a:rPr>
              <a:t>  rag_high_mem   large PDF jobs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Used by Celery for task routing</a:t>
            </a:r>
          </a:p>
          <a:p>
            <a:pPr algn="l">
              <a:spcBef>
                <a:spcPts val="0"/>
              </a:spcBef>
              <a:spcAft>
                <a:spcPts val="100"/>
              </a:spcAft>
            </a:pPr>
            <a:r>
              <a:rPr sz="1200" b="0" i="0">
                <a:solidFill>
                  <a:srgbClr val="D8E8F8"/>
                </a:solidFill>
                <a:latin typeface="Calibri"/>
              </a:rPr>
              <a:t>High queue depth = ingestion backlog</a:t>
            </a:r>
          </a:p>
        </p:txBody>
      </p:sp>
      <p:sp>
        <p:nvSpPr>
          <p:cNvPr id="11" name="Rectangle 10"/>
          <p:cNvSpPr/>
          <p:nvPr/>
        </p:nvSpPr>
        <p:spPr>
          <a:xfrm>
            <a:off x="182880" y="4169663"/>
            <a:ext cx="5820092" cy="2441448"/>
          </a:xfrm>
          <a:prstGeom prst="rect">
            <a:avLst/>
          </a:prstGeom>
          <a:solidFill>
            <a:srgbClr val="0D1B38"/>
          </a:solidFill>
          <a:ln w="2286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10B981"/>
                </a:solidFill>
                <a:latin typeface="Calibri"/>
              </a:rPr>
              <a:t>WRK  Celery Workers</a:t>
            </a:r>
          </a:p>
        </p:txBody>
      </p:sp>
      <p:sp>
        <p:nvSpPr>
          <p:cNvPr id="12" name="Rectangle 11"/>
          <p:cNvSpPr/>
          <p:nvPr/>
        </p:nvSpPr>
        <p:spPr>
          <a:xfrm>
            <a:off x="256032" y="4572000"/>
            <a:ext cx="5673788" cy="128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 y="4608575"/>
            <a:ext cx="5673788" cy="1929384"/>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Active worker list with hostnames</a:t>
            </a:r>
          </a:p>
          <a:p>
            <a:pPr algn="l">
              <a:spcBef>
                <a:spcPts val="0"/>
              </a:spcBef>
              <a:spcAft>
                <a:spcPts val="100"/>
              </a:spcAft>
            </a:pPr>
            <a:r>
              <a:rPr sz="1200" b="0" i="0">
                <a:solidFill>
                  <a:srgbClr val="D8E8F8"/>
                </a:solidFill>
                <a:latin typeface="Calibri"/>
              </a:rPr>
              <a:t>Task count per worker instance</a:t>
            </a:r>
          </a:p>
          <a:p>
            <a:pPr algn="l">
              <a:spcBef>
                <a:spcPts val="0"/>
              </a:spcBef>
              <a:spcAft>
                <a:spcPts val="100"/>
              </a:spcAft>
            </a:pPr>
            <a:r>
              <a:rPr sz="1200" b="0" i="0">
                <a:solidFill>
                  <a:srgbClr val="D8E8F8"/>
                </a:solidFill>
                <a:latin typeface="Calibri"/>
              </a:rPr>
              <a:t>Queue assignments per worker</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Worker types:</a:t>
            </a:r>
          </a:p>
          <a:p>
            <a:pPr algn="l">
              <a:spcBef>
                <a:spcPts val="0"/>
              </a:spcBef>
              <a:spcAft>
                <a:spcPts val="100"/>
              </a:spcAft>
            </a:pPr>
            <a:r>
              <a:rPr sz="1100" b="0" i="0">
                <a:solidFill>
                  <a:srgbClr val="6A8AB0"/>
                </a:solidFill>
                <a:latin typeface="Calibri"/>
              </a:rPr>
              <a:t>  default       — light async tasks</a:t>
            </a:r>
          </a:p>
          <a:p>
            <a:pPr algn="l">
              <a:spcBef>
                <a:spcPts val="0"/>
              </a:spcBef>
              <a:spcAft>
                <a:spcPts val="100"/>
              </a:spcAft>
            </a:pPr>
            <a:r>
              <a:rPr sz="1100" b="0" i="0">
                <a:solidFill>
                  <a:srgbClr val="6A8AB0"/>
                </a:solidFill>
                <a:latin typeface="Calibri"/>
              </a:rPr>
              <a:t>  rag_ingest    — PDF chunking</a:t>
            </a:r>
          </a:p>
          <a:p>
            <a:pPr algn="l">
              <a:spcBef>
                <a:spcPts val="0"/>
              </a:spcBef>
              <a:spcAft>
                <a:spcPts val="100"/>
              </a:spcAft>
            </a:pPr>
            <a:r>
              <a:rPr sz="1100" b="0" i="0">
                <a:solidFill>
                  <a:srgbClr val="6A8AB0"/>
                </a:solidFill>
                <a:latin typeface="Calibri"/>
              </a:rPr>
              <a:t>  rag_high_mem  — unstructured hi_res</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Zero workers = upload pipeline stalled</a:t>
            </a:r>
          </a:p>
        </p:txBody>
      </p:sp>
      <p:sp>
        <p:nvSpPr>
          <p:cNvPr id="14" name="Rectangle 13"/>
          <p:cNvSpPr/>
          <p:nvPr/>
        </p:nvSpPr>
        <p:spPr>
          <a:xfrm>
            <a:off x="6185852" y="4169663"/>
            <a:ext cx="5820092" cy="2441448"/>
          </a:xfrm>
          <a:prstGeom prst="rect">
            <a:avLst/>
          </a:prstGeom>
          <a:solidFill>
            <a:srgbClr val="0D1B38"/>
          </a:solidFill>
          <a:ln w="2286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76200" tIns="127000" bIns="76200"/>
          <a:lstStyle/>
          <a:p>
            <a:pPr algn="l">
              <a:spcBef>
                <a:spcPts val="0"/>
              </a:spcBef>
              <a:spcAft>
                <a:spcPts val="400"/>
              </a:spcAft>
            </a:pPr>
            <a:r>
              <a:rPr sz="1400" b="1" i="0">
                <a:solidFill>
                  <a:srgbClr val="8B5CF6"/>
                </a:solidFill>
                <a:latin typeface="Calibri"/>
              </a:rPr>
              <a:t>SW  Active Model Readiness</a:t>
            </a:r>
          </a:p>
        </p:txBody>
      </p:sp>
      <p:sp>
        <p:nvSpPr>
          <p:cNvPr id="15" name="Rectangle 14"/>
          <p:cNvSpPr/>
          <p:nvPr/>
        </p:nvSpPr>
        <p:spPr>
          <a:xfrm>
            <a:off x="6259004" y="4572000"/>
            <a:ext cx="5673788" cy="12801"/>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9004" y="4608575"/>
            <a:ext cx="5673788" cy="1929384"/>
          </a:xfrm>
          <a:prstGeom prst="rect">
            <a:avLst/>
          </a:prstGeom>
          <a:noFill/>
        </p:spPr>
        <p:txBody>
          <a:bodyPr wrap="square" lIns="50800" tIns="50800" rIns="50800" bIns="50800">
            <a:spAutoFit/>
          </a:bodyPr>
          <a:lstStyle/>
          <a:p>
            <a:pPr algn="l">
              <a:spcBef>
                <a:spcPts val="0"/>
              </a:spcBef>
              <a:spcAft>
                <a:spcPts val="100"/>
              </a:spcAft>
            </a:pPr>
            <a:r>
              <a:rPr sz="1200" b="0" i="0">
                <a:solidFill>
                  <a:srgbClr val="D8E8F8"/>
                </a:solidFill>
                <a:latin typeface="Calibri"/>
              </a:rPr>
              <a:t>GET /devtools/models/active</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For each mode (base / lite / net):</a:t>
            </a:r>
          </a:p>
          <a:p>
            <a:pPr algn="l">
              <a:spcBef>
                <a:spcPts val="0"/>
              </a:spcBef>
              <a:spcAft>
                <a:spcPts val="100"/>
              </a:spcAft>
            </a:pPr>
            <a:r>
              <a:rPr sz="1100" b="0" i="0">
                <a:solidFill>
                  <a:srgbClr val="6A8AB0"/>
                </a:solidFill>
                <a:latin typeface="Calibri"/>
              </a:rPr>
              <a:t>  configured_model_id</a:t>
            </a:r>
          </a:p>
          <a:p>
            <a:pPr algn="l">
              <a:spcBef>
                <a:spcPts val="0"/>
              </a:spcBef>
              <a:spcAft>
                <a:spcPts val="100"/>
              </a:spcAft>
            </a:pPr>
            <a:r>
              <a:rPr sz="1100" b="0" i="0">
                <a:solidFill>
                  <a:srgbClr val="6A8AB0"/>
                </a:solidFill>
                <a:latin typeface="Calibri"/>
              </a:rPr>
              <a:t>  effective_model_id (resolved)</a:t>
            </a:r>
          </a:p>
          <a:p>
            <a:pPr algn="l">
              <a:spcBef>
                <a:spcPts val="0"/>
              </a:spcBef>
              <a:spcAft>
                <a:spcPts val="100"/>
              </a:spcAft>
            </a:pPr>
            <a:r>
              <a:rPr sz="1100" b="0" i="0">
                <a:solidFill>
                  <a:srgbClr val="6A8AB0"/>
                </a:solidFill>
                <a:latin typeface="Calibri"/>
              </a:rPr>
              <a:t>  type: gguf | hf | net</a:t>
            </a:r>
          </a:p>
          <a:p>
            <a:pPr algn="l">
              <a:spcBef>
                <a:spcPts val="0"/>
              </a:spcBef>
              <a:spcAft>
                <a:spcPts val="100"/>
              </a:spcAft>
            </a:pPr>
            <a:r>
              <a:rPr sz="1100" b="0" i="0">
                <a:solidFill>
                  <a:srgbClr val="6A8AB0"/>
                </a:solidFill>
                <a:latin typeface="Calibri"/>
              </a:rPr>
              <a:t>  path: local file or cache dir</a:t>
            </a:r>
          </a:p>
          <a:p>
            <a:pPr algn="l">
              <a:spcBef>
                <a:spcPts val="0"/>
              </a:spcBef>
              <a:spcAft>
                <a:spcPts val="100"/>
              </a:spcAft>
            </a:pPr>
            <a:r>
              <a:rPr sz="1100" b="0" i="0">
                <a:solidFill>
                  <a:srgbClr val="6A8AB0"/>
                </a:solidFill>
                <a:latin typeface="Calibri"/>
              </a:rPr>
              <a:t>  ready: file/snapshot exists</a:t>
            </a:r>
          </a:p>
          <a:p>
            <a:pPr algn="l">
              <a:spcBef>
                <a:spcPts val="0"/>
              </a:spcBef>
              <a:spcAft>
                <a:spcPts val="100"/>
              </a:spcAft>
            </a:pPr>
            <a:r>
              <a:rPr sz="1100" b="0" i="0">
                <a:solidFill>
                  <a:srgbClr val="6A8AB0"/>
                </a:solidFill>
                <a:latin typeface="Calibri"/>
              </a:rPr>
              <a:t>  loaded: currently in RAM</a:t>
            </a:r>
          </a:p>
          <a:p>
            <a:pPr algn="l">
              <a:spcBef>
                <a:spcPts val="0"/>
              </a:spcBef>
              <a:spcAft>
                <a:spcPts val="100"/>
              </a:spcAft>
            </a:pPr>
            <a:r>
              <a:rPr sz="1100" b="0" i="0">
                <a:solidFill>
                  <a:srgbClr val="6A8AB0"/>
                </a:solidFill>
                <a:latin typeface="Calibri"/>
              </a:rPr>
              <a:t>  error: reason if not ready</a:t>
            </a:r>
          </a:p>
          <a:p>
            <a:pPr algn="l">
              <a:spcBef>
                <a:spcPts val="0"/>
              </a:spcBef>
              <a:spcAft>
                <a:spcPts val="100"/>
              </a:spcAft>
            </a:pPr>
            <a:r>
              <a:rPr sz="1200" b="0" i="0">
                <a:solidFill>
                  <a:srgbClr val="D8E8F8"/>
                </a:solidFill>
                <a:latin typeface="Calibri"/>
              </a:rPr>
              <a:t/>
            </a:r>
          </a:p>
          <a:p>
            <a:pPr algn="l">
              <a:spcBef>
                <a:spcPts val="0"/>
              </a:spcBef>
              <a:spcAft>
                <a:spcPts val="100"/>
              </a:spcAft>
            </a:pPr>
            <a:r>
              <a:rPr sz="1200" b="0" i="0">
                <a:solidFill>
                  <a:srgbClr val="D8E8F8"/>
                </a:solidFill>
                <a:latin typeface="Calibri"/>
              </a:rPr>
              <a:t>net mode also reports:</a:t>
            </a:r>
          </a:p>
          <a:p>
            <a:pPr algn="l">
              <a:spcBef>
                <a:spcPts val="0"/>
              </a:spcBef>
              <a:spcAft>
                <a:spcPts val="100"/>
              </a:spcAft>
            </a:pPr>
            <a:r>
              <a:rPr sz="1100" b="0" i="0">
                <a:solidFill>
                  <a:srgbClr val="6A8AB0"/>
                </a:solidFill>
                <a:latin typeface="Calibri"/>
              </a:rPr>
              <a:t>  provider name + api key present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50A18"/>
        </a:solidFill>
        <a:effectLst/>
      </p:bgPr>
    </p:bg>
    <p:spTree>
      <p:nvGrpSpPr>
        <p:cNvPr id="1" name=""/>
        <p:cNvGrpSpPr/>
        <p:nvPr/>
      </p:nvGrpSpPr>
      <p:grpSpPr/>
      <p:sp>
        <p:nvSpPr>
          <p:cNvPr id="2" name="Rectangle 1"/>
          <p:cNvSpPr/>
          <p:nvPr/>
        </p:nvSpPr>
        <p:spPr>
          <a:xfrm>
            <a:off x="164592" y="512064"/>
            <a:ext cx="10214149" cy="713232"/>
          </a:xfrm>
          <a:prstGeom prst="rect">
            <a:avLst/>
          </a:prstGeom>
          <a:solidFill>
            <a:srgbClr val="1E4A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77800" tIns="127000" bIns="50800" wrap="square"/>
          <a:lstStyle/>
          <a:p>
            <a:pPr algn="l">
              <a:spcBef>
                <a:spcPts val="0"/>
              </a:spcBef>
              <a:spcAft>
                <a:spcPts val="0"/>
              </a:spcAft>
            </a:pPr>
            <a:r>
              <a:rPr sz="2200" b="1" i="0">
                <a:solidFill>
                  <a:srgbClr val="FFFFFF"/>
                </a:solidFill>
                <a:latin typeface="Calibri"/>
              </a:rPr>
              <a:t>System Reset Controls  —  Admin Destructive Operations</a:t>
            </a:r>
          </a:p>
        </p:txBody>
      </p:sp>
      <p:sp>
        <p:nvSpPr>
          <p:cNvPr id="3" name="Rectangle 2"/>
          <p:cNvSpPr/>
          <p:nvPr/>
        </p:nvSpPr>
        <p:spPr>
          <a:xfrm>
            <a:off x="10397029" y="512064"/>
            <a:ext cx="1645491" cy="713232"/>
          </a:xfrm>
          <a:prstGeom prst="rect">
            <a:avLst/>
          </a:prstGeom>
          <a:solidFill>
            <a:srgbClr val="0A142E"/>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tIns="101600" lIns="76200"/>
          <a:lstStyle/>
          <a:p>
            <a:pPr algn="ctr">
              <a:spcBef>
                <a:spcPts val="0"/>
              </a:spcBef>
              <a:spcAft>
                <a:spcPts val="0"/>
              </a:spcAft>
            </a:pPr>
            <a:r>
              <a:rPr sz="1500" b="1" i="0">
                <a:solidFill>
                  <a:srgbClr val="FFFFFF"/>
                </a:solidFill>
                <a:latin typeface="Calibri"/>
              </a:rPr>
              <a:t>  KAVIN</a:t>
            </a:r>
          </a:p>
          <a:p>
            <a:pPr algn="ctr">
              <a:spcBef>
                <a:spcPts val="0"/>
              </a:spcBef>
              <a:spcAft>
                <a:spcPts val="0"/>
              </a:spcAft>
            </a:pPr>
            <a:r>
              <a:rPr sz="900" b="0" i="0">
                <a:solidFill>
                  <a:srgbClr val="93C5FD"/>
                </a:solidFill>
                <a:latin typeface="Calibri"/>
              </a:rPr>
              <a:t>Developer Tools</a:t>
            </a:r>
          </a:p>
        </p:txBody>
      </p:sp>
      <p:sp>
        <p:nvSpPr>
          <p:cNvPr id="4" name="TextBox 3"/>
          <p:cNvSpPr txBox="1"/>
          <p:nvPr/>
        </p:nvSpPr>
        <p:spPr>
          <a:xfrm>
            <a:off x="164592" y="1280160"/>
            <a:ext cx="11859641" cy="292608"/>
          </a:xfrm>
          <a:prstGeom prst="rect">
            <a:avLst/>
          </a:prstGeom>
          <a:noFill/>
        </p:spPr>
        <p:txBody>
          <a:bodyPr wrap="square" lIns="50800" tIns="0">
            <a:spAutoFit/>
          </a:bodyPr>
          <a:lstStyle/>
          <a:p>
            <a:pPr algn="l">
              <a:spcBef>
                <a:spcPts val="0"/>
              </a:spcBef>
              <a:spcAft>
                <a:spcPts val="0"/>
              </a:spcAft>
            </a:pPr>
            <a:r>
              <a:rPr sz="1100" b="0" i="1">
                <a:solidFill>
                  <a:srgbClr val="93C5FD"/>
                </a:solidFill>
                <a:latin typeface="Calibri"/>
              </a:rPr>
              <a:t>Guarded by env flag + confirmation phrase  |  Each layer can be reset independently or all at once</a:t>
            </a:r>
          </a:p>
        </p:txBody>
      </p:sp>
      <p:sp>
        <p:nvSpPr>
          <p:cNvPr id="5" name="Rectangle 4"/>
          <p:cNvSpPr/>
          <p:nvPr/>
        </p:nvSpPr>
        <p:spPr>
          <a:xfrm>
            <a:off x="182880" y="1627632"/>
            <a:ext cx="11823065" cy="822960"/>
          </a:xfrm>
          <a:prstGeom prst="rect">
            <a:avLst/>
          </a:prstGeom>
          <a:solidFill>
            <a:srgbClr val="3A0808"/>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lIns="152400" tIns="101600" wrap="square"/>
          <a:lstStyle/>
          <a:p>
            <a:pPr algn="l">
              <a:spcBef>
                <a:spcPts val="0"/>
              </a:spcBef>
              <a:spcAft>
                <a:spcPts val="300"/>
              </a:spcAft>
            </a:pPr>
            <a:r>
              <a:rPr sz="1200" b="1" i="0">
                <a:solidFill>
                  <a:srgbClr val="EF4444"/>
                </a:solidFill>
                <a:latin typeface="Calibri"/>
              </a:rPr>
              <a:t>SAFETY REQUIREMENTS  —  Both conditions must be met before any reset fires:</a:t>
            </a:r>
          </a:p>
          <a:p>
            <a:pPr algn="l">
              <a:spcBef>
                <a:spcPts val="0"/>
              </a:spcBef>
              <a:spcAft>
                <a:spcPts val="0"/>
              </a:spcAft>
            </a:pPr>
            <a:r>
              <a:rPr sz="1100" b="0" i="0">
                <a:solidFill>
                  <a:srgbClr val="D8E8F8"/>
                </a:solidFill>
                <a:latin typeface="Calibri"/>
              </a:rPr>
              <a:t>  1.  Environment variable  CHAT_UI_ENABLE_DESTRUCTIVE_DEVTOOLS=1  must be set on the server.</a:t>
            </a:r>
          </a:p>
          <a:p>
            <a:pPr algn="l">
              <a:spcBef>
                <a:spcPts val="0"/>
              </a:spcBef>
              <a:spcAft>
                <a:spcPts val="0"/>
              </a:spcAft>
            </a:pPr>
            <a:r>
              <a:rPr sz="1100" b="1" i="0">
                <a:solidFill>
                  <a:srgbClr val="FFFFFF"/>
                </a:solidFill>
                <a:latin typeface="Calibri"/>
              </a:rPr>
              <a:t>  2.  Request body must include:   confirm = 'DELETE_EVERYTHING'</a:t>
            </a:r>
          </a:p>
        </p:txBody>
      </p:sp>
      <p:sp>
        <p:nvSpPr>
          <p:cNvPr id="6" name="Rectangle 5"/>
          <p:cNvSpPr/>
          <p:nvPr/>
        </p:nvSpPr>
        <p:spPr>
          <a:xfrm>
            <a:off x="182880" y="2651760"/>
            <a:ext cx="2159787" cy="3950207"/>
          </a:xfrm>
          <a:prstGeom prst="rect">
            <a:avLst/>
          </a:prstGeom>
          <a:solidFill>
            <a:srgbClr val="0D1B38"/>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3B82F6"/>
                </a:solidFill>
                <a:latin typeface="Calibri"/>
              </a:rPr>
              <a:t>POST /reset/rag</a:t>
            </a:r>
          </a:p>
          <a:p>
            <a:pPr algn="ctr">
              <a:spcBef>
                <a:spcPts val="0"/>
              </a:spcBef>
              <a:spcAft>
                <a:spcPts val="0"/>
              </a:spcAft>
            </a:pPr>
            <a:r>
              <a:rPr sz="1000" b="0" i="0">
                <a:solidFill>
                  <a:srgbClr val="D8E8F8"/>
                </a:solidFill>
                <a:latin typeface="Calibri"/>
              </a:rPr>
              <a:t>TRUNCATE</a:t>
            </a:r>
          </a:p>
          <a:p>
            <a:pPr algn="ctr">
              <a:spcBef>
                <a:spcPts val="0"/>
              </a:spcBef>
              <a:spcAft>
                <a:spcPts val="0"/>
              </a:spcAft>
            </a:pPr>
            <a:r>
              <a:rPr sz="1000" b="0" i="0">
                <a:solidFill>
                  <a:srgbClr val="D8E8F8"/>
                </a:solidFill>
                <a:latin typeface="Calibri"/>
              </a:rPr>
              <a:t>langchain_pg_embedding</a:t>
            </a:r>
          </a:p>
          <a:p>
            <a:pPr algn="ctr">
              <a:spcBef>
                <a:spcPts val="0"/>
              </a:spcBef>
              <a:spcAft>
                <a:spcPts val="0"/>
              </a:spcAft>
            </a:pPr>
            <a:r>
              <a:rPr sz="1000" b="0" i="0">
                <a:solidFill>
                  <a:srgbClr val="D8E8F8"/>
                </a:solidFill>
                <a:latin typeface="Calibri"/>
              </a:rPr>
              <a:t>langchain_pg_collection</a:t>
            </a:r>
          </a:p>
          <a:p>
            <a:pPr algn="ctr">
              <a:spcBef>
                <a:spcPts val="0"/>
              </a:spcBef>
              <a:spcAft>
                <a:spcPts val="0"/>
              </a:spcAft>
            </a:pPr>
            <a:r>
              <a:rPr sz="1000" b="0" i="0">
                <a:solidFill>
                  <a:srgbClr val="D8E8F8"/>
                </a:solidFill>
                <a:latin typeface="Calibri"/>
              </a:rPr>
              <a:t>(clears all vectors)</a:t>
            </a:r>
          </a:p>
        </p:txBody>
      </p:sp>
      <p:sp>
        <p:nvSpPr>
          <p:cNvPr id="7" name="TextBox 6"/>
          <p:cNvSpPr txBox="1"/>
          <p:nvPr/>
        </p:nvSpPr>
        <p:spPr>
          <a:xfrm>
            <a:off x="2370099" y="4462272"/>
            <a:ext cx="201168" cy="329184"/>
          </a:xfrm>
          <a:prstGeom prst="rect">
            <a:avLst/>
          </a:prstGeom>
          <a:noFill/>
        </p:spPr>
        <p:txBody>
          <a:bodyPr wrap="square" tIns="0">
            <a:spAutoFit/>
          </a:bodyPr>
          <a:lstStyle/>
          <a:p>
            <a:pPr algn="ctr">
              <a:spcBef>
                <a:spcPts val="0"/>
              </a:spcBef>
              <a:spcAft>
                <a:spcPts val="0"/>
              </a:spcAft>
            </a:pPr>
            <a:r>
              <a:rPr sz="1800" b="0" i="0">
                <a:solidFill>
                  <a:srgbClr val="3B82F6"/>
                </a:solidFill>
                <a:latin typeface="Calibri"/>
              </a:rPr>
              <a:t>→</a:t>
            </a:r>
          </a:p>
        </p:txBody>
      </p:sp>
      <p:sp>
        <p:nvSpPr>
          <p:cNvPr id="8" name="Rectangle 7"/>
          <p:cNvSpPr/>
          <p:nvPr/>
        </p:nvSpPr>
        <p:spPr>
          <a:xfrm>
            <a:off x="2598699" y="2651760"/>
            <a:ext cx="2159787" cy="3950207"/>
          </a:xfrm>
          <a:prstGeom prst="rect">
            <a:avLst/>
          </a:prstGeom>
          <a:solidFill>
            <a:srgbClr val="0D1B38"/>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8B5CF6"/>
                </a:solidFill>
                <a:latin typeface="Calibri"/>
              </a:rPr>
              <a:t>POST /reset/chat</a:t>
            </a:r>
          </a:p>
          <a:p>
            <a:pPr algn="ctr">
              <a:spcBef>
                <a:spcPts val="0"/>
              </a:spcBef>
              <a:spcAft>
                <a:spcPts val="0"/>
              </a:spcAft>
            </a:pPr>
            <a:r>
              <a:rPr sz="1000" b="0" i="0">
                <a:solidFill>
                  <a:srgbClr val="D8E8F8"/>
                </a:solidFill>
                <a:latin typeface="Calibri"/>
              </a:rPr>
              <a:t>TRUNCATE</a:t>
            </a:r>
          </a:p>
          <a:p>
            <a:pPr algn="ctr">
              <a:spcBef>
                <a:spcPts val="0"/>
              </a:spcBef>
              <a:spcAft>
                <a:spcPts val="0"/>
              </a:spcAft>
            </a:pPr>
            <a:r>
              <a:rPr sz="1000" b="0" i="0">
                <a:solidFill>
                  <a:srgbClr val="D8E8F8"/>
                </a:solidFill>
                <a:latin typeface="Calibri"/>
              </a:rPr>
              <a:t>chat_messages</a:t>
            </a:r>
          </a:p>
          <a:p>
            <a:pPr algn="ctr">
              <a:spcBef>
                <a:spcPts val="0"/>
              </a:spcBef>
              <a:spcAft>
                <a:spcPts val="0"/>
              </a:spcAft>
            </a:pPr>
            <a:r>
              <a:rPr sz="1000" b="0" i="0">
                <a:solidFill>
                  <a:srgbClr val="D8E8F8"/>
                </a:solidFill>
                <a:latin typeface="Calibri"/>
              </a:rPr>
              <a:t>chat_sessions</a:t>
            </a:r>
          </a:p>
          <a:p>
            <a:pPr algn="ctr">
              <a:spcBef>
                <a:spcPts val="0"/>
              </a:spcBef>
              <a:spcAft>
                <a:spcPts val="0"/>
              </a:spcAft>
            </a:pPr>
            <a:r>
              <a:rPr sz="1000" b="0" i="0">
                <a:solidFill>
                  <a:srgbClr val="D8E8F8"/>
                </a:solidFill>
                <a:latin typeface="Calibri"/>
              </a:rPr>
              <a:t>session_topics + docs</a:t>
            </a:r>
          </a:p>
        </p:txBody>
      </p:sp>
      <p:sp>
        <p:nvSpPr>
          <p:cNvPr id="9" name="TextBox 8"/>
          <p:cNvSpPr txBox="1"/>
          <p:nvPr/>
        </p:nvSpPr>
        <p:spPr>
          <a:xfrm>
            <a:off x="4785918" y="4462272"/>
            <a:ext cx="201168" cy="329184"/>
          </a:xfrm>
          <a:prstGeom prst="rect">
            <a:avLst/>
          </a:prstGeom>
          <a:noFill/>
        </p:spPr>
        <p:txBody>
          <a:bodyPr wrap="square" tIns="0">
            <a:spAutoFit/>
          </a:bodyPr>
          <a:lstStyle/>
          <a:p>
            <a:pPr algn="ctr">
              <a:spcBef>
                <a:spcPts val="0"/>
              </a:spcBef>
              <a:spcAft>
                <a:spcPts val="0"/>
              </a:spcAft>
            </a:pPr>
            <a:r>
              <a:rPr sz="1800" b="0" i="0">
                <a:solidFill>
                  <a:srgbClr val="3B82F6"/>
                </a:solidFill>
                <a:latin typeface="Calibri"/>
              </a:rPr>
              <a:t>→</a:t>
            </a:r>
          </a:p>
        </p:txBody>
      </p:sp>
      <p:sp>
        <p:nvSpPr>
          <p:cNvPr id="10" name="Rectangle 9"/>
          <p:cNvSpPr/>
          <p:nvPr/>
        </p:nvSpPr>
        <p:spPr>
          <a:xfrm>
            <a:off x="5014518" y="2651760"/>
            <a:ext cx="2159787" cy="3950207"/>
          </a:xfrm>
          <a:prstGeom prst="rect">
            <a:avLst/>
          </a:prstGeom>
          <a:solidFill>
            <a:srgbClr val="0D1B38"/>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10B981"/>
                </a:solidFill>
                <a:latin typeface="Calibri"/>
              </a:rPr>
              <a:t>POST /reset/redis</a:t>
            </a:r>
          </a:p>
          <a:p>
            <a:pPr algn="ctr">
              <a:spcBef>
                <a:spcPts val="0"/>
              </a:spcBef>
              <a:spcAft>
                <a:spcPts val="0"/>
              </a:spcAft>
            </a:pPr>
            <a:r>
              <a:rPr sz="1000" b="0" i="0">
                <a:solidFill>
                  <a:srgbClr val="D8E8F8"/>
                </a:solidFill>
                <a:latin typeface="Calibri"/>
              </a:rPr>
              <a:t>Delete rag:*</a:t>
            </a:r>
          </a:p>
          <a:p>
            <a:pPr algn="ctr">
              <a:spcBef>
                <a:spcPts val="0"/>
              </a:spcBef>
              <a:spcAft>
                <a:spcPts val="0"/>
              </a:spcAft>
            </a:pPr>
            <a:r>
              <a:rPr sz="1000" b="0" i="0">
                <a:solidFill>
                  <a:srgbClr val="D8E8F8"/>
                </a:solidFill>
                <a:latin typeface="Calibri"/>
              </a:rPr>
              <a:t>and abort:* keys</a:t>
            </a:r>
          </a:p>
          <a:p>
            <a:pPr algn="ctr">
              <a:spcBef>
                <a:spcPts val="0"/>
              </a:spcBef>
              <a:spcAft>
                <a:spcPts val="0"/>
              </a:spcAft>
            </a:pPr>
            <a:r>
              <a:rPr sz="1000" b="0" i="0">
                <a:solidFill>
                  <a:srgbClr val="D8E8F8"/>
                </a:solidFill>
                <a:latin typeface="Calibri"/>
              </a:rPr>
              <a:t>or full flushdb</a:t>
            </a:r>
          </a:p>
          <a:p>
            <a:pPr algn="ctr">
              <a:spcBef>
                <a:spcPts val="0"/>
              </a:spcBef>
              <a:spcAft>
                <a:spcPts val="0"/>
              </a:spcAft>
            </a:pPr>
            <a:r>
              <a:rPr sz="1000" b="0" i="0">
                <a:solidFill>
                  <a:srgbClr val="D8E8F8"/>
                </a:solidFill>
                <a:latin typeface="Calibri"/>
              </a:rPr>
              <a:t>if wipe_all=True</a:t>
            </a:r>
          </a:p>
        </p:txBody>
      </p:sp>
      <p:sp>
        <p:nvSpPr>
          <p:cNvPr id="11" name="TextBox 10"/>
          <p:cNvSpPr txBox="1"/>
          <p:nvPr/>
        </p:nvSpPr>
        <p:spPr>
          <a:xfrm>
            <a:off x="7201738" y="4462272"/>
            <a:ext cx="201168" cy="329184"/>
          </a:xfrm>
          <a:prstGeom prst="rect">
            <a:avLst/>
          </a:prstGeom>
          <a:noFill/>
        </p:spPr>
        <p:txBody>
          <a:bodyPr wrap="square" tIns="0">
            <a:spAutoFit/>
          </a:bodyPr>
          <a:lstStyle/>
          <a:p>
            <a:pPr algn="ctr">
              <a:spcBef>
                <a:spcPts val="0"/>
              </a:spcBef>
              <a:spcAft>
                <a:spcPts val="0"/>
              </a:spcAft>
            </a:pPr>
            <a:r>
              <a:rPr sz="1800" b="0" i="0">
                <a:solidFill>
                  <a:srgbClr val="3B82F6"/>
                </a:solidFill>
                <a:latin typeface="Calibri"/>
              </a:rPr>
              <a:t>→</a:t>
            </a:r>
          </a:p>
        </p:txBody>
      </p:sp>
      <p:sp>
        <p:nvSpPr>
          <p:cNvPr id="12" name="Rectangle 11"/>
          <p:cNvSpPr/>
          <p:nvPr/>
        </p:nvSpPr>
        <p:spPr>
          <a:xfrm>
            <a:off x="7430338" y="2651760"/>
            <a:ext cx="2159787" cy="3950207"/>
          </a:xfrm>
          <a:prstGeom prst="rect">
            <a:avLst/>
          </a:prstGeom>
          <a:solidFill>
            <a:srgbClr val="0D1B38"/>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F59E0B"/>
                </a:solidFill>
                <a:latin typeface="Calibri"/>
              </a:rPr>
              <a:t>POST /reset/minio</a:t>
            </a:r>
          </a:p>
          <a:p>
            <a:pPr algn="ctr">
              <a:spcBef>
                <a:spcPts val="0"/>
              </a:spcBef>
              <a:spcAft>
                <a:spcPts val="0"/>
              </a:spcAft>
            </a:pPr>
            <a:r>
              <a:rPr sz="1000" b="0" i="0">
                <a:solidFill>
                  <a:srgbClr val="D8E8F8"/>
                </a:solidFill>
                <a:latin typeface="Calibri"/>
              </a:rPr>
              <a:t>Remove ALL objects</a:t>
            </a:r>
          </a:p>
          <a:p>
            <a:pPr algn="ctr">
              <a:spcBef>
                <a:spcPts val="0"/>
              </a:spcBef>
              <a:spcAft>
                <a:spcPts val="0"/>
              </a:spcAft>
            </a:pPr>
            <a:r>
              <a:rPr sz="1000" b="0" i="0">
                <a:solidFill>
                  <a:srgbClr val="D8E8F8"/>
                </a:solidFill>
                <a:latin typeface="Calibri"/>
              </a:rPr>
              <a:t>in target bucket</a:t>
            </a:r>
          </a:p>
          <a:p>
            <a:pPr algn="ctr">
              <a:spcBef>
                <a:spcPts val="0"/>
              </a:spcBef>
              <a:spcAft>
                <a:spcPts val="0"/>
              </a:spcAft>
            </a:pPr>
            <a:r>
              <a:rPr sz="1000" b="0" i="0">
                <a:solidFill>
                  <a:srgbClr val="D8E8F8"/>
                </a:solidFill>
                <a:latin typeface="Calibri"/>
              </a:rPr>
              <a:t>minio_bucket field</a:t>
            </a:r>
          </a:p>
          <a:p>
            <a:pPr algn="ctr">
              <a:spcBef>
                <a:spcPts val="0"/>
              </a:spcBef>
              <a:spcAft>
                <a:spcPts val="0"/>
              </a:spcAft>
            </a:pPr>
            <a:r>
              <a:rPr sz="1000" b="0" i="0">
                <a:solidFill>
                  <a:srgbClr val="D8E8F8"/>
                </a:solidFill>
                <a:latin typeface="Calibri"/>
              </a:rPr>
              <a:t>required in body</a:t>
            </a:r>
          </a:p>
        </p:txBody>
      </p:sp>
      <p:sp>
        <p:nvSpPr>
          <p:cNvPr id="13" name="TextBox 12"/>
          <p:cNvSpPr txBox="1"/>
          <p:nvPr/>
        </p:nvSpPr>
        <p:spPr>
          <a:xfrm>
            <a:off x="9617557" y="4462272"/>
            <a:ext cx="201168" cy="329184"/>
          </a:xfrm>
          <a:prstGeom prst="rect">
            <a:avLst/>
          </a:prstGeom>
          <a:noFill/>
        </p:spPr>
        <p:txBody>
          <a:bodyPr wrap="square" tIns="0">
            <a:spAutoFit/>
          </a:bodyPr>
          <a:lstStyle/>
          <a:p>
            <a:pPr algn="ctr">
              <a:spcBef>
                <a:spcPts val="0"/>
              </a:spcBef>
              <a:spcAft>
                <a:spcPts val="0"/>
              </a:spcAft>
            </a:pPr>
            <a:r>
              <a:rPr sz="1800" b="0" i="0">
                <a:solidFill>
                  <a:srgbClr val="3B82F6"/>
                </a:solidFill>
                <a:latin typeface="Calibri"/>
              </a:rPr>
              <a:t>→</a:t>
            </a:r>
          </a:p>
        </p:txBody>
      </p:sp>
      <p:sp>
        <p:nvSpPr>
          <p:cNvPr id="14" name="Rectangle 13"/>
          <p:cNvSpPr/>
          <p:nvPr/>
        </p:nvSpPr>
        <p:spPr>
          <a:xfrm>
            <a:off x="9846157" y="2651760"/>
            <a:ext cx="2159787" cy="3950207"/>
          </a:xfrm>
          <a:prstGeom prst="rect">
            <a:avLst/>
          </a:prstGeom>
          <a:solidFill>
            <a:srgbClr val="0D1B38"/>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50800" tIns="101600" bIns="50800"/>
          <a:lstStyle/>
          <a:p>
            <a:pPr algn="ctr">
              <a:spcBef>
                <a:spcPts val="0"/>
              </a:spcBef>
              <a:spcAft>
                <a:spcPts val="300"/>
              </a:spcAft>
            </a:pPr>
            <a:r>
              <a:rPr sz="1200" b="1" i="0">
                <a:solidFill>
                  <a:srgbClr val="EF4444"/>
                </a:solidFill>
                <a:latin typeface="Calibri"/>
              </a:rPr>
              <a:t>POST /reset/all</a:t>
            </a:r>
          </a:p>
          <a:p>
            <a:pPr algn="ctr">
              <a:spcBef>
                <a:spcPts val="0"/>
              </a:spcBef>
              <a:spcAft>
                <a:spcPts val="0"/>
              </a:spcAft>
            </a:pPr>
            <a:r>
              <a:rPr sz="1000" b="0" i="0">
                <a:solidFill>
                  <a:srgbClr val="D8E8F8"/>
                </a:solidFill>
                <a:latin typeface="Calibri"/>
              </a:rPr>
              <a:t>Chains all 4</a:t>
            </a:r>
          </a:p>
          <a:p>
            <a:pPr algn="ctr">
              <a:spcBef>
                <a:spcPts val="0"/>
              </a:spcBef>
              <a:spcAft>
                <a:spcPts val="0"/>
              </a:spcAft>
            </a:pPr>
            <a:r>
              <a:rPr sz="1000" b="0" i="0">
                <a:solidFill>
                  <a:srgbClr val="D8E8F8"/>
                </a:solidFill>
                <a:latin typeface="Calibri"/>
              </a:rPr>
              <a:t>resets in sequence</a:t>
            </a:r>
          </a:p>
          <a:p>
            <a:pPr algn="ctr">
              <a:spcBef>
                <a:spcPts val="0"/>
              </a:spcBef>
              <a:spcAft>
                <a:spcPts val="0"/>
              </a:spcAft>
            </a:pPr>
            <a:r>
              <a:rPr sz="1000" b="0" i="0">
                <a:solidFill>
                  <a:srgbClr val="D8E8F8"/>
                </a:solidFill>
                <a:latin typeface="Calibri"/>
              </a:rPr>
              <a:t>Returns combined</a:t>
            </a:r>
          </a:p>
          <a:p>
            <a:pPr algn="ctr">
              <a:spcBef>
                <a:spcPts val="0"/>
              </a:spcBef>
              <a:spcAft>
                <a:spcPts val="0"/>
              </a:spcAft>
            </a:pPr>
            <a:r>
              <a:rPr sz="1000" b="0" i="0">
                <a:solidFill>
                  <a:srgbClr val="D8E8F8"/>
                </a:solidFill>
                <a:latin typeface="Calibri"/>
              </a:rPr>
              <a:t>result per target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5670</Words>
  <Application>Microsoft Office PowerPoint</Application>
  <PresentationFormat>Custom</PresentationFormat>
  <Paragraphs>650</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Harish Ramesh</dc:creator>
  <cp:keywords/>
  <dc:description>generated using python-pptx</dc:description>
  <cp:lastModifiedBy>Sabatini Hemanth</cp:lastModifiedBy>
  <cp:revision>5</cp:revision>
  <dcterms:created xsi:type="dcterms:W3CDTF">2013-01-27T09:14:16Z</dcterms:created>
  <dcterms:modified xsi:type="dcterms:W3CDTF">2026-04-13T05:08:11Z</dcterms:modified>
  <cp:category/>
</cp:coreProperties>
</file>