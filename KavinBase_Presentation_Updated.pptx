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87" r:id="rId6"/>
    <p:sldId id="260" r:id="rId7"/>
    <p:sldId id="261" r:id="rId8"/>
    <p:sldId id="262" r:id="rId9"/>
    <p:sldId id="263" r:id="rId10"/>
    <p:sldId id="293" r:id="rId11"/>
    <p:sldId id="294" r:id="rId12"/>
    <p:sldId id="264" r:id="rId13"/>
    <p:sldId id="265" r:id="rId14"/>
    <p:sldId id="266" r:id="rId15"/>
    <p:sldId id="267" r:id="rId16"/>
    <p:sldId id="280" r:id="rId17"/>
    <p:sldId id="268" r:id="rId18"/>
    <p:sldId id="288" r:id="rId19"/>
    <p:sldId id="273" r:id="rId20"/>
    <p:sldId id="289" r:id="rId21"/>
    <p:sldId id="277" r:id="rId22"/>
    <p:sldId id="290" r:id="rId23"/>
    <p:sldId id="279" r:id="rId24"/>
    <p:sldId id="291" r:id="rId25"/>
    <p:sldId id="283" r:id="rId26"/>
    <p:sldId id="292" r:id="rId27"/>
    <p:sldId id="285" r:id="rId28"/>
    <p:sldId id="286" r:id="rId29"/>
    <p:sldId id="269" r:id="rId30"/>
    <p:sldId id="270" r:id="rId31"/>
    <p:sldId id="271" r:id="rId32"/>
    <p:sldId id="272" r:id="rId3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8889" autoAdjust="0"/>
  </p:normalViewPr>
  <p:slideViewPr>
    <p:cSldViewPr snapToGrid="0" snapToObjects="1">
      <p:cViewPr varScale="1">
        <p:scale>
          <a:sx n="104" d="100"/>
          <a:sy n="104" d="100"/>
        </p:scale>
        <p:origin x="138" y="3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6C8DC-168B-4403-9429-637099B945EF}"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BADB8-05B4-48AF-9BA4-1C210A9CD1A2}" type="slidenum">
              <a:rPr lang="en-IN" smtClean="0"/>
              <a:t>‹#›</a:t>
            </a:fld>
            <a:endParaRPr lang="en-IN"/>
          </a:p>
        </p:txBody>
      </p:sp>
    </p:spTree>
    <p:extLst>
      <p:ext uri="{BB962C8B-B14F-4D97-AF65-F5344CB8AC3E}">
        <p14:creationId xmlns:p14="http://schemas.microsoft.com/office/powerpoint/2010/main" val="1405708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sir. Today I am presenting </a:t>
            </a:r>
            <a:r>
              <a:rPr lang="en-US" dirty="0" err="1"/>
              <a:t>KavinBase</a:t>
            </a:r>
            <a:r>
              <a:rPr lang="en-US" dirty="0"/>
              <a:t>, an enterprise AI document intelligence platform.</a:t>
            </a:r>
          </a:p>
          <a:p>
            <a:r>
              <a:rPr lang="en-US" dirty="0"/>
              <a:t>The goal of this system is to convert large technical documents into structured, searchable knowledge and generate accurate answers using AI.</a:t>
            </a:r>
          </a:p>
          <a:p>
            <a:r>
              <a:rPr lang="en-US" dirty="0"/>
              <a:t>It combines Hybrid RAG, local LLMs, and an agentic validation pipeline to ensure both accuracy and reliability</a:t>
            </a:r>
          </a:p>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a:t>
            </a:fld>
            <a:endParaRPr lang="en-IN"/>
          </a:p>
        </p:txBody>
      </p:sp>
    </p:spTree>
    <p:extLst>
      <p:ext uri="{BB962C8B-B14F-4D97-AF65-F5344CB8AC3E}">
        <p14:creationId xmlns:p14="http://schemas.microsoft.com/office/powerpoint/2010/main" val="3695471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basically, in real-world projects, engineering documents are very large… sometimes more than 1000 pages.</a:t>
            </a:r>
          </a:p>
          <a:p>
            <a:r>
              <a:rPr lang="en-US" dirty="0"/>
              <a:t>And if someone wants to find a small piece of information, like a revision number or a tag ID, they have to manually go through multiple pages and even multiple documents.</a:t>
            </a:r>
          </a:p>
          <a:p>
            <a:r>
              <a:rPr lang="en-US" dirty="0"/>
              <a:t>This takes a lot of time… and also there is a high chance of missing something or making mistakes.</a:t>
            </a:r>
          </a:p>
          <a:p>
            <a:r>
              <a:rPr lang="en-US" dirty="0"/>
              <a:t>So what </a:t>
            </a:r>
            <a:r>
              <a:rPr lang="en-US" dirty="0" err="1"/>
              <a:t>KavinBase</a:t>
            </a:r>
            <a:r>
              <a:rPr lang="en-US" dirty="0"/>
              <a:t> does is — instead of manually searching, the user can just upload the document once… and then ask questions in simple English.</a:t>
            </a:r>
          </a:p>
          <a:p>
            <a:r>
              <a:rPr lang="en-US" dirty="0"/>
              <a:t>Behind the scenes, the system uses Hybrid RAG to find the correct information, and LLMs to generate a proper answer.</a:t>
            </a:r>
          </a:p>
          <a:p>
            <a:r>
              <a:rPr lang="en-US" dirty="0"/>
              <a:t>And importantly, every answer comes with a citation, so the user can verify where the information came from.</a:t>
            </a:r>
          </a:p>
          <a:p>
            <a:r>
              <a:rPr lang="en-US" dirty="0"/>
              <a:t>So overall, it reduces manual effort and gives faster, more reliable results.</a:t>
            </a:r>
          </a:p>
        </p:txBody>
      </p:sp>
      <p:sp>
        <p:nvSpPr>
          <p:cNvPr id="4" name="Slide Number Placeholder 3"/>
          <p:cNvSpPr>
            <a:spLocks noGrp="1"/>
          </p:cNvSpPr>
          <p:nvPr>
            <p:ph type="sldNum" sz="quarter" idx="5"/>
          </p:nvPr>
        </p:nvSpPr>
        <p:spPr/>
        <p:txBody>
          <a:bodyPr/>
          <a:lstStyle/>
          <a:p>
            <a:fld id="{FE7BADB8-05B4-48AF-9BA4-1C210A9CD1A2}" type="slidenum">
              <a:rPr lang="en-IN" smtClean="0"/>
              <a:t>2</a:t>
            </a:fld>
            <a:endParaRPr lang="en-IN"/>
          </a:p>
        </p:txBody>
      </p:sp>
    </p:spTree>
    <p:extLst>
      <p:ext uri="{BB962C8B-B14F-4D97-AF65-F5344CB8AC3E}">
        <p14:creationId xmlns:p14="http://schemas.microsoft.com/office/powerpoint/2010/main" val="48488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this slide shows the overall architecture of the system.</a:t>
            </a:r>
          </a:p>
          <a:p>
            <a:r>
              <a:rPr lang="en-US" dirty="0"/>
              <a:t>I designed it in a modular way so that each component handles a specific responsibility.</a:t>
            </a:r>
          </a:p>
          <a:p>
            <a:r>
              <a:rPr lang="en-US" dirty="0"/>
              <a:t>The frontend is built using Next.js, which handles the user interface and real-time interaction.</a:t>
            </a:r>
          </a:p>
          <a:p>
            <a:r>
              <a:rPr lang="en-US" dirty="0"/>
              <a:t>The backend uses </a:t>
            </a:r>
            <a:r>
              <a:rPr lang="en-US" dirty="0" err="1"/>
              <a:t>FastAPI</a:t>
            </a:r>
            <a:r>
              <a:rPr lang="en-US" dirty="0"/>
              <a:t>, which manages all the API requests and communication between components.</a:t>
            </a:r>
          </a:p>
          <a:p>
            <a:r>
              <a:rPr lang="en-US" dirty="0"/>
              <a:t>For processing large documents, I use Celery workers, so heavy tasks like PDF ingestion run asynchronously without blocking the system.</a:t>
            </a:r>
          </a:p>
          <a:p>
            <a:r>
              <a:rPr lang="en-US" dirty="0"/>
              <a:t>For storage, </a:t>
            </a:r>
            <a:r>
              <a:rPr lang="en-US" dirty="0" err="1"/>
              <a:t>MinIO</a:t>
            </a:r>
            <a:r>
              <a:rPr lang="en-US" dirty="0"/>
              <a:t> is used to store raw PDF files, and PostgreSQL with </a:t>
            </a:r>
            <a:r>
              <a:rPr lang="en-US" dirty="0" err="1"/>
              <a:t>PGVector</a:t>
            </a:r>
            <a:r>
              <a:rPr lang="en-US" dirty="0"/>
              <a:t> is used to store embeddings and metadata for retrieval.</a:t>
            </a:r>
          </a:p>
          <a:p>
            <a:r>
              <a:rPr lang="en-US" dirty="0"/>
              <a:t>Redis is used for caching, session management, and also as a message broker for task queues.</a:t>
            </a:r>
          </a:p>
          <a:p>
            <a:r>
              <a:rPr lang="en-US" dirty="0"/>
              <a:t>So overall, this architecture allows the system to scale, handle large workloads, and process multiple requests efficiently.</a:t>
            </a:r>
          </a:p>
          <a:p>
            <a:r>
              <a:rPr lang="en-US" dirty="0"/>
              <a:t>This separation of components makes the system scalable and suitable for real-world deployment.</a:t>
            </a:r>
          </a:p>
        </p:txBody>
      </p:sp>
      <p:sp>
        <p:nvSpPr>
          <p:cNvPr id="4" name="Slide Number Placeholder 3"/>
          <p:cNvSpPr>
            <a:spLocks noGrp="1"/>
          </p:cNvSpPr>
          <p:nvPr>
            <p:ph type="sldNum" sz="quarter" idx="5"/>
          </p:nvPr>
        </p:nvSpPr>
        <p:spPr/>
        <p:txBody>
          <a:bodyPr/>
          <a:lstStyle/>
          <a:p>
            <a:fld id="{FE7BADB8-05B4-48AF-9BA4-1C210A9CD1A2}" type="slidenum">
              <a:rPr lang="en-IN" smtClean="0"/>
              <a:t>3</a:t>
            </a:fld>
            <a:endParaRPr lang="en-IN"/>
          </a:p>
        </p:txBody>
      </p:sp>
    </p:spTree>
    <p:extLst>
      <p:ext uri="{BB962C8B-B14F-4D97-AF65-F5344CB8AC3E}">
        <p14:creationId xmlns:p14="http://schemas.microsoft.com/office/powerpoint/2010/main" val="427114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the core retrieval system used in </a:t>
            </a:r>
            <a:r>
              <a:rPr lang="en-US" dirty="0" err="1"/>
              <a:t>KavinBase</a:t>
            </a:r>
            <a:r>
              <a:rPr lang="en-US" dirty="0"/>
              <a:t>.</a:t>
            </a:r>
          </a:p>
          <a:p>
            <a:r>
              <a:rPr lang="en-US" dirty="0"/>
              <a:t>Normally, a basic RAG system uses only vector search, which works based on similarity of meaning.</a:t>
            </a:r>
          </a:p>
          <a:p>
            <a:r>
              <a:rPr lang="en-US" dirty="0"/>
              <a:t>But in technical documents, exact values like tag numbers, revision IDs, or codes are very important… and vector search alone can miss those.</a:t>
            </a:r>
          </a:p>
          <a:p>
            <a:r>
              <a:rPr lang="en-US" dirty="0"/>
              <a:t>So here I use Hybrid RAG, which combines both semantic vector search and keyword-based BM25 search.</a:t>
            </a:r>
          </a:p>
          <a:p>
            <a:r>
              <a:rPr lang="en-US" dirty="0"/>
              <a:t>This way, the system understands both the meaning of the query and also matches exact keywords when needed.</a:t>
            </a:r>
          </a:p>
          <a:p>
            <a:r>
              <a:rPr lang="en-US" dirty="0"/>
              <a:t>On top of that, I use a reranking model, </a:t>
            </a:r>
            <a:r>
              <a:rPr lang="en-US" dirty="0" err="1"/>
              <a:t>FlashRank</a:t>
            </a:r>
            <a:r>
              <a:rPr lang="en-US" dirty="0"/>
              <a:t>, which re-evaluates the retrieved results and selects the most relevant ones.</a:t>
            </a:r>
          </a:p>
          <a:p>
            <a:r>
              <a:rPr lang="en-US" dirty="0"/>
              <a:t>So overall, this approach improves accuracy and ensures the correct information is retrieved from complex technical documents.</a:t>
            </a:r>
          </a:p>
          <a:p>
            <a:r>
              <a:rPr lang="en-US" dirty="0"/>
              <a:t>This is important because technical queries require both semantic understanding and exact matching.</a:t>
            </a:r>
          </a:p>
          <a:p>
            <a:r>
              <a:rPr lang="en-US" dirty="0"/>
              <a:t>This is important because technical queries require both semantic understanding and exact matching.</a:t>
            </a:r>
          </a:p>
        </p:txBody>
      </p:sp>
      <p:sp>
        <p:nvSpPr>
          <p:cNvPr id="4" name="Slide Number Placeholder 3"/>
          <p:cNvSpPr>
            <a:spLocks noGrp="1"/>
          </p:cNvSpPr>
          <p:nvPr>
            <p:ph type="sldNum" sz="quarter" idx="5"/>
          </p:nvPr>
        </p:nvSpPr>
        <p:spPr/>
        <p:txBody>
          <a:bodyPr/>
          <a:lstStyle/>
          <a:p>
            <a:fld id="{FE7BADB8-05B4-48AF-9BA4-1C210A9CD1A2}" type="slidenum">
              <a:rPr lang="en-IN" smtClean="0"/>
              <a:t>4</a:t>
            </a:fld>
            <a:endParaRPr lang="en-IN"/>
          </a:p>
        </p:txBody>
      </p:sp>
    </p:spTree>
    <p:extLst>
      <p:ext uri="{BB962C8B-B14F-4D97-AF65-F5344CB8AC3E}">
        <p14:creationId xmlns:p14="http://schemas.microsoft.com/office/powerpoint/2010/main" val="3348300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 go a step deeper into how retrieval works internally.</a:t>
            </a:r>
          </a:p>
          <a:p>
            <a:r>
              <a:rPr lang="en-US" dirty="0"/>
              <a:t>In technical documents, data is not just plain text… it can be tables, images, or structured rows.</a:t>
            </a:r>
          </a:p>
          <a:p>
            <a:r>
              <a:rPr lang="en-US" dirty="0"/>
              <a:t>So instead of searching everything in the same way, I use something called multi-lane retrieval.</a:t>
            </a:r>
          </a:p>
          <a:p>
            <a:r>
              <a:rPr lang="en-US" dirty="0"/>
              <a:t>That means different types of content like text, tables, and images are searched separately in their own lanes.</a:t>
            </a:r>
          </a:p>
          <a:p>
            <a:r>
              <a:rPr lang="en-US" dirty="0"/>
              <a:t>After retrieving results from each lane, I combine them using a method called Reciprocal Rank Fusion, or RRF.</a:t>
            </a:r>
          </a:p>
          <a:p>
            <a:r>
              <a:rPr lang="en-US" dirty="0"/>
              <a:t>RRF basically merges results from different retrieval methods and balances their importance, instead of relying on just one.</a:t>
            </a:r>
          </a:p>
          <a:p>
            <a:r>
              <a:rPr lang="en-US" dirty="0"/>
              <a:t>Then I apply a </a:t>
            </a:r>
            <a:r>
              <a:rPr lang="en-US" dirty="0" err="1"/>
              <a:t>reranker</a:t>
            </a:r>
            <a:r>
              <a:rPr lang="en-US" dirty="0"/>
              <a:t>, </a:t>
            </a:r>
            <a:r>
              <a:rPr lang="en-US" dirty="0" err="1"/>
              <a:t>FlashRank</a:t>
            </a:r>
            <a:r>
              <a:rPr lang="en-US" dirty="0"/>
              <a:t>, which re-evaluates the top results and selects the most relevant chunks.</a:t>
            </a:r>
          </a:p>
          <a:p>
            <a:r>
              <a:rPr lang="en-US" dirty="0"/>
              <a:t>So this full pipeline ensures that even complex structured data like tables is retrieved accurately. </a:t>
            </a:r>
          </a:p>
          <a:p>
            <a:r>
              <a:rPr lang="en-US" dirty="0"/>
              <a:t>This prevents important structured data from being missed during retrieval.</a:t>
            </a:r>
          </a:p>
        </p:txBody>
      </p:sp>
      <p:sp>
        <p:nvSpPr>
          <p:cNvPr id="4" name="Slide Number Placeholder 3"/>
          <p:cNvSpPr>
            <a:spLocks noGrp="1"/>
          </p:cNvSpPr>
          <p:nvPr>
            <p:ph type="sldNum" sz="quarter" idx="5"/>
          </p:nvPr>
        </p:nvSpPr>
        <p:spPr/>
        <p:txBody>
          <a:bodyPr/>
          <a:lstStyle/>
          <a:p>
            <a:fld id="{FE7BADB8-05B4-48AF-9BA4-1C210A9CD1A2}" type="slidenum">
              <a:rPr lang="en-IN" smtClean="0"/>
              <a:t>5</a:t>
            </a:fld>
            <a:endParaRPr lang="en-IN"/>
          </a:p>
        </p:txBody>
      </p:sp>
    </p:spTree>
    <p:extLst>
      <p:ext uri="{BB962C8B-B14F-4D97-AF65-F5344CB8AC3E}">
        <p14:creationId xmlns:p14="http://schemas.microsoft.com/office/powerpoint/2010/main" val="2976482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this system, LLM means Large Language Model, which is responsible for understanding the query and generating the final answer.</a:t>
            </a:r>
          </a:p>
          <a:p>
            <a:r>
              <a:rPr lang="en-US" dirty="0"/>
              <a:t>Instead of using one large model for everything, I use multiple models, each assigned to a specific task.</a:t>
            </a:r>
          </a:p>
          <a:p>
            <a:r>
              <a:rPr lang="en-US" dirty="0"/>
              <a:t>For example, smaller models like Qwen 0.5B are used for routing, planning, and extracting structured information.</a:t>
            </a:r>
          </a:p>
          <a:p>
            <a:r>
              <a:rPr lang="en-US" dirty="0"/>
              <a:t>A slightly larger model like Qwen 1.5B is used as a reviewer to check if the generated answer is correct and complete.</a:t>
            </a:r>
          </a:p>
          <a:p>
            <a:r>
              <a:rPr lang="en-US" dirty="0"/>
              <a:t>For final answer generation, I use stronger models like Llama 3.1 8B or Qwen 7B, which are better at producing high-quality responses.</a:t>
            </a:r>
          </a:p>
          <a:p>
            <a:r>
              <a:rPr lang="en-US" dirty="0"/>
              <a:t>For embeddings, I use BAAI bge-m3, which converts text into vectors for retrieval.</a:t>
            </a:r>
          </a:p>
          <a:p>
            <a:r>
              <a:rPr lang="en-US" dirty="0"/>
              <a:t>And for intent classification, I use BART MNLI to understand what type of question the user is asking.</a:t>
            </a:r>
          </a:p>
          <a:p>
            <a:r>
              <a:rPr lang="en-US" dirty="0"/>
              <a:t>So overall, instead of overloading a single model, I distribute tasks across multiple models to improve efficiency, reduce cost, and maintain accuracy.</a:t>
            </a:r>
          </a:p>
          <a:p>
            <a:r>
              <a:rPr lang="en-US" dirty="0"/>
              <a:t>This multi-model approach allows the system to balance performance, cost, and scalability effectively.</a:t>
            </a:r>
          </a:p>
        </p:txBody>
      </p:sp>
      <p:sp>
        <p:nvSpPr>
          <p:cNvPr id="4" name="Slide Number Placeholder 3"/>
          <p:cNvSpPr>
            <a:spLocks noGrp="1"/>
          </p:cNvSpPr>
          <p:nvPr>
            <p:ph type="sldNum" sz="quarter" idx="5"/>
          </p:nvPr>
        </p:nvSpPr>
        <p:spPr/>
        <p:txBody>
          <a:bodyPr/>
          <a:lstStyle/>
          <a:p>
            <a:fld id="{FE7BADB8-05B4-48AF-9BA4-1C210A9CD1A2}" type="slidenum">
              <a:rPr lang="en-IN" smtClean="0"/>
              <a:t>6</a:t>
            </a:fld>
            <a:endParaRPr lang="en-IN"/>
          </a:p>
        </p:txBody>
      </p:sp>
    </p:spTree>
    <p:extLst>
      <p:ext uri="{BB962C8B-B14F-4D97-AF65-F5344CB8AC3E}">
        <p14:creationId xmlns:p14="http://schemas.microsoft.com/office/powerpoint/2010/main" val="2230361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explains how a PDF is converted into searchable knowledge.</a:t>
            </a:r>
          </a:p>
          <a:p>
            <a:r>
              <a:rPr lang="en-US" dirty="0"/>
              <a:t>First, the user uploads a document through the frontend, and the file is stored in </a:t>
            </a:r>
            <a:r>
              <a:rPr lang="en-US" dirty="0" err="1"/>
              <a:t>MinIO</a:t>
            </a:r>
            <a:r>
              <a:rPr lang="en-US" dirty="0"/>
              <a:t>.</a:t>
            </a:r>
          </a:p>
          <a:p>
            <a:r>
              <a:rPr lang="en-US" dirty="0"/>
              <a:t>Then the document goes through preprocessing, where tools like </a:t>
            </a:r>
            <a:r>
              <a:rPr lang="en-US" dirty="0" err="1"/>
              <a:t>PyMuPDF</a:t>
            </a:r>
            <a:r>
              <a:rPr lang="en-US" dirty="0"/>
              <a:t> or Unstructured extract the text and structure.</a:t>
            </a:r>
          </a:p>
          <a:p>
            <a:r>
              <a:rPr lang="en-US" dirty="0"/>
              <a:t>After that, we filter out unnecessary content like headers, footers, and noise.</a:t>
            </a:r>
          </a:p>
          <a:p>
            <a:r>
              <a:rPr lang="en-US" dirty="0"/>
              <a:t>Next, the content is grouped into meaningful blocks and then split into chunks based on the document type.</a:t>
            </a:r>
          </a:p>
          <a:p>
            <a:r>
              <a:rPr lang="en-US" dirty="0"/>
              <a:t>We also enrich each chunk with metadata like document ID, revision, page number, and section.</a:t>
            </a:r>
          </a:p>
          <a:p>
            <a:r>
              <a:rPr lang="en-US" dirty="0"/>
              <a:t>Then embeddings are generated using the BGE-M3 model, which converts the text into numerical vectors.</a:t>
            </a:r>
          </a:p>
          <a:p>
            <a:r>
              <a:rPr lang="en-US" dirty="0"/>
              <a:t>Finally, these vectors are stored in </a:t>
            </a:r>
            <a:r>
              <a:rPr lang="en-US" dirty="0" err="1"/>
              <a:t>PGVector</a:t>
            </a:r>
            <a:r>
              <a:rPr lang="en-US" dirty="0"/>
              <a:t> for efficient retrieval.</a:t>
            </a:r>
          </a:p>
          <a:p>
            <a:r>
              <a:rPr lang="en-US" dirty="0"/>
              <a:t>So this entire pipeline allows even very large documents, like 1000+ pages, to be processed and searched efficiently.</a:t>
            </a:r>
          </a:p>
          <a:p>
            <a:r>
              <a:rPr lang="en-US" dirty="0"/>
              <a:t>This preprocessing ensures that the data is clean, structured, and optimized before retrieval.</a:t>
            </a:r>
          </a:p>
        </p:txBody>
      </p:sp>
      <p:sp>
        <p:nvSpPr>
          <p:cNvPr id="4" name="Slide Number Placeholder 3"/>
          <p:cNvSpPr>
            <a:spLocks noGrp="1"/>
          </p:cNvSpPr>
          <p:nvPr>
            <p:ph type="sldNum" sz="quarter" idx="5"/>
          </p:nvPr>
        </p:nvSpPr>
        <p:spPr/>
        <p:txBody>
          <a:bodyPr/>
          <a:lstStyle/>
          <a:p>
            <a:fld id="{FE7BADB8-05B4-48AF-9BA4-1C210A9CD1A2}" type="slidenum">
              <a:rPr lang="en-IN" smtClean="0"/>
              <a:t>7</a:t>
            </a:fld>
            <a:endParaRPr lang="en-IN"/>
          </a:p>
        </p:txBody>
      </p:sp>
    </p:spTree>
    <p:extLst>
      <p:ext uri="{BB962C8B-B14F-4D97-AF65-F5344CB8AC3E}">
        <p14:creationId xmlns:p14="http://schemas.microsoft.com/office/powerpoint/2010/main" val="2941805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shows how the system processes a user query step by step.</a:t>
            </a:r>
          </a:p>
          <a:p>
            <a:r>
              <a:rPr lang="en-US" dirty="0"/>
              <a:t>First, the user asks a question through the frontend, which is sent to the backend.</a:t>
            </a:r>
          </a:p>
          <a:p>
            <a:r>
              <a:rPr lang="en-US" dirty="0"/>
              <a:t>Then the system identifies the intent of the query using a classification model like BART MNLI.</a:t>
            </a:r>
          </a:p>
          <a:p>
            <a:r>
              <a:rPr lang="en-US" dirty="0"/>
              <a:t>Based on the intent, the system selects the appropriate retrieval mode, such as fast, balanced, or high-fidelity.</a:t>
            </a:r>
          </a:p>
          <a:p>
            <a:r>
              <a:rPr lang="en-US" dirty="0"/>
              <a:t>Next, it performs multi-lane retrieval, where different types of content like text, tables, and images are searched separately using both vector and keyword search.</a:t>
            </a:r>
          </a:p>
          <a:p>
            <a:r>
              <a:rPr lang="en-US" dirty="0"/>
              <a:t>The results are then combined using Reciprocal Rank Fusion, and further refined using a </a:t>
            </a:r>
            <a:r>
              <a:rPr lang="en-US" dirty="0" err="1"/>
              <a:t>reranker</a:t>
            </a:r>
            <a:r>
              <a:rPr lang="en-US" dirty="0"/>
              <a:t> like </a:t>
            </a:r>
            <a:r>
              <a:rPr lang="en-US" dirty="0" err="1"/>
              <a:t>FlashRank</a:t>
            </a:r>
            <a:r>
              <a:rPr lang="en-US" dirty="0"/>
              <a:t>.</a:t>
            </a:r>
          </a:p>
          <a:p>
            <a:r>
              <a:rPr lang="en-US" dirty="0"/>
              <a:t>Finally, the LLM, such as Llama 3.1 or Qwen, generates the answer based on the retrieved context.</a:t>
            </a:r>
          </a:p>
          <a:p>
            <a:r>
              <a:rPr lang="en-US" dirty="0"/>
              <a:t>The response is then streamed back to the user in real time.</a:t>
            </a:r>
          </a:p>
          <a:p>
            <a:r>
              <a:rPr lang="en-US" dirty="0"/>
              <a:t>So this pipeline ensures that the system is both accurate and adaptive, instead of using a fixed retrieval approach.</a:t>
            </a:r>
            <a:br>
              <a:rPr lang="en-US" dirty="0"/>
            </a:br>
            <a:r>
              <a:rPr lang="en-US" dirty="0"/>
              <a:t>This combination of retrieval and LLM generation ensures both relevance and correctness in the final answer.</a:t>
            </a:r>
          </a:p>
        </p:txBody>
      </p:sp>
      <p:sp>
        <p:nvSpPr>
          <p:cNvPr id="4" name="Slide Number Placeholder 3"/>
          <p:cNvSpPr>
            <a:spLocks noGrp="1"/>
          </p:cNvSpPr>
          <p:nvPr>
            <p:ph type="sldNum" sz="quarter" idx="5"/>
          </p:nvPr>
        </p:nvSpPr>
        <p:spPr/>
        <p:txBody>
          <a:bodyPr/>
          <a:lstStyle/>
          <a:p>
            <a:fld id="{FE7BADB8-05B4-48AF-9BA4-1C210A9CD1A2}" type="slidenum">
              <a:rPr lang="en-IN" smtClean="0"/>
              <a:t>8</a:t>
            </a:fld>
            <a:endParaRPr lang="en-IN"/>
          </a:p>
        </p:txBody>
      </p:sp>
    </p:spTree>
    <p:extLst>
      <p:ext uri="{BB962C8B-B14F-4D97-AF65-F5344CB8AC3E}">
        <p14:creationId xmlns:p14="http://schemas.microsoft.com/office/powerpoint/2010/main" val="65229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the agentic review pipeline, which acts as a quality control layer in the system.</a:t>
            </a:r>
          </a:p>
          <a:p>
            <a:r>
              <a:rPr lang="en-US" dirty="0"/>
              <a:t>After the initial answer is generated, it doesn’t get directly shown to the user. Instead, it goes through multiple stages.</a:t>
            </a:r>
          </a:p>
          <a:p>
            <a:r>
              <a:rPr lang="en-US" dirty="0"/>
              <a:t>First, a small LLM like Qwen 0.5B acts as a router and planner to understand the query and decide how to process it.</a:t>
            </a:r>
          </a:p>
          <a:p>
            <a:r>
              <a:rPr lang="en-US" dirty="0"/>
              <a:t>Then an extractor pulls structured information like document ID, revision, or key values from the retrieved data.</a:t>
            </a:r>
          </a:p>
          <a:p>
            <a:r>
              <a:rPr lang="en-US" dirty="0"/>
              <a:t>After that, the main LLM, such as Llama 3.1 or Qwen, generates a draft answer.</a:t>
            </a:r>
          </a:p>
          <a:p>
            <a:r>
              <a:rPr lang="en-US" dirty="0"/>
              <a:t>Then a reviewer model, Qwen 1.5B, checks the answer for correctness, completeness, and grounding.</a:t>
            </a:r>
          </a:p>
          <a:p>
            <a:r>
              <a:rPr lang="en-US" dirty="0"/>
              <a:t>Based on this, a gate decides whether to release the answer, retry, or escalate.</a:t>
            </a:r>
          </a:p>
          <a:p>
            <a:r>
              <a:rPr lang="en-US" dirty="0"/>
              <a:t>If needed, a stronger model like Qwen 3B is used for final validation.</a:t>
            </a:r>
          </a:p>
          <a:p>
            <a:r>
              <a:rPr lang="en-US" dirty="0"/>
              <a:t>So instead of directly trusting a single model, the system uses multiple stages to verify the answer before showing it.</a:t>
            </a:r>
            <a:br>
              <a:rPr lang="en-US" dirty="0"/>
            </a:br>
            <a:r>
              <a:rPr lang="en-US" dirty="0"/>
              <a:t>This significantly reduces hallucination and improves reliability of the system.</a:t>
            </a:r>
          </a:p>
        </p:txBody>
      </p:sp>
      <p:sp>
        <p:nvSpPr>
          <p:cNvPr id="4" name="Slide Number Placeholder 3"/>
          <p:cNvSpPr>
            <a:spLocks noGrp="1"/>
          </p:cNvSpPr>
          <p:nvPr>
            <p:ph type="sldNum" sz="quarter" idx="5"/>
          </p:nvPr>
        </p:nvSpPr>
        <p:spPr/>
        <p:txBody>
          <a:bodyPr/>
          <a:lstStyle/>
          <a:p>
            <a:fld id="{FE7BADB8-05B4-48AF-9BA4-1C210A9CD1A2}" type="slidenum">
              <a:rPr lang="en-IN" smtClean="0"/>
              <a:t>9</a:t>
            </a:fld>
            <a:endParaRPr lang="en-IN"/>
          </a:p>
        </p:txBody>
      </p:sp>
    </p:spTree>
    <p:extLst>
      <p:ext uri="{BB962C8B-B14F-4D97-AF65-F5344CB8AC3E}">
        <p14:creationId xmlns:p14="http://schemas.microsoft.com/office/powerpoint/2010/main" val="4030680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 this slide shows the Developer Admin Dashboard, which is used to manage and control the system in real time.</a:t>
            </a:r>
          </a:p>
          <a:p>
            <a:r>
              <a:rPr lang="en-US" dirty="0"/>
              <a:t>One key feature is AI model management, where we can switch between different model modes like local GGUF models, full Hugging Face models, or external API models without restarting the system.</a:t>
            </a:r>
          </a:p>
          <a:p>
            <a:r>
              <a:rPr lang="en-US" dirty="0"/>
              <a:t>It also supports user management, where each user gets isolated resources like their own database, storage, and session space, which improves security and scalability.</a:t>
            </a:r>
          </a:p>
          <a:p>
            <a:r>
              <a:rPr lang="en-US" dirty="0"/>
              <a:t>The dashboard also provides system monitoring features, such as tracking ingestion status, response quality, and system performance like GPU usage and worker activity.</a:t>
            </a:r>
          </a:p>
          <a:p>
            <a:r>
              <a:rPr lang="en-US" dirty="0"/>
              <a:t>Additionally, we have full visibility into storage layers like </a:t>
            </a:r>
            <a:r>
              <a:rPr lang="en-US" dirty="0" err="1"/>
              <a:t>PGVector</a:t>
            </a:r>
            <a:r>
              <a:rPr lang="en-US" dirty="0"/>
              <a:t>, Redis, and </a:t>
            </a:r>
            <a:r>
              <a:rPr lang="en-US" dirty="0" err="1"/>
              <a:t>MinIO</a:t>
            </a:r>
            <a:r>
              <a:rPr lang="en-US" dirty="0"/>
              <a:t>, allowing inspection and control without writing raw queries.</a:t>
            </a:r>
          </a:p>
          <a:p>
            <a:r>
              <a:rPr lang="en-US" dirty="0"/>
              <a:t>So overall, this dashboard makes the system easy to manage, monitor, and scale in a real-world environment</a:t>
            </a:r>
          </a:p>
          <a:p>
            <a:r>
              <a:rPr lang="en-US" dirty="0"/>
              <a:t>This significantly reduces hallucination and improves reliability of the system.</a:t>
            </a:r>
          </a:p>
        </p:txBody>
      </p:sp>
      <p:sp>
        <p:nvSpPr>
          <p:cNvPr id="4" name="Slide Number Placeholder 3"/>
          <p:cNvSpPr>
            <a:spLocks noGrp="1"/>
          </p:cNvSpPr>
          <p:nvPr>
            <p:ph type="sldNum" sz="quarter" idx="5"/>
          </p:nvPr>
        </p:nvSpPr>
        <p:spPr/>
        <p:txBody>
          <a:bodyPr/>
          <a:lstStyle/>
          <a:p>
            <a:fld id="{FE7BADB8-05B4-48AF-9BA4-1C210A9CD1A2}" type="slidenum">
              <a:rPr lang="en-IN" smtClean="0"/>
              <a:t>10</a:t>
            </a:fld>
            <a:endParaRPr lang="en-IN"/>
          </a:p>
        </p:txBody>
      </p:sp>
    </p:spTree>
    <p:extLst>
      <p:ext uri="{BB962C8B-B14F-4D97-AF65-F5344CB8AC3E}">
        <p14:creationId xmlns:p14="http://schemas.microsoft.com/office/powerpoint/2010/main" val="1610409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shows how the system monitors its performance and ensures reliability in real time.</a:t>
            </a:r>
          </a:p>
          <a:p>
            <a:r>
              <a:rPr lang="en-US" dirty="0"/>
              <a:t>First, we track runtime health, such as GPU usage, worker status, and message queues, to make sure all components are running properly.</a:t>
            </a:r>
          </a:p>
          <a:p>
            <a:r>
              <a:rPr lang="en-US" dirty="0"/>
              <a:t>Then we monitor ingestion performance, including how many documents are successfully processed and how many fail, along with average processing time.</a:t>
            </a:r>
          </a:p>
          <a:p>
            <a:r>
              <a:rPr lang="en-US" dirty="0"/>
              <a:t>We also evaluate retrieval quality, where each response is scored as high, medium, or low based on how well it matches the document context.</a:t>
            </a:r>
          </a:p>
          <a:p>
            <a:r>
              <a:rPr lang="en-US" dirty="0"/>
              <a:t>In addition, the system tracks response latency and cache performance to understand how fast and efficient it is.</a:t>
            </a:r>
          </a:p>
          <a:p>
            <a:r>
              <a:rPr lang="en-US" dirty="0"/>
              <a:t>We also collect user feedback, like whether the answer was correct or helpful, which can be used to improve the system over time.</a:t>
            </a:r>
          </a:p>
          <a:p>
            <a:r>
              <a:rPr lang="en-US" dirty="0"/>
              <a:t>So overall, this monitoring layer helps detect issues early, maintain accuracy, and continuously improve system performance. </a:t>
            </a:r>
            <a:br>
              <a:rPr lang="en-US" dirty="0"/>
            </a:br>
            <a:r>
              <a:rPr lang="en-US" dirty="0"/>
              <a:t>This ensures the system is reliable, measurable, and ready for real-world deployment. </a:t>
            </a:r>
          </a:p>
        </p:txBody>
      </p:sp>
      <p:sp>
        <p:nvSpPr>
          <p:cNvPr id="4" name="Slide Number Placeholder 3"/>
          <p:cNvSpPr>
            <a:spLocks noGrp="1"/>
          </p:cNvSpPr>
          <p:nvPr>
            <p:ph type="sldNum" sz="quarter" idx="5"/>
          </p:nvPr>
        </p:nvSpPr>
        <p:spPr/>
        <p:txBody>
          <a:bodyPr/>
          <a:lstStyle/>
          <a:p>
            <a:fld id="{FE7BADB8-05B4-48AF-9BA4-1C210A9CD1A2}" type="slidenum">
              <a:rPr lang="en-IN" smtClean="0"/>
              <a:t>11</a:t>
            </a:fld>
            <a:endParaRPr lang="en-IN"/>
          </a:p>
        </p:txBody>
      </p:sp>
    </p:spTree>
    <p:extLst>
      <p:ext uri="{BB962C8B-B14F-4D97-AF65-F5344CB8AC3E}">
        <p14:creationId xmlns:p14="http://schemas.microsoft.com/office/powerpoint/2010/main" val="2083654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shows the frontend architecture of the system.</a:t>
            </a:r>
          </a:p>
          <a:p>
            <a:r>
              <a:rPr lang="en-US" dirty="0"/>
              <a:t>The frontend is built using Next.js 14 with TypeScript, which helps in building a scalable and structured user interface.</a:t>
            </a:r>
          </a:p>
          <a:p>
            <a:r>
              <a:rPr lang="en-US" dirty="0"/>
              <a:t>It is designed using modular React components, so each part of the UI like chat, sidebar, and upload flow is separated and easy to maintain.</a:t>
            </a:r>
          </a:p>
          <a:p>
            <a:r>
              <a:rPr lang="en-US" dirty="0"/>
              <a:t>The system uses Server-Sent Events, or SSE, to stream responses from the backend in real time, so the user can see the answer being generated token by token.</a:t>
            </a:r>
          </a:p>
          <a:p>
            <a:r>
              <a:rPr lang="en-US" dirty="0"/>
              <a:t>For authentication, JWT-based login is used to securely manage user sessions.</a:t>
            </a:r>
          </a:p>
          <a:p>
            <a:r>
              <a:rPr lang="en-US" dirty="0"/>
              <a:t>It also supports multiple workspace modes like AI chat, PML editor, and team workspace, making the system more flexible for different use cases.</a:t>
            </a:r>
          </a:p>
          <a:p>
            <a:r>
              <a:rPr lang="en-US" dirty="0"/>
              <a:t>So overall, the frontend is designed to be interactive, scalable, and responsive for real-time AI applications.</a:t>
            </a:r>
            <a:br>
              <a:rPr lang="en-US" dirty="0"/>
            </a:br>
            <a:r>
              <a:rPr lang="en-US" dirty="0"/>
              <a:t>This ensures a smooth and real-time user experience while interacting with AI.</a:t>
            </a:r>
          </a:p>
        </p:txBody>
      </p:sp>
      <p:sp>
        <p:nvSpPr>
          <p:cNvPr id="4" name="Slide Number Placeholder 3"/>
          <p:cNvSpPr>
            <a:spLocks noGrp="1"/>
          </p:cNvSpPr>
          <p:nvPr>
            <p:ph type="sldNum" sz="quarter" idx="5"/>
          </p:nvPr>
        </p:nvSpPr>
        <p:spPr/>
        <p:txBody>
          <a:bodyPr/>
          <a:lstStyle/>
          <a:p>
            <a:fld id="{FE7BADB8-05B4-48AF-9BA4-1C210A9CD1A2}" type="slidenum">
              <a:rPr lang="en-IN" smtClean="0"/>
              <a:t>12</a:t>
            </a:fld>
            <a:endParaRPr lang="en-IN"/>
          </a:p>
        </p:txBody>
      </p:sp>
    </p:spTree>
    <p:extLst>
      <p:ext uri="{BB962C8B-B14F-4D97-AF65-F5344CB8AC3E}">
        <p14:creationId xmlns:p14="http://schemas.microsoft.com/office/powerpoint/2010/main" val="35378736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user experience. Users can upload PDFs, view document context, inspect citations, see tables, and get token-by-token answers with source traceability. The design is made for practical document Q&amp;A, not just generic chat</a:t>
            </a:r>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13</a:t>
            </a:fld>
            <a:endParaRPr lang="en-IN"/>
          </a:p>
        </p:txBody>
      </p:sp>
    </p:spTree>
    <p:extLst>
      <p:ext uri="{BB962C8B-B14F-4D97-AF65-F5344CB8AC3E}">
        <p14:creationId xmlns:p14="http://schemas.microsoft.com/office/powerpoint/2010/main" val="283538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this slide shows how document management and system control works from the user side.</a:t>
            </a:r>
          </a:p>
          <a:p>
            <a:r>
              <a:rPr lang="en-US" dirty="0"/>
              <a:t>The sidebar is used to manage chat sessions, upload documents, and switch between different model modes.</a:t>
            </a:r>
          </a:p>
          <a:p>
            <a:r>
              <a:rPr lang="en-US" dirty="0"/>
              <a:t>When a user uploads a PDF, the process happens in two stages.</a:t>
            </a:r>
          </a:p>
          <a:p>
            <a:r>
              <a:rPr lang="en-US" dirty="0"/>
              <a:t>First, metadata is extracted from the first page, such as document type and revision, and the user can confirm it.</a:t>
            </a:r>
          </a:p>
          <a:p>
            <a:r>
              <a:rPr lang="en-US" dirty="0"/>
              <a:t>Then the full document is processed in the background using Celery workers.</a:t>
            </a:r>
          </a:p>
          <a:p>
            <a:r>
              <a:rPr lang="en-US" dirty="0"/>
              <a:t>The system also shows real-time progress for uploading and chunking, and allows cancellation if needed.</a:t>
            </a:r>
          </a:p>
          <a:p>
            <a:r>
              <a:rPr lang="en-US" dirty="0"/>
              <a:t>There is also a document context panel, where users can see the active document, its revision, and indexed details.</a:t>
            </a:r>
          </a:p>
          <a:p>
            <a:r>
              <a:rPr lang="en-US" dirty="0"/>
              <a:t>Additionally, developer settings are available to control features like enabling the agent pipeline or changing ingestion modes.</a:t>
            </a:r>
          </a:p>
          <a:p>
            <a:r>
              <a:rPr lang="en-US" dirty="0"/>
              <a:t>So overall, this makes the system flexible, user-friendly, and controllable.</a:t>
            </a:r>
            <a:br>
              <a:rPr lang="en-US" dirty="0"/>
            </a:br>
            <a:r>
              <a:rPr lang="en-US" dirty="0"/>
              <a:t>This design ensures both ease of use for users and control for developers. </a:t>
            </a:r>
          </a:p>
        </p:txBody>
      </p:sp>
      <p:sp>
        <p:nvSpPr>
          <p:cNvPr id="4" name="Slide Number Placeholder 3"/>
          <p:cNvSpPr>
            <a:spLocks noGrp="1"/>
          </p:cNvSpPr>
          <p:nvPr>
            <p:ph type="sldNum" sz="quarter" idx="5"/>
          </p:nvPr>
        </p:nvSpPr>
        <p:spPr/>
        <p:txBody>
          <a:bodyPr/>
          <a:lstStyle/>
          <a:p>
            <a:fld id="{FE7BADB8-05B4-48AF-9BA4-1C210A9CD1A2}" type="slidenum">
              <a:rPr lang="en-IN" smtClean="0"/>
              <a:t>14</a:t>
            </a:fld>
            <a:endParaRPr lang="en-IN"/>
          </a:p>
        </p:txBody>
      </p:sp>
    </p:spTree>
    <p:extLst>
      <p:ext uri="{BB962C8B-B14F-4D97-AF65-F5344CB8AC3E}">
        <p14:creationId xmlns:p14="http://schemas.microsoft.com/office/powerpoint/2010/main" val="243143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shows the different workspace modes supported by the system.</a:t>
            </a:r>
          </a:p>
          <a:p>
            <a:r>
              <a:rPr lang="en-US" dirty="0"/>
              <a:t>The first is AI mode, which is the main document question-answering interface, where users can upload documents and interact with the system.</a:t>
            </a:r>
          </a:p>
          <a:p>
            <a:r>
              <a:rPr lang="en-US" dirty="0"/>
              <a:t>The second is PML mode, which is used for template-based workflows, where users can create and manage structured templates.</a:t>
            </a:r>
          </a:p>
          <a:p>
            <a:r>
              <a:rPr lang="en-US" dirty="0"/>
              <a:t>The third is Team mode, which supports collaboration through messaging, project tracking, and shared workflows.</a:t>
            </a:r>
          </a:p>
          <a:p>
            <a:r>
              <a:rPr lang="en-US" dirty="0"/>
              <a:t>These modes allow the system to go beyond just document Q&amp;A and support broader enterprise use cases.</a:t>
            </a:r>
          </a:p>
          <a:p>
            <a:r>
              <a:rPr lang="en-US" dirty="0"/>
              <a:t>So overall, the platform is designed to be flexible and adaptable for different types of users and workflows. </a:t>
            </a:r>
          </a:p>
        </p:txBody>
      </p:sp>
      <p:sp>
        <p:nvSpPr>
          <p:cNvPr id="4" name="Slide Number Placeholder 3"/>
          <p:cNvSpPr>
            <a:spLocks noGrp="1"/>
          </p:cNvSpPr>
          <p:nvPr>
            <p:ph type="sldNum" sz="quarter" idx="5"/>
          </p:nvPr>
        </p:nvSpPr>
        <p:spPr/>
        <p:txBody>
          <a:bodyPr/>
          <a:lstStyle/>
          <a:p>
            <a:fld id="{FE7BADB8-05B4-48AF-9BA4-1C210A9CD1A2}" type="slidenum">
              <a:rPr lang="en-IN" smtClean="0"/>
              <a:t>15</a:t>
            </a:fld>
            <a:endParaRPr lang="en-IN"/>
          </a:p>
        </p:txBody>
      </p:sp>
    </p:spTree>
    <p:extLst>
      <p:ext uri="{BB962C8B-B14F-4D97-AF65-F5344CB8AC3E}">
        <p14:creationId xmlns:p14="http://schemas.microsoft.com/office/powerpoint/2010/main" val="157365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27012-9D33-907B-8F09-7869BF8F0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7D126-3FC8-B553-896E-802A78F5C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E2FA8-50C8-E3BC-01CA-45F946EEFA80}"/>
              </a:ext>
            </a:extLst>
          </p:cNvPr>
          <p:cNvSpPr>
            <a:spLocks noGrp="1"/>
          </p:cNvSpPr>
          <p:nvPr>
            <p:ph type="body" idx="1"/>
          </p:nvPr>
        </p:nvSpPr>
        <p:spPr/>
        <p:txBody>
          <a:bodyPr/>
          <a:lstStyle/>
          <a:p>
            <a:r>
              <a:rPr lang="en-US" dirty="0"/>
              <a:t>“For these slides, say that the actual screenshots will show the real product interface for chat, upload flow, sidebar, source viewer, table inspection, and preprocessing preview. These slides are meant to demonstrate usability, not architecture.”</a:t>
            </a:r>
            <a:endParaRPr lang="en-IN" dirty="0"/>
          </a:p>
        </p:txBody>
      </p:sp>
      <p:sp>
        <p:nvSpPr>
          <p:cNvPr id="4" name="Slide Number Placeholder 3">
            <a:extLst>
              <a:ext uri="{FF2B5EF4-FFF2-40B4-BE49-F238E27FC236}">
                <a16:creationId xmlns:a16="http://schemas.microsoft.com/office/drawing/2014/main" id="{01764123-7DD7-0F5B-BD65-5E1628E1E995}"/>
              </a:ext>
            </a:extLst>
          </p:cNvPr>
          <p:cNvSpPr>
            <a:spLocks noGrp="1"/>
          </p:cNvSpPr>
          <p:nvPr>
            <p:ph type="sldNum" sz="quarter" idx="5"/>
          </p:nvPr>
        </p:nvSpPr>
        <p:spPr/>
        <p:txBody>
          <a:bodyPr/>
          <a:lstStyle/>
          <a:p>
            <a:fld id="{FE7BADB8-05B4-48AF-9BA4-1C210A9CD1A2}" type="slidenum">
              <a:rPr lang="en-IN" smtClean="0"/>
              <a:t>16</a:t>
            </a:fld>
            <a:endParaRPr lang="en-IN"/>
          </a:p>
        </p:txBody>
      </p:sp>
    </p:spTree>
    <p:extLst>
      <p:ext uri="{BB962C8B-B14F-4D97-AF65-F5344CB8AC3E}">
        <p14:creationId xmlns:p14="http://schemas.microsoft.com/office/powerpoint/2010/main" val="3042569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7BADB8-05B4-48AF-9BA4-1C210A9CD1A2}" type="slidenum">
              <a:rPr lang="en-IN" smtClean="0"/>
              <a:t>17</a:t>
            </a:fld>
            <a:endParaRPr lang="en-IN"/>
          </a:p>
        </p:txBody>
      </p:sp>
    </p:spTree>
    <p:extLst>
      <p:ext uri="{BB962C8B-B14F-4D97-AF65-F5344CB8AC3E}">
        <p14:creationId xmlns:p14="http://schemas.microsoft.com/office/powerpoint/2010/main" val="3308660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2D57-CA13-31F5-69DB-049FE0F76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33609-E8B3-E24D-0340-42B482E6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0DA77-CB05-671F-9E67-4319F557AC0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ABAB7C-9373-4CBD-68C1-04F4F86B76A1}"/>
              </a:ext>
            </a:extLst>
          </p:cNvPr>
          <p:cNvSpPr>
            <a:spLocks noGrp="1"/>
          </p:cNvSpPr>
          <p:nvPr>
            <p:ph type="sldNum" sz="quarter" idx="5"/>
          </p:nvPr>
        </p:nvSpPr>
        <p:spPr/>
        <p:txBody>
          <a:bodyPr/>
          <a:lstStyle/>
          <a:p>
            <a:fld id="{FE7BADB8-05B4-48AF-9BA4-1C210A9CD1A2}" type="slidenum">
              <a:rPr lang="en-IN" smtClean="0"/>
              <a:t>18</a:t>
            </a:fld>
            <a:endParaRPr lang="en-IN"/>
          </a:p>
        </p:txBody>
      </p:sp>
    </p:spTree>
    <p:extLst>
      <p:ext uri="{BB962C8B-B14F-4D97-AF65-F5344CB8AC3E}">
        <p14:creationId xmlns:p14="http://schemas.microsoft.com/office/powerpoint/2010/main" val="15750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2654-4EB9-F230-4D47-95E60975D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4E0A3-E7A6-73CC-ED83-7295B7A9C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A0730-77F4-B3C6-3FA7-8003F143D2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6AD3ED-944E-4CCE-159B-AAFADCF7E0A9}"/>
              </a:ext>
            </a:extLst>
          </p:cNvPr>
          <p:cNvSpPr>
            <a:spLocks noGrp="1"/>
          </p:cNvSpPr>
          <p:nvPr>
            <p:ph type="sldNum" sz="quarter" idx="5"/>
          </p:nvPr>
        </p:nvSpPr>
        <p:spPr/>
        <p:txBody>
          <a:bodyPr/>
          <a:lstStyle/>
          <a:p>
            <a:fld id="{FE7BADB8-05B4-48AF-9BA4-1C210A9CD1A2}" type="slidenum">
              <a:rPr lang="en-IN" smtClean="0"/>
              <a:t>19</a:t>
            </a:fld>
            <a:endParaRPr lang="en-IN"/>
          </a:p>
        </p:txBody>
      </p:sp>
    </p:spTree>
    <p:extLst>
      <p:ext uri="{BB962C8B-B14F-4D97-AF65-F5344CB8AC3E}">
        <p14:creationId xmlns:p14="http://schemas.microsoft.com/office/powerpoint/2010/main" val="1502252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8162-714D-9DA9-8AC4-472255F24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60B84-E791-AA20-4C7C-57B2FCFFD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E536E-B987-3B75-41D5-0914181603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3C3917-7844-D583-5D85-DF14D6657D1C}"/>
              </a:ext>
            </a:extLst>
          </p:cNvPr>
          <p:cNvSpPr>
            <a:spLocks noGrp="1"/>
          </p:cNvSpPr>
          <p:nvPr>
            <p:ph type="sldNum" sz="quarter" idx="5"/>
          </p:nvPr>
        </p:nvSpPr>
        <p:spPr/>
        <p:txBody>
          <a:bodyPr/>
          <a:lstStyle/>
          <a:p>
            <a:fld id="{FE7BADB8-05B4-48AF-9BA4-1C210A9CD1A2}" type="slidenum">
              <a:rPr lang="en-IN" smtClean="0"/>
              <a:t>20</a:t>
            </a:fld>
            <a:endParaRPr lang="en-IN"/>
          </a:p>
        </p:txBody>
      </p:sp>
    </p:spTree>
    <p:extLst>
      <p:ext uri="{BB962C8B-B14F-4D97-AF65-F5344CB8AC3E}">
        <p14:creationId xmlns:p14="http://schemas.microsoft.com/office/powerpoint/2010/main" val="2770565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63CE-D9AC-E718-D475-E7A6A49EF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8DA0B-3CBE-6578-9ADD-65A5C2775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FD6C9-B8C1-4705-8772-1DFEE99F53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B0924F-CC4E-8871-D83B-3DFF48A3FE61}"/>
              </a:ext>
            </a:extLst>
          </p:cNvPr>
          <p:cNvSpPr>
            <a:spLocks noGrp="1"/>
          </p:cNvSpPr>
          <p:nvPr>
            <p:ph type="sldNum" sz="quarter" idx="5"/>
          </p:nvPr>
        </p:nvSpPr>
        <p:spPr/>
        <p:txBody>
          <a:bodyPr/>
          <a:lstStyle/>
          <a:p>
            <a:fld id="{FE7BADB8-05B4-48AF-9BA4-1C210A9CD1A2}" type="slidenum">
              <a:rPr lang="en-IN" smtClean="0"/>
              <a:t>21</a:t>
            </a:fld>
            <a:endParaRPr lang="en-IN"/>
          </a:p>
        </p:txBody>
      </p:sp>
    </p:spTree>
    <p:extLst>
      <p:ext uri="{BB962C8B-B14F-4D97-AF65-F5344CB8AC3E}">
        <p14:creationId xmlns:p14="http://schemas.microsoft.com/office/powerpoint/2010/main" val="2691569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5794-7975-8A38-2FEB-7B6ABE7D1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E3B15-389F-4527-440C-1D5557FFA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7C68A-6D46-AE4F-6DC4-1DD6C35BCB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CE92A7-1C68-8502-B487-D35CFD408245}"/>
              </a:ext>
            </a:extLst>
          </p:cNvPr>
          <p:cNvSpPr>
            <a:spLocks noGrp="1"/>
          </p:cNvSpPr>
          <p:nvPr>
            <p:ph type="sldNum" sz="quarter" idx="5"/>
          </p:nvPr>
        </p:nvSpPr>
        <p:spPr/>
        <p:txBody>
          <a:bodyPr/>
          <a:lstStyle/>
          <a:p>
            <a:fld id="{FE7BADB8-05B4-48AF-9BA4-1C210A9CD1A2}" type="slidenum">
              <a:rPr lang="en-IN" smtClean="0"/>
              <a:t>22</a:t>
            </a:fld>
            <a:endParaRPr lang="en-IN"/>
          </a:p>
        </p:txBody>
      </p:sp>
    </p:spTree>
    <p:extLst>
      <p:ext uri="{BB962C8B-B14F-4D97-AF65-F5344CB8AC3E}">
        <p14:creationId xmlns:p14="http://schemas.microsoft.com/office/powerpoint/2010/main" val="2933195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A7B0-7AAE-AA8A-64E6-5D0E98EB4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4CBF9-3999-77C0-8F2F-C4B539254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746BE-AB6F-5066-661C-E370CEBECA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A39740-0FDB-A75F-FF46-1A2FB5CCAB2B}"/>
              </a:ext>
            </a:extLst>
          </p:cNvPr>
          <p:cNvSpPr>
            <a:spLocks noGrp="1"/>
          </p:cNvSpPr>
          <p:nvPr>
            <p:ph type="sldNum" sz="quarter" idx="5"/>
          </p:nvPr>
        </p:nvSpPr>
        <p:spPr/>
        <p:txBody>
          <a:bodyPr/>
          <a:lstStyle/>
          <a:p>
            <a:fld id="{FE7BADB8-05B4-48AF-9BA4-1C210A9CD1A2}" type="slidenum">
              <a:rPr lang="en-IN" smtClean="0"/>
              <a:t>23</a:t>
            </a:fld>
            <a:endParaRPr lang="en-IN"/>
          </a:p>
        </p:txBody>
      </p:sp>
    </p:spTree>
    <p:extLst>
      <p:ext uri="{BB962C8B-B14F-4D97-AF65-F5344CB8AC3E}">
        <p14:creationId xmlns:p14="http://schemas.microsoft.com/office/powerpoint/2010/main" val="1240018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E6A8-B42B-6A40-B375-AA539C17D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77BA-8F19-018B-C79A-95B8C4BFB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5464D-6D01-A3EB-7DDF-FD828A07DE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926CD8-3A41-1253-28EB-DF6C3FA21B30}"/>
              </a:ext>
            </a:extLst>
          </p:cNvPr>
          <p:cNvSpPr>
            <a:spLocks noGrp="1"/>
          </p:cNvSpPr>
          <p:nvPr>
            <p:ph type="sldNum" sz="quarter" idx="5"/>
          </p:nvPr>
        </p:nvSpPr>
        <p:spPr/>
        <p:txBody>
          <a:bodyPr/>
          <a:lstStyle/>
          <a:p>
            <a:fld id="{FE7BADB8-05B4-48AF-9BA4-1C210A9CD1A2}" type="slidenum">
              <a:rPr lang="en-IN" smtClean="0"/>
              <a:t>24</a:t>
            </a:fld>
            <a:endParaRPr lang="en-IN"/>
          </a:p>
        </p:txBody>
      </p:sp>
    </p:spTree>
    <p:extLst>
      <p:ext uri="{BB962C8B-B14F-4D97-AF65-F5344CB8AC3E}">
        <p14:creationId xmlns:p14="http://schemas.microsoft.com/office/powerpoint/2010/main" val="987176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5865-F4CA-1DAA-6096-B2380B79B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3DA39-420E-289E-D416-B3B838FA7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C97CC-758E-3F51-899C-7072A2A17E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9190FA-5FCB-BC82-3C25-0D77A621EE15}"/>
              </a:ext>
            </a:extLst>
          </p:cNvPr>
          <p:cNvSpPr>
            <a:spLocks noGrp="1"/>
          </p:cNvSpPr>
          <p:nvPr>
            <p:ph type="sldNum" sz="quarter" idx="5"/>
          </p:nvPr>
        </p:nvSpPr>
        <p:spPr/>
        <p:txBody>
          <a:bodyPr/>
          <a:lstStyle/>
          <a:p>
            <a:fld id="{FE7BADB8-05B4-48AF-9BA4-1C210A9CD1A2}" type="slidenum">
              <a:rPr lang="en-IN" smtClean="0"/>
              <a:t>25</a:t>
            </a:fld>
            <a:endParaRPr lang="en-IN"/>
          </a:p>
        </p:txBody>
      </p:sp>
    </p:spTree>
    <p:extLst>
      <p:ext uri="{BB962C8B-B14F-4D97-AF65-F5344CB8AC3E}">
        <p14:creationId xmlns:p14="http://schemas.microsoft.com/office/powerpoint/2010/main" val="2548006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5C4E-28C5-5D63-3E70-777DC73C5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0E3C4-D81F-0360-507A-D099CA23D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D0E9B-90DD-4514-D416-0B3667ACA21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32EA8B-21B2-6486-BD8A-1E7F7E59BBDF}"/>
              </a:ext>
            </a:extLst>
          </p:cNvPr>
          <p:cNvSpPr>
            <a:spLocks noGrp="1"/>
          </p:cNvSpPr>
          <p:nvPr>
            <p:ph type="sldNum" sz="quarter" idx="5"/>
          </p:nvPr>
        </p:nvSpPr>
        <p:spPr/>
        <p:txBody>
          <a:bodyPr/>
          <a:lstStyle/>
          <a:p>
            <a:fld id="{FE7BADB8-05B4-48AF-9BA4-1C210A9CD1A2}" type="slidenum">
              <a:rPr lang="en-IN" smtClean="0"/>
              <a:t>26</a:t>
            </a:fld>
            <a:endParaRPr lang="en-IN"/>
          </a:p>
        </p:txBody>
      </p:sp>
    </p:spTree>
    <p:extLst>
      <p:ext uri="{BB962C8B-B14F-4D97-AF65-F5344CB8AC3E}">
        <p14:creationId xmlns:p14="http://schemas.microsoft.com/office/powerpoint/2010/main" val="4727533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A28AD-C9BB-F731-9A65-F972E323C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2C248-7F9A-A022-85E1-19BF9F689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15C938-F023-048A-1307-FEAC96A57C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5093EF0-AA0E-C04D-46CB-82F439D2222B}"/>
              </a:ext>
            </a:extLst>
          </p:cNvPr>
          <p:cNvSpPr>
            <a:spLocks noGrp="1"/>
          </p:cNvSpPr>
          <p:nvPr>
            <p:ph type="sldNum" sz="quarter" idx="5"/>
          </p:nvPr>
        </p:nvSpPr>
        <p:spPr/>
        <p:txBody>
          <a:bodyPr/>
          <a:lstStyle/>
          <a:p>
            <a:fld id="{FE7BADB8-05B4-48AF-9BA4-1C210A9CD1A2}" type="slidenum">
              <a:rPr lang="en-IN" smtClean="0"/>
              <a:t>27</a:t>
            </a:fld>
            <a:endParaRPr lang="en-IN"/>
          </a:p>
        </p:txBody>
      </p:sp>
    </p:spTree>
    <p:extLst>
      <p:ext uri="{BB962C8B-B14F-4D97-AF65-F5344CB8AC3E}">
        <p14:creationId xmlns:p14="http://schemas.microsoft.com/office/powerpoint/2010/main" val="130156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A2E4-8284-8913-6BF6-6A7300113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523BC-07D7-42C4-FE3D-1B4C989B1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3B5F1-CDD7-2681-61DF-4CF3A2A6B5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69D54E-2CE8-9927-7AC1-6854865D640F}"/>
              </a:ext>
            </a:extLst>
          </p:cNvPr>
          <p:cNvSpPr>
            <a:spLocks noGrp="1"/>
          </p:cNvSpPr>
          <p:nvPr>
            <p:ph type="sldNum" sz="quarter" idx="5"/>
          </p:nvPr>
        </p:nvSpPr>
        <p:spPr/>
        <p:txBody>
          <a:bodyPr/>
          <a:lstStyle/>
          <a:p>
            <a:fld id="{FE7BADB8-05B4-48AF-9BA4-1C210A9CD1A2}" type="slidenum">
              <a:rPr lang="en-IN" smtClean="0"/>
              <a:t>28</a:t>
            </a:fld>
            <a:endParaRPr lang="en-IN"/>
          </a:p>
        </p:txBody>
      </p:sp>
    </p:spTree>
    <p:extLst>
      <p:ext uri="{BB962C8B-B14F-4D97-AF65-F5344CB8AC3E}">
        <p14:creationId xmlns:p14="http://schemas.microsoft.com/office/powerpoint/2010/main" val="11042323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explains the backend architecture and storage layers of the system.</a:t>
            </a:r>
          </a:p>
          <a:p>
            <a:r>
              <a:rPr lang="en-US" dirty="0"/>
              <a:t>The backend is built using </a:t>
            </a:r>
            <a:r>
              <a:rPr lang="en-US" dirty="0" err="1"/>
              <a:t>FastAPI</a:t>
            </a:r>
            <a:r>
              <a:rPr lang="en-US" dirty="0"/>
              <a:t>, which handles API requests, validation, and real-time streaming of LLM responses using SSE.</a:t>
            </a:r>
          </a:p>
          <a:p>
            <a:r>
              <a:rPr lang="en-US" dirty="0"/>
              <a:t>For handling heavy tasks like document ingestion, Celery workers are used, which allows asynchronous processing.</a:t>
            </a:r>
          </a:p>
          <a:p>
            <a:r>
              <a:rPr lang="en-US" dirty="0"/>
              <a:t>For storage, </a:t>
            </a:r>
            <a:r>
              <a:rPr lang="en-US" dirty="0" err="1"/>
              <a:t>MinIO</a:t>
            </a:r>
            <a:r>
              <a:rPr lang="en-US" dirty="0"/>
              <a:t> is used to store raw PDF documents, while PostgreSQL with </a:t>
            </a:r>
            <a:r>
              <a:rPr lang="en-US" dirty="0" err="1"/>
              <a:t>PGVector</a:t>
            </a:r>
            <a:r>
              <a:rPr lang="en-US" dirty="0"/>
              <a:t> is used to store embeddings and metadata for retrieval.</a:t>
            </a:r>
          </a:p>
          <a:p>
            <a:r>
              <a:rPr lang="en-US" dirty="0"/>
              <a:t>Redis is used as a message broker for Celery, and also for caching and managing session state.</a:t>
            </a:r>
          </a:p>
          <a:p>
            <a:r>
              <a:rPr lang="en-US" dirty="0"/>
              <a:t>So each storage layer has a specific responsibility, which keeps the system organized and efficient.</a:t>
            </a:r>
            <a:br>
              <a:rPr lang="en-US" dirty="0"/>
            </a:br>
            <a:r>
              <a:rPr lang="en-US" dirty="0"/>
              <a:t>This separation of storage and processing layers improves scalability, reliability, and maintainability of the system.</a:t>
            </a:r>
          </a:p>
        </p:txBody>
      </p:sp>
      <p:sp>
        <p:nvSpPr>
          <p:cNvPr id="4" name="Slide Number Placeholder 3"/>
          <p:cNvSpPr>
            <a:spLocks noGrp="1"/>
          </p:cNvSpPr>
          <p:nvPr>
            <p:ph type="sldNum" sz="quarter" idx="5"/>
          </p:nvPr>
        </p:nvSpPr>
        <p:spPr/>
        <p:txBody>
          <a:bodyPr/>
          <a:lstStyle/>
          <a:p>
            <a:fld id="{FE7BADB8-05B4-48AF-9BA4-1C210A9CD1A2}" type="slidenum">
              <a:rPr lang="en-IN" smtClean="0"/>
              <a:t>29</a:t>
            </a:fld>
            <a:endParaRPr lang="en-IN"/>
          </a:p>
        </p:txBody>
      </p:sp>
    </p:spTree>
    <p:extLst>
      <p:ext uri="{BB962C8B-B14F-4D97-AF65-F5344CB8AC3E}">
        <p14:creationId xmlns:p14="http://schemas.microsoft.com/office/powerpoint/2010/main" val="29191133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highlights the key features and improvements added to the system.</a:t>
            </a:r>
          </a:p>
          <a:p>
            <a:r>
              <a:rPr lang="en-US" dirty="0"/>
              <a:t>One of the main features is the agentic review pipeline, which uses multiple LLM stages to verify answers and reduce hallucination.</a:t>
            </a:r>
          </a:p>
          <a:p>
            <a:r>
              <a:rPr lang="en-US" dirty="0"/>
              <a:t>We also implemented multi-lane retrieval, where different types of content like text, tables, and images are handled separately for better accuracy.</a:t>
            </a:r>
          </a:p>
          <a:p>
            <a:r>
              <a:rPr lang="en-US" dirty="0"/>
              <a:t>The system uses query profile routing, which adjusts retrieval strategy based on the type of question.</a:t>
            </a:r>
          </a:p>
          <a:p>
            <a:r>
              <a:rPr lang="en-US" dirty="0"/>
              <a:t>We also support document-type aware chunking, where different document types are processed differently for better results.</a:t>
            </a:r>
          </a:p>
          <a:p>
            <a:r>
              <a:rPr lang="en-US" dirty="0"/>
              <a:t>Additionally, metadata extraction is done during upload, and users can confirm it before ingestion.</a:t>
            </a:r>
          </a:p>
          <a:p>
            <a:r>
              <a:rPr lang="en-US" dirty="0"/>
              <a:t>There are also quality gates to evaluate answers before showing them to the user.</a:t>
            </a:r>
          </a:p>
          <a:p>
            <a:r>
              <a:rPr lang="en-US" dirty="0"/>
              <a:t>And finally, the system supports external LLM APIs like </a:t>
            </a:r>
            <a:r>
              <a:rPr lang="en-US" dirty="0" err="1"/>
              <a:t>Groq</a:t>
            </a:r>
            <a:r>
              <a:rPr lang="en-US" dirty="0"/>
              <a:t> and </a:t>
            </a:r>
            <a:r>
              <a:rPr lang="en-US" dirty="0" err="1"/>
              <a:t>xAI</a:t>
            </a:r>
            <a:r>
              <a:rPr lang="en-US" dirty="0"/>
              <a:t> for flexible deployment.</a:t>
            </a:r>
          </a:p>
          <a:p>
            <a:r>
              <a:rPr lang="en-US" dirty="0"/>
              <a:t>So overall, these features improve the system’s accuracy, flexibility, and production readiness.</a:t>
            </a:r>
          </a:p>
        </p:txBody>
      </p:sp>
      <p:sp>
        <p:nvSpPr>
          <p:cNvPr id="4" name="Slide Number Placeholder 3"/>
          <p:cNvSpPr>
            <a:spLocks noGrp="1"/>
          </p:cNvSpPr>
          <p:nvPr>
            <p:ph type="sldNum" sz="quarter" idx="5"/>
          </p:nvPr>
        </p:nvSpPr>
        <p:spPr/>
        <p:txBody>
          <a:bodyPr/>
          <a:lstStyle/>
          <a:p>
            <a:fld id="{FE7BADB8-05B4-48AF-9BA4-1C210A9CD1A2}" type="slidenum">
              <a:rPr lang="en-IN" smtClean="0"/>
              <a:t>30</a:t>
            </a:fld>
            <a:endParaRPr lang="en-IN"/>
          </a:p>
        </p:txBody>
      </p:sp>
    </p:spTree>
    <p:extLst>
      <p:ext uri="{BB962C8B-B14F-4D97-AF65-F5344CB8AC3E}">
        <p14:creationId xmlns:p14="http://schemas.microsoft.com/office/powerpoint/2010/main" val="22571403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this slide summarizes the complete technology stack used in the system.</a:t>
            </a:r>
          </a:p>
          <a:p>
            <a:r>
              <a:rPr lang="en-US" dirty="0"/>
              <a:t>On the frontend, we use Next.js with TypeScript for building a scalable and interactive UI.</a:t>
            </a:r>
          </a:p>
          <a:p>
            <a:r>
              <a:rPr lang="en-US" dirty="0"/>
              <a:t>On the backend, </a:t>
            </a:r>
            <a:r>
              <a:rPr lang="en-US" dirty="0" err="1"/>
              <a:t>FastAPI</a:t>
            </a:r>
            <a:r>
              <a:rPr lang="en-US" dirty="0"/>
              <a:t> is used along with Celery and Redis for asynchronous processing.</a:t>
            </a:r>
          </a:p>
          <a:p>
            <a:r>
              <a:rPr lang="en-US" dirty="0"/>
              <a:t>For AI and ML, we use LLMs through llama.cpp and Hugging Face, along with BGE-M3 for embeddings, </a:t>
            </a:r>
            <a:r>
              <a:rPr lang="en-US" dirty="0" err="1"/>
              <a:t>FlashRank</a:t>
            </a:r>
            <a:r>
              <a:rPr lang="en-US" dirty="0"/>
              <a:t> for reranking, and BART MNLI for intent classification.</a:t>
            </a:r>
          </a:p>
          <a:p>
            <a:r>
              <a:rPr lang="en-US" dirty="0"/>
              <a:t>For preprocessing, tools like </a:t>
            </a:r>
            <a:r>
              <a:rPr lang="en-US" dirty="0" err="1"/>
              <a:t>PyMuPDF</a:t>
            </a:r>
            <a:r>
              <a:rPr lang="en-US" dirty="0"/>
              <a:t>, Unstructured, and </a:t>
            </a:r>
            <a:r>
              <a:rPr lang="en-US" dirty="0" err="1"/>
              <a:t>Docling</a:t>
            </a:r>
            <a:r>
              <a:rPr lang="en-US" dirty="0"/>
              <a:t> are used for extracting structured data from PDFs.</a:t>
            </a:r>
          </a:p>
          <a:p>
            <a:r>
              <a:rPr lang="en-US" dirty="0"/>
              <a:t>And for storage, PostgreSQL with </a:t>
            </a:r>
            <a:r>
              <a:rPr lang="en-US" dirty="0" err="1"/>
              <a:t>PGVector</a:t>
            </a:r>
            <a:r>
              <a:rPr lang="en-US" dirty="0"/>
              <a:t> is used for vector data, </a:t>
            </a:r>
            <a:r>
              <a:rPr lang="en-US" dirty="0" err="1"/>
              <a:t>MinIO</a:t>
            </a:r>
            <a:r>
              <a:rPr lang="en-US" dirty="0"/>
              <a:t> for document storage, and Redis for caching and task management.</a:t>
            </a:r>
          </a:p>
          <a:p>
            <a:r>
              <a:rPr lang="en-US" dirty="0"/>
              <a:t>So overall, the system uses a combination of modern web technologies and AI models to build a complete end-to-end solution</a:t>
            </a:r>
          </a:p>
        </p:txBody>
      </p:sp>
      <p:sp>
        <p:nvSpPr>
          <p:cNvPr id="4" name="Slide Number Placeholder 3"/>
          <p:cNvSpPr>
            <a:spLocks noGrp="1"/>
          </p:cNvSpPr>
          <p:nvPr>
            <p:ph type="sldNum" sz="quarter" idx="5"/>
          </p:nvPr>
        </p:nvSpPr>
        <p:spPr/>
        <p:txBody>
          <a:bodyPr/>
          <a:lstStyle/>
          <a:p>
            <a:fld id="{FE7BADB8-05B4-48AF-9BA4-1C210A9CD1A2}" type="slidenum">
              <a:rPr lang="en-IN" smtClean="0"/>
              <a:t>31</a:t>
            </a:fld>
            <a:endParaRPr lang="en-IN"/>
          </a:p>
        </p:txBody>
      </p:sp>
    </p:spTree>
    <p:extLst>
      <p:ext uri="{BB962C8B-B14F-4D97-AF65-F5344CB8AC3E}">
        <p14:creationId xmlns:p14="http://schemas.microsoft.com/office/powerpoint/2010/main" val="59333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a:t>
            </a:r>
          </a:p>
          <a:p>
            <a:r>
              <a:rPr lang="en-US" dirty="0" err="1"/>
              <a:t>KavinBase</a:t>
            </a:r>
            <a:r>
              <a:rPr lang="en-US" dirty="0"/>
              <a:t> is designed to transform large technical documents into a fast, accurate, and reliable AI-driven system.</a:t>
            </a:r>
          </a:p>
        </p:txBody>
      </p:sp>
      <p:sp>
        <p:nvSpPr>
          <p:cNvPr id="4" name="Slide Number Placeholder 3"/>
          <p:cNvSpPr>
            <a:spLocks noGrp="1"/>
          </p:cNvSpPr>
          <p:nvPr>
            <p:ph type="sldNum" sz="quarter" idx="5"/>
          </p:nvPr>
        </p:nvSpPr>
        <p:spPr/>
        <p:txBody>
          <a:bodyPr/>
          <a:lstStyle/>
          <a:p>
            <a:fld id="{FE7BADB8-05B4-48AF-9BA4-1C210A9CD1A2}" type="slidenum">
              <a:rPr lang="en-IN" smtClean="0"/>
              <a:t>32</a:t>
            </a:fld>
            <a:endParaRPr lang="en-IN"/>
          </a:p>
        </p:txBody>
      </p:sp>
    </p:spTree>
    <p:extLst>
      <p:ext uri="{BB962C8B-B14F-4D97-AF65-F5344CB8AC3E}">
        <p14:creationId xmlns:p14="http://schemas.microsoft.com/office/powerpoint/2010/main" val="1127840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png"/><Relationship Id="rId7"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png"/></Relationships>
</file>

<file path=ppt/slides/_rels/slide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0592"/>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0592"/>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3631" y="1838950"/>
            <a:ext cx="10332720" cy="1005840"/>
          </a:xfrm>
          <a:prstGeom prst="rect">
            <a:avLst/>
          </a:prstGeom>
          <a:noFill/>
        </p:spPr>
        <p:txBody>
          <a:bodyPr wrap="square">
            <a:spAutoFit/>
          </a:bodyPr>
          <a:lstStyle/>
          <a:p>
            <a:pPr algn="ctr"/>
            <a:r>
              <a:rPr sz="6000" b="1" dirty="0" err="1">
                <a:solidFill>
                  <a:srgbClr val="5B8DFF"/>
                </a:solidFill>
              </a:rPr>
              <a:t>KavinBase</a:t>
            </a:r>
            <a:endParaRPr sz="6000" b="1" dirty="0">
              <a:solidFill>
                <a:srgbClr val="5B8DFF"/>
              </a:solidFill>
            </a:endParaRPr>
          </a:p>
        </p:txBody>
      </p:sp>
      <p:sp>
        <p:nvSpPr>
          <p:cNvPr id="6" name="TextBox 5"/>
          <p:cNvSpPr txBox="1"/>
          <p:nvPr/>
        </p:nvSpPr>
        <p:spPr>
          <a:xfrm>
            <a:off x="914400" y="3022236"/>
            <a:ext cx="10332720" cy="548640"/>
          </a:xfrm>
          <a:prstGeom prst="rect">
            <a:avLst/>
          </a:prstGeom>
          <a:noFill/>
        </p:spPr>
        <p:txBody>
          <a:bodyPr wrap="square">
            <a:spAutoFit/>
          </a:bodyPr>
          <a:lstStyle/>
          <a:p>
            <a:pPr algn="ctr"/>
            <a:r>
              <a:rPr sz="2400" b="0" dirty="0">
                <a:solidFill>
                  <a:srgbClr val="FFFFFF"/>
                </a:solidFill>
              </a:rPr>
              <a:t>Enterprise AI Document Intelligence Platform</a:t>
            </a:r>
          </a:p>
        </p:txBody>
      </p:sp>
      <p:sp>
        <p:nvSpPr>
          <p:cNvPr id="7" name="TextBox 6"/>
          <p:cNvSpPr txBox="1"/>
          <p:nvPr/>
        </p:nvSpPr>
        <p:spPr>
          <a:xfrm>
            <a:off x="914400" y="3809482"/>
            <a:ext cx="10332720" cy="411480"/>
          </a:xfrm>
          <a:prstGeom prst="rect">
            <a:avLst/>
          </a:prstGeom>
          <a:noFill/>
        </p:spPr>
        <p:txBody>
          <a:bodyPr wrap="square">
            <a:spAutoFit/>
          </a:bodyPr>
          <a:lstStyle/>
          <a:p>
            <a:pPr algn="ctr"/>
            <a:r>
              <a:rPr sz="1500" b="0" dirty="0">
                <a:solidFill>
                  <a:srgbClr val="A0B4FF"/>
                </a:solidFill>
              </a:rPr>
              <a:t>Hybrid RAG · Local LLMs · Multi-Modal Ingestion · Agentic Review Pipeline</a:t>
            </a:r>
          </a:p>
        </p:txBody>
      </p:sp>
      <p:sp>
        <p:nvSpPr>
          <p:cNvPr id="8" name="TextBox 7"/>
          <p:cNvSpPr txBox="1"/>
          <p:nvPr/>
        </p:nvSpPr>
        <p:spPr>
          <a:xfrm>
            <a:off x="793631" y="4613148"/>
            <a:ext cx="10332720" cy="365760"/>
          </a:xfrm>
          <a:prstGeom prst="rect">
            <a:avLst/>
          </a:prstGeom>
          <a:noFill/>
        </p:spPr>
        <p:txBody>
          <a:bodyPr wrap="square">
            <a:spAutoFit/>
          </a:bodyPr>
          <a:lstStyle/>
          <a:p>
            <a:pPr algn="ctr"/>
            <a:r>
              <a:rPr sz="1300" b="0" dirty="0">
                <a:solidFill>
                  <a:srgbClr val="7080A0"/>
                </a:solidFill>
              </a:rPr>
              <a:t>Next.js 14 Frontend  ·  </a:t>
            </a:r>
            <a:r>
              <a:rPr sz="1300" b="0" dirty="0" err="1">
                <a:solidFill>
                  <a:srgbClr val="7080A0"/>
                </a:solidFill>
              </a:rPr>
              <a:t>FastAPI</a:t>
            </a:r>
            <a:r>
              <a:rPr sz="1300" b="0" dirty="0">
                <a:solidFill>
                  <a:srgbClr val="7080A0"/>
                </a:solidFill>
              </a:rPr>
              <a:t> Backend  ·  PostgreSQL </a:t>
            </a:r>
            <a:r>
              <a:rPr sz="1300" b="0" dirty="0" err="1">
                <a:solidFill>
                  <a:srgbClr val="7080A0"/>
                </a:solidFill>
              </a:rPr>
              <a:t>PGVector</a:t>
            </a:r>
            <a:r>
              <a:rPr sz="1300" b="0" dirty="0">
                <a:solidFill>
                  <a:srgbClr val="7080A0"/>
                </a:solidFill>
              </a:rPr>
              <a:t>  ·  Redis  ·  </a:t>
            </a:r>
            <a:r>
              <a:rPr sz="1300" b="0" dirty="0" err="1">
                <a:solidFill>
                  <a:srgbClr val="7080A0"/>
                </a:solidFill>
              </a:rPr>
              <a:t>MinIO</a:t>
            </a:r>
            <a:endParaRPr sz="1300" b="0" dirty="0">
              <a:solidFill>
                <a:srgbClr val="7080A0"/>
              </a:solidFill>
            </a:endParaRPr>
          </a:p>
        </p:txBody>
      </p:sp>
      <p:pic>
        <p:nvPicPr>
          <p:cNvPr id="12" name="Picture 11">
            <a:extLst>
              <a:ext uri="{FF2B5EF4-FFF2-40B4-BE49-F238E27FC236}">
                <a16:creationId xmlns:a16="http://schemas.microsoft.com/office/drawing/2014/main" id="{0EC5CD26-4DF2-23D9-B363-3AA52F9E3778}"/>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
        <p:nvSpPr>
          <p:cNvPr id="13" name="TextBox 12">
            <a:extLst>
              <a:ext uri="{FF2B5EF4-FFF2-40B4-BE49-F238E27FC236}">
                <a16:creationId xmlns:a16="http://schemas.microsoft.com/office/drawing/2014/main" id="{3FF2A3FA-9061-F8BD-5897-A1F65DE80844}"/>
              </a:ext>
            </a:extLst>
          </p:cNvPr>
          <p:cNvSpPr txBox="1"/>
          <p:nvPr/>
        </p:nvSpPr>
        <p:spPr>
          <a:xfrm>
            <a:off x="3685307" y="4978908"/>
            <a:ext cx="5441369" cy="461665"/>
          </a:xfrm>
          <a:prstGeom prst="rect">
            <a:avLst/>
          </a:prstGeom>
          <a:noFill/>
        </p:spPr>
        <p:txBody>
          <a:bodyPr wrap="square">
            <a:spAutoFit/>
          </a:bodyPr>
          <a:lstStyle/>
          <a:p>
            <a:pPr algn="r"/>
            <a:r>
              <a:rPr lang="en-US" sz="2400" b="0" dirty="0">
                <a:solidFill>
                  <a:srgbClr val="7080A0"/>
                </a:solidFill>
              </a:rPr>
              <a:t>-Hariesh R</a:t>
            </a:r>
            <a:endParaRPr sz="2400" b="0" dirty="0">
              <a:solidFill>
                <a:srgbClr val="7080A0"/>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6032" y="164592"/>
            <a:ext cx="5486400" cy="640080"/>
          </a:xfrm>
          <a:prstGeom prst="rect">
            <a:avLst/>
          </a:prstGeom>
          <a:solidFill>
            <a:srgbClr val="3A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201168"/>
            <a:ext cx="5303520" cy="502920"/>
          </a:xfrm>
          <a:prstGeom prst="rect">
            <a:avLst/>
          </a:prstGeom>
          <a:noFill/>
        </p:spPr>
        <p:txBody>
          <a:bodyPr wrap="square">
            <a:spAutoFit/>
          </a:bodyPr>
          <a:lstStyle/>
          <a:p>
            <a:pPr algn="l"/>
            <a:r>
              <a:rPr sz="1900" b="1">
                <a:solidFill>
                  <a:srgbClr val="FF6060"/>
                </a:solidFill>
              </a:rPr>
              <a:t>THE PROBLEM</a:t>
            </a:r>
          </a:p>
        </p:txBody>
      </p:sp>
      <p:sp>
        <p:nvSpPr>
          <p:cNvPr id="7" name="Rectangle 6"/>
          <p:cNvSpPr/>
          <p:nvPr/>
        </p:nvSpPr>
        <p:spPr>
          <a:xfrm>
            <a:off x="256032" y="896112"/>
            <a:ext cx="5486400" cy="1417320"/>
          </a:xfrm>
          <a:prstGeom prst="rect">
            <a:avLst/>
          </a:prstGeom>
          <a:solidFill>
            <a:srgbClr val="25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932688"/>
            <a:ext cx="5212080" cy="731520"/>
          </a:xfrm>
          <a:prstGeom prst="rect">
            <a:avLst/>
          </a:prstGeom>
          <a:noFill/>
        </p:spPr>
        <p:txBody>
          <a:bodyPr wrap="square">
            <a:spAutoFit/>
          </a:bodyPr>
          <a:lstStyle/>
          <a:p>
            <a:pPr algn="ctr"/>
            <a:r>
              <a:rPr sz="7200" b="1" dirty="0">
                <a:solidFill>
                  <a:srgbClr val="FF4545"/>
                </a:solidFill>
              </a:rPr>
              <a:t>1,000+</a:t>
            </a:r>
          </a:p>
        </p:txBody>
      </p:sp>
      <p:sp>
        <p:nvSpPr>
          <p:cNvPr id="9" name="TextBox 8"/>
          <p:cNvSpPr txBox="1"/>
          <p:nvPr/>
        </p:nvSpPr>
        <p:spPr>
          <a:xfrm>
            <a:off x="365760" y="1901952"/>
            <a:ext cx="5212080" cy="548640"/>
          </a:xfrm>
          <a:prstGeom prst="rect">
            <a:avLst/>
          </a:prstGeom>
          <a:noFill/>
        </p:spPr>
        <p:txBody>
          <a:bodyPr wrap="square">
            <a:spAutoFit/>
          </a:bodyPr>
          <a:lstStyle/>
          <a:p>
            <a:pPr algn="ctr"/>
            <a:r>
              <a:rPr sz="1700" b="0" dirty="0">
                <a:solidFill>
                  <a:srgbClr val="FFAAAA"/>
                </a:solidFill>
              </a:rPr>
              <a:t>Pages per client document package</a:t>
            </a:r>
          </a:p>
        </p:txBody>
      </p:sp>
      <p:sp>
        <p:nvSpPr>
          <p:cNvPr id="10" name="TextBox 9"/>
          <p:cNvSpPr txBox="1"/>
          <p:nvPr/>
        </p:nvSpPr>
        <p:spPr>
          <a:xfrm>
            <a:off x="320040" y="2423160"/>
            <a:ext cx="5303520" cy="4160520"/>
          </a:xfrm>
          <a:prstGeom prst="rect">
            <a:avLst/>
          </a:prstGeom>
          <a:noFill/>
        </p:spPr>
        <p:txBody>
          <a:bodyPr wrap="square">
            <a:spAutoFit/>
          </a:bodyPr>
          <a:lstStyle/>
          <a:p>
            <a:pPr algn="l"/>
            <a:r>
              <a:rPr sz="1250" dirty="0">
                <a:solidFill>
                  <a:srgbClr val="FFCCCC"/>
                </a:solidFill>
              </a:rPr>
              <a:t>  Engineering &amp; technical documents run into hundreds or
   thousands of pages per project</a:t>
            </a:r>
          </a:p>
          <a:p>
            <a:endParaRPr sz="1250" dirty="0">
              <a:solidFill>
                <a:srgbClr val="FFCCCC"/>
              </a:solidFill>
            </a:endParaRPr>
          </a:p>
          <a:p>
            <a:pPr algn="l"/>
            <a:r>
              <a:rPr sz="1250" dirty="0">
                <a:solidFill>
                  <a:srgbClr val="DDAAAA"/>
                </a:solidFill>
              </a:rPr>
              <a:t>  Analysts and engineers must manually read, cross-reference
   and search through dense PDFs</a:t>
            </a:r>
          </a:p>
          <a:p>
            <a:endParaRPr sz="1250" dirty="0">
              <a:solidFill>
                <a:srgbClr val="DDAAAA"/>
              </a:solidFill>
            </a:endParaRPr>
          </a:p>
          <a:p>
            <a:pPr algn="l"/>
            <a:r>
              <a:rPr sz="1250" dirty="0">
                <a:solidFill>
                  <a:srgbClr val="DDAAAA"/>
                </a:solidFill>
              </a:rPr>
              <a:t>  Critical values — revision numbers, tag IDs, design parameters
   — buried deep inside tables and appendices</a:t>
            </a:r>
          </a:p>
          <a:p>
            <a:endParaRPr sz="1250" dirty="0">
              <a:solidFill>
                <a:srgbClr val="DDAAAA"/>
              </a:solidFill>
            </a:endParaRPr>
          </a:p>
          <a:p>
            <a:pPr algn="l"/>
            <a:r>
              <a:rPr sz="1250" dirty="0">
                <a:solidFill>
                  <a:srgbClr val="DDAAAA"/>
                </a:solidFill>
              </a:rPr>
              <a:t>  A single query may need data from multiple documents,
   multiple revisions, multiple sections</a:t>
            </a:r>
          </a:p>
          <a:p>
            <a:endParaRPr sz="1250" dirty="0">
              <a:solidFill>
                <a:srgbClr val="DDAAAA"/>
              </a:solidFill>
            </a:endParaRPr>
          </a:p>
          <a:p>
            <a:pPr algn="l"/>
            <a:r>
              <a:rPr sz="1250" dirty="0">
                <a:solidFill>
                  <a:srgbClr val="DDAAAA"/>
                </a:solidFill>
              </a:rPr>
              <a:t>  Hours or days spent per document review cycle;
   errors from manual extraction are costly</a:t>
            </a:r>
          </a:p>
          <a:p>
            <a:endParaRPr sz="1250" dirty="0">
              <a:solidFill>
                <a:srgbClr val="DDAAAA"/>
              </a:solidFill>
            </a:endParaRPr>
          </a:p>
          <a:p>
            <a:pPr algn="l"/>
            <a:r>
              <a:rPr sz="1250" dirty="0">
                <a:solidFill>
                  <a:srgbClr val="DDAAAA"/>
                </a:solidFill>
              </a:rPr>
              <a:t>  No way to instantly compare specs across revisions
   or extract answers without opening every file</a:t>
            </a:r>
          </a:p>
          <a:p>
            <a:endParaRPr sz="1250" dirty="0">
              <a:solidFill>
                <a:srgbClr val="DDAAAA"/>
              </a:solidFill>
            </a:endParaRPr>
          </a:p>
        </p:txBody>
      </p:sp>
      <p:sp>
        <p:nvSpPr>
          <p:cNvPr id="11" name="Rectangle 10"/>
          <p:cNvSpPr/>
          <p:nvPr/>
        </p:nvSpPr>
        <p:spPr>
          <a:xfrm>
            <a:off x="5943600" y="91440"/>
            <a:ext cx="54864" cy="6675120"/>
          </a:xfrm>
          <a:prstGeom prst="rect">
            <a:avLst/>
          </a:prstGeom>
          <a:solidFill>
            <a:srgbClr val="304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33872" y="3108960"/>
            <a:ext cx="274320" cy="548640"/>
          </a:xfrm>
          <a:prstGeom prst="rect">
            <a:avLst/>
          </a:prstGeom>
          <a:noFill/>
        </p:spPr>
        <p:txBody>
          <a:bodyPr wrap="square">
            <a:spAutoFit/>
          </a:bodyPr>
          <a:lstStyle/>
          <a:p>
            <a:pPr algn="ctr"/>
            <a:r>
              <a:rPr sz="1300" b="1">
                <a:solidFill>
                  <a:srgbClr val="A0B4FF"/>
                </a:solidFill>
              </a:rPr>
              <a:t>VS</a:t>
            </a:r>
          </a:p>
        </p:txBody>
      </p:sp>
      <p:sp>
        <p:nvSpPr>
          <p:cNvPr id="13" name="Rectangle 12"/>
          <p:cNvSpPr/>
          <p:nvPr/>
        </p:nvSpPr>
        <p:spPr>
          <a:xfrm>
            <a:off x="6126480" y="164592"/>
            <a:ext cx="5760720" cy="640080"/>
          </a:xfrm>
          <a:prstGeom prst="rect">
            <a:avLst/>
          </a:prstGeom>
          <a:solidFill>
            <a:srgbClr val="06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201168"/>
            <a:ext cx="5486400" cy="502920"/>
          </a:xfrm>
          <a:prstGeom prst="rect">
            <a:avLst/>
          </a:prstGeom>
          <a:noFill/>
        </p:spPr>
        <p:txBody>
          <a:bodyPr wrap="square">
            <a:spAutoFit/>
          </a:bodyPr>
          <a:lstStyle/>
          <a:p>
            <a:pPr algn="l"/>
            <a:r>
              <a:rPr sz="1900" b="1">
                <a:solidFill>
                  <a:srgbClr val="5B8DFF"/>
                </a:solidFill>
              </a:rPr>
              <a:t>THE SOLUTION  —  KavinBase</a:t>
            </a:r>
          </a:p>
        </p:txBody>
      </p:sp>
      <p:sp>
        <p:nvSpPr>
          <p:cNvPr id="15" name="Rectangle 14"/>
          <p:cNvSpPr/>
          <p:nvPr/>
        </p:nvSpPr>
        <p:spPr>
          <a:xfrm>
            <a:off x="6126480" y="896112"/>
            <a:ext cx="5760720" cy="1417320"/>
          </a:xfrm>
          <a:prstGeom prst="rect">
            <a:avLst/>
          </a:prstGeom>
          <a:solidFill>
            <a:srgbClr val="06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932688"/>
            <a:ext cx="5486400" cy="685800"/>
          </a:xfrm>
          <a:prstGeom prst="rect">
            <a:avLst/>
          </a:prstGeom>
          <a:noFill/>
        </p:spPr>
        <p:txBody>
          <a:bodyPr wrap="square">
            <a:spAutoFit/>
          </a:bodyPr>
          <a:lstStyle/>
          <a:p>
            <a:pPr algn="ctr"/>
            <a:r>
              <a:rPr sz="4200" b="1">
                <a:solidFill>
                  <a:srgbClr val="5B8DFF"/>
                </a:solidFill>
              </a:rPr>
              <a:t>Instant AI Answers</a:t>
            </a:r>
          </a:p>
        </p:txBody>
      </p:sp>
      <p:sp>
        <p:nvSpPr>
          <p:cNvPr id="17" name="TextBox 16"/>
          <p:cNvSpPr txBox="1"/>
          <p:nvPr/>
        </p:nvSpPr>
        <p:spPr>
          <a:xfrm>
            <a:off x="6217920" y="1627632"/>
            <a:ext cx="5486400" cy="548640"/>
          </a:xfrm>
          <a:prstGeom prst="rect">
            <a:avLst/>
          </a:prstGeom>
          <a:noFill/>
        </p:spPr>
        <p:txBody>
          <a:bodyPr wrap="square">
            <a:spAutoFit/>
          </a:bodyPr>
          <a:lstStyle/>
          <a:p>
            <a:pPr algn="ctr"/>
            <a:r>
              <a:rPr sz="1700" b="0">
                <a:solidFill>
                  <a:srgbClr val="A0B4FF"/>
                </a:solidFill>
              </a:rPr>
              <a:t>from any document — in seconds, not hours</a:t>
            </a:r>
          </a:p>
        </p:txBody>
      </p:sp>
      <p:sp>
        <p:nvSpPr>
          <p:cNvPr id="18" name="TextBox 17"/>
          <p:cNvSpPr txBox="1"/>
          <p:nvPr/>
        </p:nvSpPr>
        <p:spPr>
          <a:xfrm>
            <a:off x="6172200" y="2423160"/>
            <a:ext cx="5669280" cy="4160520"/>
          </a:xfrm>
          <a:prstGeom prst="rect">
            <a:avLst/>
          </a:prstGeom>
          <a:noFill/>
        </p:spPr>
        <p:txBody>
          <a:bodyPr wrap="square">
            <a:spAutoFit/>
          </a:bodyPr>
          <a:lstStyle/>
          <a:p>
            <a:pPr algn="l"/>
            <a:r>
              <a:rPr sz="1300" b="1" dirty="0">
                <a:solidFill>
                  <a:srgbClr val="4ADE80"/>
                </a:solidFill>
              </a:rPr>
              <a:t>  + Upload once</a:t>
            </a:r>
          </a:p>
          <a:p>
            <a:pPr algn="l"/>
            <a:r>
              <a:rPr sz="1150" dirty="0">
                <a:solidFill>
                  <a:srgbClr val="CCD6F1"/>
                </a:solidFill>
              </a:rPr>
              <a:t>  Index the entire 1000-page package into </a:t>
            </a:r>
            <a:r>
              <a:rPr sz="1150" dirty="0" err="1">
                <a:solidFill>
                  <a:srgbClr val="CCD6F1"/>
                </a:solidFill>
              </a:rPr>
              <a:t>PGVector</a:t>
            </a:r>
            <a:r>
              <a:rPr sz="1150" dirty="0">
                <a:solidFill>
                  <a:srgbClr val="CCD6F1"/>
                </a:solidFill>
              </a:rPr>
              <a:t>
     with BAAI/bge-m3 embeddings — one-time operation</a:t>
            </a:r>
          </a:p>
          <a:p>
            <a:endParaRPr sz="1150" dirty="0">
              <a:solidFill>
                <a:srgbClr val="CCD6F1"/>
              </a:solidFill>
            </a:endParaRPr>
          </a:p>
          <a:p>
            <a:pPr algn="l"/>
            <a:r>
              <a:rPr sz="1300" b="1" dirty="0">
                <a:solidFill>
                  <a:srgbClr val="4ADE80"/>
                </a:solidFill>
              </a:rPr>
              <a:t>  + Ask in plain English</a:t>
            </a:r>
          </a:p>
          <a:p>
            <a:pPr algn="l"/>
            <a:r>
              <a:rPr sz="1150" dirty="0">
                <a:solidFill>
                  <a:srgbClr val="CCD6F1"/>
                </a:solidFill>
              </a:rPr>
              <a:t>  "What is the revision number of document X?"
     "List all tag numbers in section 4" — answered instantly</a:t>
            </a:r>
          </a:p>
          <a:p>
            <a:endParaRPr sz="1150" dirty="0">
              <a:solidFill>
                <a:srgbClr val="CCD6F1"/>
              </a:solidFill>
            </a:endParaRPr>
          </a:p>
          <a:p>
            <a:pPr algn="l"/>
            <a:r>
              <a:rPr sz="1300" b="1" dirty="0">
                <a:solidFill>
                  <a:srgbClr val="4ADE80"/>
                </a:solidFill>
              </a:rPr>
              <a:t>  + Hybrid RAG retrieval</a:t>
            </a:r>
          </a:p>
          <a:p>
            <a:pPr algn="l"/>
            <a:r>
              <a:rPr sz="1150" dirty="0">
                <a:solidFill>
                  <a:srgbClr val="CCD6F1"/>
                </a:solidFill>
              </a:rPr>
              <a:t>  Semantic vector search + BM25 keyword + </a:t>
            </a:r>
            <a:r>
              <a:rPr sz="1150" dirty="0" err="1">
                <a:solidFill>
                  <a:srgbClr val="CCD6F1"/>
                </a:solidFill>
              </a:rPr>
              <a:t>FlashRank</a:t>
            </a:r>
            <a:r>
              <a:rPr sz="1150" dirty="0">
                <a:solidFill>
                  <a:srgbClr val="CCD6F1"/>
                </a:solidFill>
              </a:rPr>
              <a:t>
     </a:t>
            </a:r>
            <a:r>
              <a:rPr sz="1150" dirty="0" err="1">
                <a:solidFill>
                  <a:srgbClr val="CCD6F1"/>
                </a:solidFill>
              </a:rPr>
              <a:t>reranker</a:t>
            </a:r>
            <a:r>
              <a:rPr sz="1150" dirty="0">
                <a:solidFill>
                  <a:srgbClr val="CCD6F1"/>
                </a:solidFill>
              </a:rPr>
              <a:t> ensures the right passage is always found</a:t>
            </a:r>
          </a:p>
          <a:p>
            <a:endParaRPr sz="1150" dirty="0">
              <a:solidFill>
                <a:srgbClr val="CCD6F1"/>
              </a:solidFill>
            </a:endParaRPr>
          </a:p>
          <a:p>
            <a:pPr algn="l"/>
            <a:r>
              <a:rPr sz="1300" b="1" dirty="0">
                <a:solidFill>
                  <a:srgbClr val="4ADE80"/>
                </a:solidFill>
              </a:rPr>
              <a:t>  + Cite every answer</a:t>
            </a:r>
          </a:p>
          <a:p>
            <a:pPr algn="l"/>
            <a:r>
              <a:rPr sz="1150" dirty="0">
                <a:solidFill>
                  <a:srgbClr val="CCD6F1"/>
                </a:solidFill>
              </a:rPr>
              <a:t>  Every response includes page number + section source
     — traceable back to the original document</a:t>
            </a:r>
          </a:p>
          <a:p>
            <a:endParaRPr sz="1150" dirty="0">
              <a:solidFill>
                <a:srgbClr val="CCD6F1"/>
              </a:solidFill>
            </a:endParaRPr>
          </a:p>
          <a:p>
            <a:pPr algn="l"/>
            <a:r>
              <a:rPr sz="1300" b="1" dirty="0">
                <a:solidFill>
                  <a:srgbClr val="4ADE80"/>
                </a:solidFill>
              </a:rPr>
              <a:t>  + Multi-document queries</a:t>
            </a:r>
          </a:p>
          <a:p>
            <a:pPr algn="l"/>
            <a:r>
              <a:rPr sz="1150">
                <a:solidFill>
                  <a:srgbClr val="CCD6F1"/>
                </a:solidFill>
              </a:rPr>
              <a:t>  Cross-reference specs, drawings and datasheets
     in a single natural-language question</a:t>
            </a:r>
          </a:p>
          <a:p>
            <a:endParaRPr sz="1150" dirty="0">
              <a:solidFill>
                <a:srgbClr val="CCD6F1"/>
              </a:solidFill>
            </a:endParaRPr>
          </a:p>
          <a:p>
            <a:pPr algn="l"/>
            <a:r>
              <a:rPr sz="1300" b="1" dirty="0">
                <a:solidFill>
                  <a:srgbClr val="4ADE80"/>
                </a:solidFill>
              </a:rPr>
              <a:t>  + Agentic quality gate</a:t>
            </a:r>
          </a:p>
          <a:p>
            <a:pPr algn="l"/>
            <a:r>
              <a:rPr sz="1150" dirty="0">
                <a:solidFill>
                  <a:srgbClr val="CCD6F1"/>
                </a:solidFill>
              </a:rPr>
              <a:t>  Built-in agent pipeline verifies factual accuracy
     before presenting the answer — no hallucinations</a:t>
            </a:r>
          </a:p>
          <a:p>
            <a:endParaRPr sz="1150" dirty="0">
              <a:solidFill>
                <a:srgbClr val="CCD6F1"/>
              </a:solidFill>
            </a:endParaRPr>
          </a:p>
        </p:txBody>
      </p:sp>
      <p:sp>
        <p:nvSpPr>
          <p:cNvPr id="21" name="AutoShape 2" descr="KAVIN logo on blue gradient background">
            <a:extLst>
              <a:ext uri="{FF2B5EF4-FFF2-40B4-BE49-F238E27FC236}">
                <a16:creationId xmlns:a16="http://schemas.microsoft.com/office/drawing/2014/main" id="{88D2929F-667E-2F29-DCD2-7514685176A6}"/>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2" name="Picture 21">
            <a:extLst>
              <a:ext uri="{FF2B5EF4-FFF2-40B4-BE49-F238E27FC236}">
                <a16:creationId xmlns:a16="http://schemas.microsoft.com/office/drawing/2014/main" id="{FD330756-1977-7783-18EC-A0E42E4E6973}"/>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System Architecture Overview</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Hybrid Sync/Async Platform with Multi-Layer Persistence</a:t>
            </a:r>
          </a:p>
        </p:txBody>
      </p:sp>
      <p:sp>
        <p:nvSpPr>
          <p:cNvPr id="6" name="TextBox 5"/>
          <p:cNvSpPr txBox="1"/>
          <p:nvPr/>
        </p:nvSpPr>
        <p:spPr>
          <a:xfrm>
            <a:off x="365760" y="1188720"/>
            <a:ext cx="4991244" cy="2793072"/>
          </a:xfrm>
          <a:prstGeom prst="rect">
            <a:avLst/>
          </a:prstGeom>
          <a:noFill/>
        </p:spPr>
        <p:txBody>
          <a:bodyPr wrap="square">
            <a:spAutoFit/>
          </a:bodyPr>
          <a:lstStyle/>
          <a:p>
            <a:pPr marL="285750" indent="-285750" algn="l">
              <a:buFont typeface="Arial" panose="020B0604020202020204" pitchFamily="34" charset="0"/>
              <a:buChar char="•"/>
            </a:pPr>
            <a:r>
              <a:rPr sz="1350" dirty="0">
                <a:solidFill>
                  <a:srgbClr val="CCD6F1"/>
                </a:solidFill>
              </a:rPr>
              <a:t> </a:t>
            </a:r>
            <a:r>
              <a:rPr sz="1350" dirty="0" err="1">
                <a:solidFill>
                  <a:srgbClr val="CCD6F1"/>
                </a:solidFill>
              </a:rPr>
              <a:t>FastAPI</a:t>
            </a:r>
            <a:r>
              <a:rPr sz="1350" dirty="0">
                <a:solidFill>
                  <a:srgbClr val="CCD6F1"/>
                </a:solidFill>
              </a:rPr>
              <a:t> (Python) backend – REST + SSE streaming endpoint</a:t>
            </a:r>
            <a:r>
              <a:rPr lang="en-IN" sz="1350" dirty="0">
                <a:solidFill>
                  <a:srgbClr val="CCD6F1"/>
                </a:solidFill>
              </a:rPr>
              <a:t>s</a:t>
            </a:r>
            <a:endParaRPr lang="en-US" sz="1350" dirty="0">
              <a:solidFill>
                <a:srgbClr val="CCD6F1"/>
              </a:solidFill>
            </a:endParaRPr>
          </a:p>
          <a:p>
            <a:pPr marL="285750" indent="-285750" algn="l">
              <a:buFont typeface="Arial" panose="020B0604020202020204" pitchFamily="34" charset="0"/>
              <a:buChar char="•"/>
            </a:pPr>
            <a:r>
              <a:rPr lang="en-US" sz="1350" dirty="0">
                <a:solidFill>
                  <a:srgbClr val="CCD6F1"/>
                </a:solidFill>
              </a:rPr>
              <a:t>Next.js 14 (TypeScript/React) frontend – real-time token streaming UI</a:t>
            </a:r>
          </a:p>
          <a:p>
            <a:pPr marL="285750" indent="-285750" algn="l">
              <a:buFont typeface="Arial" panose="020B0604020202020204" pitchFamily="34" charset="0"/>
              <a:buChar char="•"/>
            </a:pPr>
            <a:r>
              <a:rPr sz="1350" dirty="0">
                <a:solidFill>
                  <a:srgbClr val="CCD6F1"/>
                </a:solidFill>
              </a:rPr>
              <a:t>Celery workers – asynchronous, CPU-intensive PDF ingestion tasks</a:t>
            </a:r>
            <a:endParaRPr lang="en-US" sz="1350" dirty="0">
              <a:solidFill>
                <a:srgbClr val="CCD6F1"/>
              </a:solidFill>
            </a:endParaRPr>
          </a:p>
          <a:p>
            <a:pPr marL="285750" indent="-285750" algn="l">
              <a:buFont typeface="Arial" panose="020B0604020202020204" pitchFamily="34" charset="0"/>
              <a:buChar char="•"/>
            </a:pPr>
            <a:r>
              <a:rPr sz="1350" dirty="0" err="1">
                <a:solidFill>
                  <a:srgbClr val="CCD6F1"/>
                </a:solidFill>
              </a:rPr>
              <a:t>MinIO</a:t>
            </a:r>
            <a:r>
              <a:rPr sz="1350" dirty="0">
                <a:solidFill>
                  <a:srgbClr val="CCD6F1"/>
                </a:solidFill>
              </a:rPr>
              <a:t> – S3-compatible object storage for raw PDFs &amp; binary blob</a:t>
            </a:r>
            <a:endParaRPr lang="en-US" sz="1350" dirty="0">
              <a:solidFill>
                <a:srgbClr val="CCD6F1"/>
              </a:solidFill>
            </a:endParaRPr>
          </a:p>
          <a:p>
            <a:pPr marL="285750" indent="-285750" algn="l">
              <a:buFont typeface="Arial" panose="020B0604020202020204" pitchFamily="34" charset="0"/>
              <a:buChar char="•"/>
            </a:pPr>
            <a:r>
              <a:rPr sz="1350" dirty="0">
                <a:solidFill>
                  <a:srgbClr val="CCD6F1"/>
                </a:solidFill>
              </a:rPr>
              <a:t>PostgreSQL + </a:t>
            </a:r>
            <a:r>
              <a:rPr sz="1350" dirty="0" err="1">
                <a:solidFill>
                  <a:srgbClr val="CCD6F1"/>
                </a:solidFill>
              </a:rPr>
              <a:t>PGVector</a:t>
            </a:r>
            <a:r>
              <a:rPr sz="1350" dirty="0">
                <a:solidFill>
                  <a:srgbClr val="CCD6F1"/>
                </a:solidFill>
              </a:rPr>
              <a:t> – relational store + 1024-dim vector index (BGE-M3)</a:t>
            </a:r>
          </a:p>
          <a:p>
            <a:pPr marL="285750" indent="-285750" algn="l">
              <a:buFont typeface="Arial" panose="020B0604020202020204" pitchFamily="34" charset="0"/>
              <a:buChar char="•"/>
            </a:pPr>
            <a:r>
              <a:rPr sz="1350" dirty="0">
                <a:solidFill>
                  <a:srgbClr val="CCD6F1"/>
                </a:solidFill>
              </a:rPr>
              <a:t>Redis – session cache, streaming state broker, Celery task queue</a:t>
            </a:r>
            <a:endParaRPr lang="en-US" sz="1350" dirty="0">
              <a:solidFill>
                <a:srgbClr val="CCD6F1"/>
              </a:solidFill>
            </a:endParaRPr>
          </a:p>
          <a:p>
            <a:pPr marL="285750" indent="-285750" algn="l">
              <a:buFont typeface="Arial" panose="020B0604020202020204" pitchFamily="34" charset="0"/>
              <a:buChar char="•"/>
            </a:pPr>
            <a:r>
              <a:rPr sz="1350" dirty="0">
                <a:solidFill>
                  <a:srgbClr val="CCD6F1"/>
                </a:solidFill>
              </a:rPr>
              <a:t>JWT-based authentication with scoped role permissions</a:t>
            </a:r>
            <a:endParaRPr lang="en-US" sz="1350" dirty="0">
              <a:solidFill>
                <a:srgbClr val="CCD6F1"/>
              </a:solidFill>
            </a:endParaRPr>
          </a:p>
          <a:p>
            <a:pPr marL="285750" indent="-285750" algn="l">
              <a:buFont typeface="Arial" panose="020B0604020202020204" pitchFamily="34" charset="0"/>
              <a:buChar char="•"/>
            </a:pPr>
            <a:r>
              <a:rPr sz="1350" dirty="0">
                <a:solidFill>
                  <a:srgbClr val="CCD6F1"/>
                </a:solidFill>
              </a:rPr>
              <a:t>Modular Python backends: rag/, </a:t>
            </a:r>
            <a:r>
              <a:rPr sz="1350" dirty="0" err="1">
                <a:solidFill>
                  <a:srgbClr val="CCD6F1"/>
                </a:solidFill>
              </a:rPr>
              <a:t>llm</a:t>
            </a:r>
            <a:r>
              <a:rPr sz="1350" dirty="0">
                <a:solidFill>
                  <a:srgbClr val="CCD6F1"/>
                </a:solidFill>
              </a:rPr>
              <a:t>/, auth/, memory/, queue/, storage/</a:t>
            </a:r>
          </a:p>
        </p:txBody>
      </p:sp>
      <p:pic>
        <p:nvPicPr>
          <p:cNvPr id="13" name="Picture 12">
            <a:extLst>
              <a:ext uri="{FF2B5EF4-FFF2-40B4-BE49-F238E27FC236}">
                <a16:creationId xmlns:a16="http://schemas.microsoft.com/office/drawing/2014/main" id="{A0AC7C77-99F6-B3FD-CCF9-B7D4AEE62D4E}"/>
              </a:ext>
            </a:extLst>
          </p:cNvPr>
          <p:cNvPicPr>
            <a:picLocks noChangeAspect="1"/>
          </p:cNvPicPr>
          <p:nvPr/>
        </p:nvPicPr>
        <p:blipFill>
          <a:blip r:embed="rId3"/>
          <a:srcRect l="7637" t="1770" r="6058" b="13569"/>
          <a:stretch>
            <a:fillRect/>
          </a:stretch>
        </p:blipFill>
        <p:spPr>
          <a:xfrm>
            <a:off x="6260667" y="1321262"/>
            <a:ext cx="5645006" cy="5221316"/>
          </a:xfrm>
          <a:prstGeom prst="rect">
            <a:avLst/>
          </a:prstGeom>
        </p:spPr>
      </p:pic>
      <p:pic>
        <p:nvPicPr>
          <p:cNvPr id="16" name="Picture 15">
            <a:extLst>
              <a:ext uri="{FF2B5EF4-FFF2-40B4-BE49-F238E27FC236}">
                <a16:creationId xmlns:a16="http://schemas.microsoft.com/office/drawing/2014/main" id="{16F4AAE7-2C11-76EA-4B6B-19285B8C3E90}"/>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9849658"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p:cNvSpPr txBox="1"/>
          <p:nvPr/>
        </p:nvSpPr>
        <p:spPr>
          <a:xfrm>
            <a:off x="378028" y="555915"/>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p:cNvSpPr txBox="1"/>
          <p:nvPr/>
        </p:nvSpPr>
        <p:spPr>
          <a:xfrm>
            <a:off x="274320" y="1737360"/>
            <a:ext cx="5669280" cy="2377440"/>
          </a:xfrm>
          <a:prstGeom prst="rect">
            <a:avLst/>
          </a:prstGeom>
          <a:noFill/>
        </p:spPr>
        <p:txBody>
          <a:bodyPr wrap="square">
            <a:spAutoFit/>
          </a:bodyPr>
          <a:lstStyle/>
          <a:p>
            <a:pPr algn="l"/>
            <a:r>
              <a:rPr sz="1150">
                <a:solidFill>
                  <a:srgbClr val="CCD6F1"/>
                </a:solidFill>
              </a:rPr>
              <a:t>  RETRIEVAL MODES (per query intent):</a:t>
            </a:r>
          </a:p>
          <a:p>
            <a:pPr algn="l"/>
            <a:r>
              <a:rPr sz="1150">
                <a:solidFill>
                  <a:srgbClr val="CCD6F1"/>
                </a:solidFill>
              </a:rPr>
              <a:t>   • Fast Mode     – vector-only, 14 candidates, no rerank</a:t>
            </a:r>
          </a:p>
          <a:p>
            <a:pPr algn="l"/>
            <a:r>
              <a:rPr sz="1150">
                <a:solidFill>
                  <a:srgbClr val="CCD6F1"/>
                </a:solidFill>
              </a:rPr>
              <a:t>   • Balanced Mode – vector + keyword, 25 candidates, RRF + FlashRank</a:t>
            </a:r>
          </a:p>
          <a:p>
            <a:pPr algn="l"/>
            <a:r>
              <a:rPr sz="1150">
                <a:solidFill>
                  <a:srgbClr val="CCD6F1"/>
                </a:solidFill>
              </a:rPr>
              <a:t>   • High-Fidelity – vector + BM25, 40 candidates, full reranking + parent</a:t>
            </a:r>
          </a:p>
          <a:p>
            <a:pPr algn="l"/>
            <a:r>
              <a:rPr sz="1150">
                <a:solidFill>
                  <a:srgbClr val="CCD6F1"/>
                </a:solidFill>
              </a:rPr>
              <a:t>  </a:t>
            </a:r>
          </a:p>
          <a:p>
            <a:pPr algn="l"/>
            <a:r>
              <a:rPr sz="1150">
                <a:solidFill>
                  <a:srgbClr val="CCD6F1"/>
                </a:solidFill>
              </a:rPr>
              <a:t>  MULTI-LANE CHUNK SEARCH:</a:t>
            </a:r>
          </a:p>
          <a:p>
            <a:pPr algn="l"/>
            <a:r>
              <a:rPr sz="1150">
                <a:solidFill>
                  <a:srgbClr val="CCD6F1"/>
                </a:solidFill>
              </a:rPr>
              <a:t>   • Separate lanes for: text, parent-table, image, child-row</a:t>
            </a:r>
          </a:p>
          <a:p>
            <a:pPr algn="l"/>
            <a:r>
              <a:rPr sz="1150">
                <a:solidFill>
                  <a:srgbClr val="CCD6F1"/>
                </a:solidFill>
              </a:rPr>
              <a:t>   • Lane budgets prevent child rows dominating results</a:t>
            </a:r>
          </a:p>
          <a:p>
            <a:pPr algn="l"/>
            <a:r>
              <a:rPr sz="1150">
                <a:solidFill>
                  <a:srgbClr val="CCD6F1"/>
                </a:solidFill>
              </a:rPr>
              <a:t>   • Parent resolution fetches full table when child chunk matches</a:t>
            </a:r>
          </a:p>
          <a:p>
            <a:pPr algn="l"/>
            <a:r>
              <a:rPr sz="1150">
                <a:solidFill>
                  <a:srgbClr val="CCD6F1"/>
                </a:solidFill>
              </a:rPr>
              <a:t>  </a:t>
            </a:r>
          </a:p>
          <a:p>
            <a:pPr algn="l"/>
            <a:r>
              <a:rPr sz="1150">
                <a:solidFill>
                  <a:srgbClr val="CCD6F1"/>
                </a:solidFill>
              </a:rPr>
              <a:t>  RECIPROCAL RANK FUSION (RRF k=60):</a:t>
            </a:r>
          </a:p>
          <a:p>
            <a:pPr algn="l"/>
            <a:r>
              <a:rPr sz="1150">
                <a:solidFill>
                  <a:srgbClr val="CCD6F1"/>
                </a:solidFill>
              </a:rPr>
              <a:t>   • Fuses vector similarity ranks + keyword BM25 ranks</a:t>
            </a:r>
          </a:p>
          <a:p>
            <a:pPr algn="l"/>
            <a:r>
              <a:rPr sz="1150">
                <a:solidFill>
                  <a:srgbClr val="CCD6F1"/>
                </a:solidFill>
              </a:rPr>
              <a:t>   • Score: 1/(k + rank_vector) + 1/(k + rank_keyword) + 0.01×kw_score</a:t>
            </a:r>
          </a:p>
        </p:txBody>
      </p:sp>
      <p:sp>
        <p:nvSpPr>
          <p:cNvPr id="9" name="TextBox 8"/>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19BAA45F-7689-3954-A4F0-2B34C771CA7F}"/>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B5D2B875-D657-6623-F0A0-E867854707F7}"/>
              </a:ext>
            </a:extLst>
          </p:cNvPr>
          <p:cNvPicPr>
            <a:picLocks noChangeAspect="1"/>
          </p:cNvPicPr>
          <p:nvPr/>
        </p:nvPicPr>
        <p:blipFill>
          <a:blip r:embed="rId3"/>
          <a:srcRect l="2547" t="3435" r="2189" b="25859"/>
          <a:stretch>
            <a:fillRect/>
          </a:stretch>
        </p:blipFill>
        <p:spPr>
          <a:xfrm>
            <a:off x="429895" y="1782850"/>
            <a:ext cx="11457305" cy="4818148"/>
          </a:xfrm>
          <a:prstGeom prst="rect">
            <a:avLst/>
          </a:prstGeom>
        </p:spPr>
      </p:pic>
      <p:pic>
        <p:nvPicPr>
          <p:cNvPr id="16" name="Picture 15">
            <a:extLst>
              <a:ext uri="{FF2B5EF4-FFF2-40B4-BE49-F238E27FC236}">
                <a16:creationId xmlns:a16="http://schemas.microsoft.com/office/drawing/2014/main" id="{4B3010DD-0E9F-812D-F2AE-13C0F393168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F40EC-C8EE-0E34-EEFC-AF0848DD6E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8FAFFC-C5D0-7578-A51A-98AB6298365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3E3C388-CAA9-9E48-EE3B-0C107AC9A35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04BE6C7-5266-AA8C-2EFB-3FCD8188C21E}"/>
              </a:ext>
            </a:extLst>
          </p:cNvPr>
          <p:cNvSpPr txBox="1"/>
          <p:nvPr/>
        </p:nvSpPr>
        <p:spPr>
          <a:xfrm>
            <a:off x="365760" y="109728"/>
            <a:ext cx="9277004" cy="461665"/>
          </a:xfrm>
          <a:prstGeom prst="rect">
            <a:avLst/>
          </a:prstGeom>
          <a:noFill/>
        </p:spPr>
        <p:txBody>
          <a:bodyPr wrap="square">
            <a:spAutoFit/>
          </a:bodyPr>
          <a:lstStyle/>
          <a:p>
            <a:pPr algn="l"/>
            <a:r>
              <a:rPr sz="2400" b="1" dirty="0">
                <a:solidFill>
                  <a:srgbClr val="FFFFFF"/>
                </a:solidFill>
              </a:rPr>
              <a:t>RAG Type: Advanced Hybrid Multi-Lane Retrieval-Augmented </a:t>
            </a:r>
            <a:r>
              <a:rPr sz="2000" b="1" dirty="0">
                <a:solidFill>
                  <a:srgbClr val="FFFFFF"/>
                </a:solidFill>
              </a:rPr>
              <a:t>Generation</a:t>
            </a:r>
            <a:endParaRPr sz="2400" b="1" dirty="0">
              <a:solidFill>
                <a:srgbClr val="FFFFFF"/>
              </a:solidFill>
            </a:endParaRPr>
          </a:p>
        </p:txBody>
      </p:sp>
      <p:sp>
        <p:nvSpPr>
          <p:cNvPr id="5" name="TextBox 4">
            <a:extLst>
              <a:ext uri="{FF2B5EF4-FFF2-40B4-BE49-F238E27FC236}">
                <a16:creationId xmlns:a16="http://schemas.microsoft.com/office/drawing/2014/main" id="{0A23F205-5C38-14C7-36E0-78E9B3201EBF}"/>
              </a:ext>
            </a:extLst>
          </p:cNvPr>
          <p:cNvSpPr txBox="1"/>
          <p:nvPr/>
        </p:nvSpPr>
        <p:spPr>
          <a:xfrm>
            <a:off x="365760" y="657521"/>
            <a:ext cx="10972800" cy="320040"/>
          </a:xfrm>
          <a:prstGeom prst="rect">
            <a:avLst/>
          </a:prstGeom>
          <a:noFill/>
        </p:spPr>
        <p:txBody>
          <a:bodyPr wrap="square">
            <a:spAutoFit/>
          </a:bodyPr>
          <a:lstStyle/>
          <a:p>
            <a:pPr algn="l"/>
            <a:r>
              <a:rPr sz="1300" b="0" dirty="0">
                <a:solidFill>
                  <a:srgbClr val="DFE9FF"/>
                </a:solidFill>
              </a:rPr>
              <a:t>Semantic Vector Search + Keyword BM25 + Cross-Encoder Reranking + Parent Resolution</a:t>
            </a:r>
          </a:p>
        </p:txBody>
      </p:sp>
      <p:sp>
        <p:nvSpPr>
          <p:cNvPr id="6" name="Rectangle 5">
            <a:extLst>
              <a:ext uri="{FF2B5EF4-FFF2-40B4-BE49-F238E27FC236}">
                <a16:creationId xmlns:a16="http://schemas.microsoft.com/office/drawing/2014/main" id="{8CB8F72B-F120-BA94-1C66-CFCB18CB9C1E}"/>
              </a:ext>
            </a:extLst>
          </p:cNvPr>
          <p:cNvSpPr/>
          <p:nvPr/>
        </p:nvSpPr>
        <p:spPr>
          <a:xfrm>
            <a:off x="274320" y="1143000"/>
            <a:ext cx="11612880" cy="502920"/>
          </a:xfrm>
          <a:prstGeom prst="rect">
            <a:avLst/>
          </a:prstGeom>
          <a:solidFill>
            <a:srgbClr val="1A2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7FB9B21-FF5A-BECD-2067-D33EF585A712}"/>
              </a:ext>
            </a:extLst>
          </p:cNvPr>
          <p:cNvSpPr txBox="1"/>
          <p:nvPr/>
        </p:nvSpPr>
        <p:spPr>
          <a:xfrm>
            <a:off x="457200" y="1188720"/>
            <a:ext cx="11247120" cy="411480"/>
          </a:xfrm>
          <a:prstGeom prst="rect">
            <a:avLst/>
          </a:prstGeom>
          <a:noFill/>
        </p:spPr>
        <p:txBody>
          <a:bodyPr wrap="square">
            <a:spAutoFit/>
          </a:bodyPr>
          <a:lstStyle/>
          <a:p>
            <a:pPr algn="ctr"/>
            <a:r>
              <a:rPr sz="1350" b="1">
                <a:solidFill>
                  <a:srgbClr val="FFC040"/>
                </a:solidFill>
              </a:rPr>
              <a:t>RAG Architecture:  Hybrid Retrieval  ·  Multi-Lane Chunking  ·  Reciprocal Rank Fusion (RRF)  ·  FlashRank Cross-Encoder Reranker</a:t>
            </a:r>
          </a:p>
        </p:txBody>
      </p:sp>
      <p:sp>
        <p:nvSpPr>
          <p:cNvPr id="8" name="TextBox 7">
            <a:extLst>
              <a:ext uri="{FF2B5EF4-FFF2-40B4-BE49-F238E27FC236}">
                <a16:creationId xmlns:a16="http://schemas.microsoft.com/office/drawing/2014/main" id="{F91C5D03-B6E6-25CE-0473-A8E5CB6BD636}"/>
              </a:ext>
            </a:extLst>
          </p:cNvPr>
          <p:cNvSpPr txBox="1"/>
          <p:nvPr/>
        </p:nvSpPr>
        <p:spPr>
          <a:xfrm>
            <a:off x="274320" y="1737360"/>
            <a:ext cx="5669280" cy="2377440"/>
          </a:xfrm>
          <a:prstGeom prst="rect">
            <a:avLst/>
          </a:prstGeom>
          <a:noFill/>
        </p:spPr>
        <p:txBody>
          <a:bodyPr wrap="square">
            <a:spAutoFit/>
          </a:bodyPr>
          <a:lstStyle/>
          <a:p>
            <a:pPr algn="l"/>
            <a:r>
              <a:rPr sz="1150" dirty="0">
                <a:solidFill>
                  <a:srgbClr val="CCD6F1"/>
                </a:solidFill>
              </a:rPr>
              <a:t>  RETRIEVAL MODES (per query intent):</a:t>
            </a:r>
          </a:p>
          <a:p>
            <a:pPr algn="l"/>
            <a:r>
              <a:rPr sz="1150" dirty="0">
                <a:solidFill>
                  <a:srgbClr val="CCD6F1"/>
                </a:solidFill>
              </a:rPr>
              <a:t>   • Fast Mode     – vector-only, 14 candidates, no </a:t>
            </a:r>
            <a:r>
              <a:rPr sz="1150" dirty="0" err="1">
                <a:solidFill>
                  <a:srgbClr val="CCD6F1"/>
                </a:solidFill>
              </a:rPr>
              <a:t>rerank</a:t>
            </a:r>
            <a:endParaRPr sz="1150" dirty="0">
              <a:solidFill>
                <a:srgbClr val="CCD6F1"/>
              </a:solidFill>
            </a:endParaRPr>
          </a:p>
          <a:p>
            <a:pPr algn="l"/>
            <a:r>
              <a:rPr sz="1150" dirty="0">
                <a:solidFill>
                  <a:srgbClr val="CCD6F1"/>
                </a:solidFill>
              </a:rPr>
              <a:t>   • Balanced Mode – vector + keyword, 25 candidates, RRF + </a:t>
            </a:r>
            <a:r>
              <a:rPr sz="1150" dirty="0" err="1">
                <a:solidFill>
                  <a:srgbClr val="CCD6F1"/>
                </a:solidFill>
              </a:rPr>
              <a:t>FlashRank</a:t>
            </a:r>
            <a:endParaRPr sz="1150" dirty="0">
              <a:solidFill>
                <a:srgbClr val="CCD6F1"/>
              </a:solidFill>
            </a:endParaRPr>
          </a:p>
          <a:p>
            <a:pPr algn="l"/>
            <a:r>
              <a:rPr sz="1150" dirty="0">
                <a:solidFill>
                  <a:srgbClr val="CCD6F1"/>
                </a:solidFill>
              </a:rPr>
              <a:t>   • High-Fidelity – vector + BM25, 40 candidates, full reranking + parent</a:t>
            </a:r>
          </a:p>
          <a:p>
            <a:pPr algn="l"/>
            <a:r>
              <a:rPr sz="1150" dirty="0">
                <a:solidFill>
                  <a:srgbClr val="CCD6F1"/>
                </a:solidFill>
              </a:rPr>
              <a:t>  </a:t>
            </a:r>
          </a:p>
          <a:p>
            <a:pPr algn="l"/>
            <a:r>
              <a:rPr sz="1150" dirty="0">
                <a:solidFill>
                  <a:srgbClr val="CCD6F1"/>
                </a:solidFill>
              </a:rPr>
              <a:t>  MULTI-LANE CHUNK SEARCH:</a:t>
            </a:r>
          </a:p>
          <a:p>
            <a:pPr algn="l"/>
            <a:r>
              <a:rPr sz="1150" dirty="0">
                <a:solidFill>
                  <a:srgbClr val="CCD6F1"/>
                </a:solidFill>
              </a:rPr>
              <a:t>   • Separate lanes for: text, parent-table, image, child-row</a:t>
            </a:r>
          </a:p>
          <a:p>
            <a:pPr algn="l"/>
            <a:r>
              <a:rPr sz="1150" dirty="0">
                <a:solidFill>
                  <a:srgbClr val="CCD6F1"/>
                </a:solidFill>
              </a:rPr>
              <a:t>   • Lane budgets prevent child rows dominating results</a:t>
            </a:r>
          </a:p>
          <a:p>
            <a:pPr algn="l"/>
            <a:r>
              <a:rPr sz="1150" dirty="0">
                <a:solidFill>
                  <a:srgbClr val="CCD6F1"/>
                </a:solidFill>
              </a:rPr>
              <a:t>   • Parent resolution fetches full table when child chunk matches</a:t>
            </a:r>
          </a:p>
          <a:p>
            <a:pPr algn="l"/>
            <a:r>
              <a:rPr sz="1150" dirty="0">
                <a:solidFill>
                  <a:srgbClr val="CCD6F1"/>
                </a:solidFill>
              </a:rPr>
              <a:t>  </a:t>
            </a:r>
          </a:p>
          <a:p>
            <a:pPr algn="l"/>
            <a:r>
              <a:rPr sz="1150" dirty="0">
                <a:solidFill>
                  <a:srgbClr val="CCD6F1"/>
                </a:solidFill>
              </a:rPr>
              <a:t>  RECIPROCAL RANK FUSION (RRF k=60):</a:t>
            </a:r>
          </a:p>
          <a:p>
            <a:pPr algn="l"/>
            <a:r>
              <a:rPr sz="1150" dirty="0">
                <a:solidFill>
                  <a:srgbClr val="CCD6F1"/>
                </a:solidFill>
              </a:rPr>
              <a:t>   • Fuses vector similarity ranks + keyword BM25 ranks</a:t>
            </a:r>
          </a:p>
          <a:p>
            <a:pPr algn="l"/>
            <a:r>
              <a:rPr sz="1150" dirty="0">
                <a:solidFill>
                  <a:srgbClr val="CCD6F1"/>
                </a:solidFill>
              </a:rPr>
              <a:t>   • Score: 1/(k + </a:t>
            </a:r>
            <a:r>
              <a:rPr sz="1150" dirty="0" err="1">
                <a:solidFill>
                  <a:srgbClr val="CCD6F1"/>
                </a:solidFill>
              </a:rPr>
              <a:t>rank_vector</a:t>
            </a:r>
            <a:r>
              <a:rPr sz="1150" dirty="0">
                <a:solidFill>
                  <a:srgbClr val="CCD6F1"/>
                </a:solidFill>
              </a:rPr>
              <a:t>) + 1/(k + </a:t>
            </a:r>
            <a:r>
              <a:rPr sz="1150" dirty="0" err="1">
                <a:solidFill>
                  <a:srgbClr val="CCD6F1"/>
                </a:solidFill>
              </a:rPr>
              <a:t>rank_keyword</a:t>
            </a:r>
            <a:r>
              <a:rPr sz="1150" dirty="0">
                <a:solidFill>
                  <a:srgbClr val="CCD6F1"/>
                </a:solidFill>
              </a:rPr>
              <a:t>) + 0.01×kw_score</a:t>
            </a:r>
          </a:p>
        </p:txBody>
      </p:sp>
      <p:sp>
        <p:nvSpPr>
          <p:cNvPr id="9" name="TextBox 8">
            <a:extLst>
              <a:ext uri="{FF2B5EF4-FFF2-40B4-BE49-F238E27FC236}">
                <a16:creationId xmlns:a16="http://schemas.microsoft.com/office/drawing/2014/main" id="{884F22A9-0444-C5BE-6997-5D0797102EEE}"/>
              </a:ext>
            </a:extLst>
          </p:cNvPr>
          <p:cNvSpPr txBox="1"/>
          <p:nvPr/>
        </p:nvSpPr>
        <p:spPr>
          <a:xfrm>
            <a:off x="5759944" y="1696257"/>
            <a:ext cx="5760720" cy="2377440"/>
          </a:xfrm>
          <a:prstGeom prst="rect">
            <a:avLst/>
          </a:prstGeom>
          <a:noFill/>
        </p:spPr>
        <p:txBody>
          <a:bodyPr wrap="square">
            <a:spAutoFit/>
          </a:bodyPr>
          <a:lstStyle/>
          <a:p>
            <a:pPr algn="l"/>
            <a:r>
              <a:rPr sz="1150" dirty="0">
                <a:solidFill>
                  <a:srgbClr val="CCD6F1"/>
                </a:solidFill>
              </a:rPr>
              <a:t>  SCORING MULTIPLIERS (per chunk):</a:t>
            </a:r>
          </a:p>
          <a:p>
            <a:pPr algn="l"/>
            <a:r>
              <a:rPr sz="1150" dirty="0">
                <a:solidFill>
                  <a:srgbClr val="CCD6F1"/>
                </a:solidFill>
              </a:rPr>
              <a:t>   • Element type weight  (Title=1.0, </a:t>
            </a:r>
            <a:r>
              <a:rPr sz="1150" dirty="0" err="1">
                <a:solidFill>
                  <a:srgbClr val="CCD6F1"/>
                </a:solidFill>
              </a:rPr>
              <a:t>NarrativeText</a:t>
            </a:r>
            <a:r>
              <a:rPr sz="1150" dirty="0">
                <a:solidFill>
                  <a:srgbClr val="CCD6F1"/>
                </a:solidFill>
              </a:rPr>
              <a:t>=0.9, Table=0.6)</a:t>
            </a:r>
          </a:p>
          <a:p>
            <a:pPr algn="l"/>
            <a:r>
              <a:rPr sz="1150" dirty="0">
                <a:solidFill>
                  <a:srgbClr val="CCD6F1"/>
                </a:solidFill>
              </a:rPr>
              <a:t>   • Extraction source    (</a:t>
            </a:r>
            <a:r>
              <a:rPr sz="1150" dirty="0" err="1">
                <a:solidFill>
                  <a:srgbClr val="CCD6F1"/>
                </a:solidFill>
              </a:rPr>
              <a:t>PyMuPDF</a:t>
            </a:r>
            <a:r>
              <a:rPr sz="1150" dirty="0">
                <a:solidFill>
                  <a:srgbClr val="CCD6F1"/>
                </a:solidFill>
              </a:rPr>
              <a:t>=1.0, </a:t>
            </a:r>
            <a:r>
              <a:rPr sz="1150" dirty="0" err="1">
                <a:solidFill>
                  <a:srgbClr val="CCD6F1"/>
                </a:solidFill>
              </a:rPr>
              <a:t>Docling</a:t>
            </a:r>
            <a:r>
              <a:rPr sz="1150" dirty="0">
                <a:solidFill>
                  <a:srgbClr val="CCD6F1"/>
                </a:solidFill>
              </a:rPr>
              <a:t>=0.9, Unstructured=0.8)</a:t>
            </a:r>
          </a:p>
          <a:p>
            <a:pPr algn="l"/>
            <a:r>
              <a:rPr sz="1150" dirty="0">
                <a:solidFill>
                  <a:srgbClr val="CCD6F1"/>
                </a:solidFill>
              </a:rPr>
              <a:t>   • Quality score        (0.55 – 1.0 range)</a:t>
            </a:r>
          </a:p>
          <a:p>
            <a:pPr algn="l"/>
            <a:r>
              <a:rPr sz="1150" dirty="0">
                <a:solidFill>
                  <a:srgbClr val="CCD6F1"/>
                </a:solidFill>
              </a:rPr>
              <a:t>   • OCR noise penalty    (×0.6 if OCR used)</a:t>
            </a:r>
          </a:p>
          <a:p>
            <a:pPr algn="l"/>
            <a:r>
              <a:rPr sz="1150" dirty="0">
                <a:solidFill>
                  <a:srgbClr val="CCD6F1"/>
                </a:solidFill>
              </a:rPr>
              <a:t>   • Section-query overlap boost  (up to +8%)</a:t>
            </a:r>
          </a:p>
          <a:p>
            <a:pPr algn="l"/>
            <a:r>
              <a:rPr sz="1150" dirty="0">
                <a:solidFill>
                  <a:srgbClr val="CCD6F1"/>
                </a:solidFill>
              </a:rPr>
              <a:t>  </a:t>
            </a:r>
          </a:p>
          <a:p>
            <a:pPr algn="l"/>
            <a:r>
              <a:rPr sz="1150" dirty="0">
                <a:solidFill>
                  <a:srgbClr val="CCD6F1"/>
                </a:solidFill>
              </a:rPr>
              <a:t>  RERANKER: </a:t>
            </a:r>
            <a:r>
              <a:rPr sz="1150" dirty="0" err="1">
                <a:solidFill>
                  <a:srgbClr val="CCD6F1"/>
                </a:solidFill>
              </a:rPr>
              <a:t>FlashRank</a:t>
            </a:r>
            <a:r>
              <a:rPr sz="1150" dirty="0">
                <a:solidFill>
                  <a:srgbClr val="CCD6F1"/>
                </a:solidFill>
              </a:rPr>
              <a:t> (ms-marco-MiniLM-L-12-v2)</a:t>
            </a:r>
          </a:p>
          <a:p>
            <a:pPr algn="l"/>
            <a:r>
              <a:rPr sz="1150" dirty="0">
                <a:solidFill>
                  <a:srgbClr val="CCD6F1"/>
                </a:solidFill>
              </a:rPr>
              <a:t>   • Cross-encoder re-scores top candidates</a:t>
            </a:r>
          </a:p>
          <a:p>
            <a:pPr algn="l"/>
            <a:r>
              <a:rPr sz="1150" dirty="0">
                <a:solidFill>
                  <a:srgbClr val="CCD6F1"/>
                </a:solidFill>
              </a:rPr>
              <a:t>   • Final score = max(</a:t>
            </a:r>
            <a:r>
              <a:rPr sz="1150" dirty="0" err="1">
                <a:solidFill>
                  <a:srgbClr val="CCD6F1"/>
                </a:solidFill>
              </a:rPr>
              <a:t>rerank×multiplier</a:t>
            </a:r>
            <a:r>
              <a:rPr sz="1150" dirty="0">
                <a:solidFill>
                  <a:srgbClr val="CCD6F1"/>
                </a:solidFill>
              </a:rPr>
              <a:t>, </a:t>
            </a:r>
            <a:r>
              <a:rPr sz="1150" dirty="0" err="1">
                <a:solidFill>
                  <a:srgbClr val="CCD6F1"/>
                </a:solidFill>
              </a:rPr>
              <a:t>retrieval_score</a:t>
            </a:r>
            <a:r>
              <a:rPr sz="1150" dirty="0">
                <a:solidFill>
                  <a:srgbClr val="CCD6F1"/>
                </a:solidFill>
              </a:rPr>
              <a:t>)</a:t>
            </a:r>
          </a:p>
          <a:p>
            <a:pPr algn="l"/>
            <a:r>
              <a:rPr sz="1150" dirty="0">
                <a:solidFill>
                  <a:srgbClr val="CCD6F1"/>
                </a:solidFill>
              </a:rPr>
              <a:t>  </a:t>
            </a:r>
          </a:p>
          <a:p>
            <a:pPr algn="l"/>
            <a:r>
              <a:rPr sz="1150" dirty="0">
                <a:solidFill>
                  <a:srgbClr val="CCD6F1"/>
                </a:solidFill>
              </a:rPr>
              <a:t>  VECTOR DB: PostgreSQL </a:t>
            </a:r>
            <a:r>
              <a:rPr sz="1150" dirty="0" err="1">
                <a:solidFill>
                  <a:srgbClr val="CCD6F1"/>
                </a:solidFill>
              </a:rPr>
              <a:t>PGVector</a:t>
            </a:r>
            <a:endParaRPr sz="1150" dirty="0">
              <a:solidFill>
                <a:srgbClr val="CCD6F1"/>
              </a:solidFill>
            </a:endParaRPr>
          </a:p>
          <a:p>
            <a:pPr algn="l"/>
            <a:r>
              <a:rPr sz="1150" dirty="0">
                <a:solidFill>
                  <a:srgbClr val="CCD6F1"/>
                </a:solidFill>
              </a:rPr>
              <a:t>   • Embedding: BAAI/bge-m3 (1024-dim)</a:t>
            </a:r>
          </a:p>
          <a:p>
            <a:pPr algn="l"/>
            <a:r>
              <a:rPr sz="1150" dirty="0">
                <a:solidFill>
                  <a:srgbClr val="CCD6F1"/>
                </a:solidFill>
              </a:rPr>
              <a:t>   • Metadata-filtered </a:t>
            </a:r>
            <a:r>
              <a:rPr sz="1150" dirty="0" err="1">
                <a:solidFill>
                  <a:srgbClr val="CCD6F1"/>
                </a:solidFill>
              </a:rPr>
              <a:t>similarity_search</a:t>
            </a:r>
            <a:r>
              <a:rPr sz="1150" dirty="0">
                <a:solidFill>
                  <a:srgbClr val="CCD6F1"/>
                </a:solidFill>
              </a:rPr>
              <a:t> per collection</a:t>
            </a:r>
          </a:p>
        </p:txBody>
      </p:sp>
      <p:sp>
        <p:nvSpPr>
          <p:cNvPr id="12" name="AutoShape 4" descr="Hybrid RAG system architecture flowchart">
            <a:extLst>
              <a:ext uri="{FF2B5EF4-FFF2-40B4-BE49-F238E27FC236}">
                <a16:creationId xmlns:a16="http://schemas.microsoft.com/office/drawing/2014/main" id="{85FA1C56-32D0-3348-07EE-FAADED13F5DC}"/>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9D34217C-47D5-DF54-5229-EAF651BCBD12}"/>
              </a:ext>
            </a:extLst>
          </p:cNvPr>
          <p:cNvPicPr>
            <a:picLocks noChangeAspect="1"/>
          </p:cNvPicPr>
          <p:nvPr/>
        </p:nvPicPr>
        <p:blipFill>
          <a:blip r:embed="rId3"/>
          <a:srcRect l="2547" t="3435" r="2189" b="25859"/>
          <a:stretch>
            <a:fillRect/>
          </a:stretch>
        </p:blipFill>
        <p:spPr>
          <a:xfrm>
            <a:off x="457200" y="4371571"/>
            <a:ext cx="10972024" cy="2229657"/>
          </a:xfrm>
          <a:prstGeom prst="rect">
            <a:avLst/>
          </a:prstGeom>
        </p:spPr>
      </p:pic>
      <p:pic>
        <p:nvPicPr>
          <p:cNvPr id="10" name="Picture 9">
            <a:extLst>
              <a:ext uri="{FF2B5EF4-FFF2-40B4-BE49-F238E27FC236}">
                <a16:creationId xmlns:a16="http://schemas.microsoft.com/office/drawing/2014/main" id="{DEC00D78-DD70-18F2-E8C6-A31699C991F8}"/>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20701045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LLM Inventory &amp; Model Architecture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Local GGUF / Hugging Face Models · External API (Groq / xAI) · Dedicated Auxiliary Models</a:t>
            </a:r>
          </a:p>
        </p:txBody>
      </p:sp>
      <p:sp>
        <p:nvSpPr>
          <p:cNvPr id="6" name="Rectangle 5"/>
          <p:cNvSpPr/>
          <p:nvPr/>
        </p:nvSpPr>
        <p:spPr>
          <a:xfrm>
            <a:off x="256032" y="1115568"/>
            <a:ext cx="20208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2608" y="1153668"/>
            <a:ext cx="1965960" cy="265176"/>
          </a:xfrm>
          <a:prstGeom prst="rect">
            <a:avLst/>
          </a:prstGeom>
          <a:noFill/>
        </p:spPr>
        <p:txBody>
          <a:bodyPr wrap="square">
            <a:spAutoFit/>
          </a:bodyPr>
          <a:lstStyle/>
          <a:p>
            <a:pPr algn="l"/>
            <a:r>
              <a:rPr sz="1150" b="1">
                <a:solidFill>
                  <a:srgbClr val="FFC040"/>
                </a:solidFill>
              </a:rPr>
              <a:t>Role</a:t>
            </a:r>
          </a:p>
        </p:txBody>
      </p:sp>
      <p:sp>
        <p:nvSpPr>
          <p:cNvPr id="8" name="Rectangle 7"/>
          <p:cNvSpPr/>
          <p:nvPr/>
        </p:nvSpPr>
        <p:spPr>
          <a:xfrm>
            <a:off x="2377440" y="1115568"/>
            <a:ext cx="23865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14016" y="1153668"/>
            <a:ext cx="2331720" cy="265176"/>
          </a:xfrm>
          <a:prstGeom prst="rect">
            <a:avLst/>
          </a:prstGeom>
          <a:noFill/>
        </p:spPr>
        <p:txBody>
          <a:bodyPr wrap="square">
            <a:spAutoFit/>
          </a:bodyPr>
          <a:lstStyle/>
          <a:p>
            <a:pPr algn="l"/>
            <a:r>
              <a:rPr sz="1150" b="1">
                <a:solidFill>
                  <a:srgbClr val="FFC040"/>
                </a:solidFill>
              </a:rPr>
              <a:t>Model Name</a:t>
            </a:r>
          </a:p>
        </p:txBody>
      </p:sp>
      <p:sp>
        <p:nvSpPr>
          <p:cNvPr id="10" name="Rectangle 9"/>
          <p:cNvSpPr/>
          <p:nvPr/>
        </p:nvSpPr>
        <p:spPr>
          <a:xfrm>
            <a:off x="4892040" y="1115568"/>
            <a:ext cx="275234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28616" y="1153668"/>
            <a:ext cx="2697480" cy="265176"/>
          </a:xfrm>
          <a:prstGeom prst="rect">
            <a:avLst/>
          </a:prstGeom>
          <a:noFill/>
        </p:spPr>
        <p:txBody>
          <a:bodyPr wrap="square">
            <a:spAutoFit/>
          </a:bodyPr>
          <a:lstStyle/>
          <a:p>
            <a:pPr algn="l"/>
            <a:r>
              <a:rPr sz="1150" b="1">
                <a:solidFill>
                  <a:srgbClr val="FFC040"/>
                </a:solidFill>
              </a:rPr>
              <a:t>Backend Type</a:t>
            </a:r>
          </a:p>
        </p:txBody>
      </p:sp>
      <p:sp>
        <p:nvSpPr>
          <p:cNvPr id="12" name="Rectangle 11"/>
          <p:cNvSpPr/>
          <p:nvPr/>
        </p:nvSpPr>
        <p:spPr>
          <a:xfrm>
            <a:off x="7772400" y="1115568"/>
            <a:ext cx="179222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08976" y="1153668"/>
            <a:ext cx="1737360" cy="265176"/>
          </a:xfrm>
          <a:prstGeom prst="rect">
            <a:avLst/>
          </a:prstGeom>
          <a:noFill/>
        </p:spPr>
        <p:txBody>
          <a:bodyPr wrap="square">
            <a:spAutoFit/>
          </a:bodyPr>
          <a:lstStyle/>
          <a:p>
            <a:pPr algn="l"/>
            <a:r>
              <a:rPr sz="1150" b="1">
                <a:solidFill>
                  <a:srgbClr val="FFC040"/>
                </a:solidFill>
              </a:rPr>
              <a:t>Provider</a:t>
            </a:r>
          </a:p>
        </p:txBody>
      </p:sp>
      <p:sp>
        <p:nvSpPr>
          <p:cNvPr id="14" name="Rectangle 13"/>
          <p:cNvSpPr/>
          <p:nvPr/>
        </p:nvSpPr>
        <p:spPr>
          <a:xfrm>
            <a:off x="9692640" y="1115568"/>
            <a:ext cx="2157984" cy="265176"/>
          </a:xfrm>
          <a:prstGeom prst="rect">
            <a:avLst/>
          </a:prstGeom>
          <a:solidFill>
            <a:srgbClr val="1F30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29216" y="1153668"/>
            <a:ext cx="2103120" cy="265176"/>
          </a:xfrm>
          <a:prstGeom prst="rect">
            <a:avLst/>
          </a:prstGeom>
          <a:noFill/>
        </p:spPr>
        <p:txBody>
          <a:bodyPr wrap="square">
            <a:spAutoFit/>
          </a:bodyPr>
          <a:lstStyle/>
          <a:p>
            <a:pPr algn="l"/>
            <a:r>
              <a:rPr sz="1150" b="1">
                <a:solidFill>
                  <a:srgbClr val="FFC040"/>
                </a:solidFill>
              </a:rPr>
              <a:t>Primary Use-case</a:t>
            </a:r>
          </a:p>
        </p:txBody>
      </p:sp>
      <p:sp>
        <p:nvSpPr>
          <p:cNvPr id="16" name="Rectangle 15"/>
          <p:cNvSpPr/>
          <p:nvPr/>
        </p:nvSpPr>
        <p:spPr>
          <a:xfrm>
            <a:off x="256032" y="138074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 y="1406144"/>
            <a:ext cx="1965960" cy="253916"/>
          </a:xfrm>
          <a:prstGeom prst="rect">
            <a:avLst/>
          </a:prstGeom>
          <a:noFill/>
        </p:spPr>
        <p:txBody>
          <a:bodyPr wrap="square">
            <a:spAutoFit/>
          </a:bodyPr>
          <a:lstStyle/>
          <a:p>
            <a:pPr algn="l"/>
            <a:r>
              <a:rPr sz="1050" b="0" dirty="0">
                <a:solidFill>
                  <a:srgbClr val="5B8DFF"/>
                </a:solidFill>
              </a:rPr>
              <a:t>Lite Chat (rank-1)</a:t>
            </a:r>
          </a:p>
        </p:txBody>
      </p:sp>
      <p:sp>
        <p:nvSpPr>
          <p:cNvPr id="18" name="Rectangle 17"/>
          <p:cNvSpPr/>
          <p:nvPr/>
        </p:nvSpPr>
        <p:spPr>
          <a:xfrm>
            <a:off x="2377440" y="138074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14016" y="1406144"/>
            <a:ext cx="2331720" cy="265176"/>
          </a:xfrm>
          <a:prstGeom prst="rect">
            <a:avLst/>
          </a:prstGeom>
          <a:noFill/>
        </p:spPr>
        <p:txBody>
          <a:bodyPr wrap="square">
            <a:spAutoFit/>
          </a:bodyPr>
          <a:lstStyle/>
          <a:p>
            <a:pPr algn="l"/>
            <a:r>
              <a:rPr sz="1050" b="0">
                <a:solidFill>
                  <a:srgbClr val="CCD6F1"/>
                </a:solidFill>
              </a:rPr>
              <a:t>Llama 3.1 8B Instruct Q4_K_M</a:t>
            </a:r>
          </a:p>
        </p:txBody>
      </p:sp>
      <p:sp>
        <p:nvSpPr>
          <p:cNvPr id="20" name="Rectangle 19"/>
          <p:cNvSpPr/>
          <p:nvPr/>
        </p:nvSpPr>
        <p:spPr>
          <a:xfrm>
            <a:off x="4892040" y="138074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28616" y="1406144"/>
            <a:ext cx="2697480" cy="265176"/>
          </a:xfrm>
          <a:prstGeom prst="rect">
            <a:avLst/>
          </a:prstGeom>
          <a:noFill/>
        </p:spPr>
        <p:txBody>
          <a:bodyPr wrap="square">
            <a:spAutoFit/>
          </a:bodyPr>
          <a:lstStyle/>
          <a:p>
            <a:pPr algn="l"/>
            <a:r>
              <a:rPr sz="1050" b="0">
                <a:solidFill>
                  <a:srgbClr val="CCD6F1"/>
                </a:solidFill>
              </a:rPr>
              <a:t>GGUF (llama_cpp)</a:t>
            </a:r>
          </a:p>
        </p:txBody>
      </p:sp>
      <p:sp>
        <p:nvSpPr>
          <p:cNvPr id="22" name="Rectangle 21"/>
          <p:cNvSpPr/>
          <p:nvPr/>
        </p:nvSpPr>
        <p:spPr>
          <a:xfrm>
            <a:off x="7772400" y="138074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08976" y="1406144"/>
            <a:ext cx="1737360" cy="265176"/>
          </a:xfrm>
          <a:prstGeom prst="rect">
            <a:avLst/>
          </a:prstGeom>
          <a:noFill/>
        </p:spPr>
        <p:txBody>
          <a:bodyPr wrap="square">
            <a:spAutoFit/>
          </a:bodyPr>
          <a:lstStyle/>
          <a:p>
            <a:pPr algn="l"/>
            <a:r>
              <a:rPr sz="1050" b="0">
                <a:solidFill>
                  <a:srgbClr val="CCD6F1"/>
                </a:solidFill>
              </a:rPr>
              <a:t>Primary local chat – GPU preferred</a:t>
            </a:r>
          </a:p>
        </p:txBody>
      </p:sp>
      <p:sp>
        <p:nvSpPr>
          <p:cNvPr id="24" name="Rectangle 23"/>
          <p:cNvSpPr/>
          <p:nvPr/>
        </p:nvSpPr>
        <p:spPr>
          <a:xfrm>
            <a:off x="256032" y="164592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 y="1671320"/>
            <a:ext cx="1965960" cy="253916"/>
          </a:xfrm>
          <a:prstGeom prst="rect">
            <a:avLst/>
          </a:prstGeom>
          <a:noFill/>
        </p:spPr>
        <p:txBody>
          <a:bodyPr wrap="square">
            <a:spAutoFit/>
          </a:bodyPr>
          <a:lstStyle/>
          <a:p>
            <a:pPr algn="l"/>
            <a:r>
              <a:rPr sz="1050" b="0" dirty="0">
                <a:solidFill>
                  <a:srgbClr val="5B8DFF"/>
                </a:solidFill>
              </a:rPr>
              <a:t>Lite Chat (rank-2)</a:t>
            </a:r>
          </a:p>
        </p:txBody>
      </p:sp>
      <p:sp>
        <p:nvSpPr>
          <p:cNvPr id="26" name="Rectangle 25"/>
          <p:cNvSpPr/>
          <p:nvPr/>
        </p:nvSpPr>
        <p:spPr>
          <a:xfrm>
            <a:off x="2377440" y="164592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14016" y="1671320"/>
            <a:ext cx="2331720" cy="265176"/>
          </a:xfrm>
          <a:prstGeom prst="rect">
            <a:avLst/>
          </a:prstGeom>
          <a:noFill/>
        </p:spPr>
        <p:txBody>
          <a:bodyPr wrap="square">
            <a:spAutoFit/>
          </a:bodyPr>
          <a:lstStyle/>
          <a:p>
            <a:pPr algn="l"/>
            <a:r>
              <a:rPr sz="1050" b="0">
                <a:solidFill>
                  <a:srgbClr val="CCD6F1"/>
                </a:solidFill>
              </a:rPr>
              <a:t>Qwen 2.5 7B Instruct Q4_K_M</a:t>
            </a:r>
          </a:p>
        </p:txBody>
      </p:sp>
      <p:sp>
        <p:nvSpPr>
          <p:cNvPr id="28" name="Rectangle 27"/>
          <p:cNvSpPr/>
          <p:nvPr/>
        </p:nvSpPr>
        <p:spPr>
          <a:xfrm>
            <a:off x="4892040" y="164592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28616" y="1671320"/>
            <a:ext cx="2697480" cy="265176"/>
          </a:xfrm>
          <a:prstGeom prst="rect">
            <a:avLst/>
          </a:prstGeom>
          <a:noFill/>
        </p:spPr>
        <p:txBody>
          <a:bodyPr wrap="square">
            <a:spAutoFit/>
          </a:bodyPr>
          <a:lstStyle/>
          <a:p>
            <a:pPr algn="l"/>
            <a:r>
              <a:rPr sz="1050" b="0">
                <a:solidFill>
                  <a:srgbClr val="CCD6F1"/>
                </a:solidFill>
              </a:rPr>
              <a:t>GGUF (llama_cpp)</a:t>
            </a:r>
          </a:p>
        </p:txBody>
      </p:sp>
      <p:sp>
        <p:nvSpPr>
          <p:cNvPr id="30" name="Rectangle 29"/>
          <p:cNvSpPr/>
          <p:nvPr/>
        </p:nvSpPr>
        <p:spPr>
          <a:xfrm>
            <a:off x="7772400" y="164592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08976" y="1671320"/>
            <a:ext cx="1737360" cy="265176"/>
          </a:xfrm>
          <a:prstGeom prst="rect">
            <a:avLst/>
          </a:prstGeom>
          <a:noFill/>
        </p:spPr>
        <p:txBody>
          <a:bodyPr wrap="square">
            <a:spAutoFit/>
          </a:bodyPr>
          <a:lstStyle/>
          <a:p>
            <a:pPr algn="l"/>
            <a:r>
              <a:rPr sz="1050" b="0">
                <a:solidFill>
                  <a:srgbClr val="CCD6F1"/>
                </a:solidFill>
              </a:rPr>
              <a:t>GGUF fallback chat model</a:t>
            </a:r>
          </a:p>
        </p:txBody>
      </p:sp>
      <p:sp>
        <p:nvSpPr>
          <p:cNvPr id="32" name="Rectangle 31"/>
          <p:cNvSpPr/>
          <p:nvPr/>
        </p:nvSpPr>
        <p:spPr>
          <a:xfrm>
            <a:off x="256032" y="191109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 y="1936496"/>
            <a:ext cx="1965960" cy="253916"/>
          </a:xfrm>
          <a:prstGeom prst="rect">
            <a:avLst/>
          </a:prstGeom>
          <a:noFill/>
        </p:spPr>
        <p:txBody>
          <a:bodyPr wrap="square">
            <a:spAutoFit/>
          </a:bodyPr>
          <a:lstStyle/>
          <a:p>
            <a:pPr algn="l"/>
            <a:r>
              <a:rPr sz="1050" b="0" dirty="0">
                <a:solidFill>
                  <a:srgbClr val="5B8DFF"/>
                </a:solidFill>
              </a:rPr>
              <a:t> Lite Chat (light)</a:t>
            </a:r>
          </a:p>
        </p:txBody>
      </p:sp>
      <p:sp>
        <p:nvSpPr>
          <p:cNvPr id="34" name="Rectangle 33"/>
          <p:cNvSpPr/>
          <p:nvPr/>
        </p:nvSpPr>
        <p:spPr>
          <a:xfrm>
            <a:off x="2377440" y="191109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414016" y="1936496"/>
            <a:ext cx="2331720" cy="265176"/>
          </a:xfrm>
          <a:prstGeom prst="rect">
            <a:avLst/>
          </a:prstGeom>
          <a:noFill/>
        </p:spPr>
        <p:txBody>
          <a:bodyPr wrap="square">
            <a:spAutoFit/>
          </a:bodyPr>
          <a:lstStyle/>
          <a:p>
            <a:pPr algn="l"/>
            <a:r>
              <a:rPr sz="1050" b="0">
                <a:solidFill>
                  <a:srgbClr val="CCD6F1"/>
                </a:solidFill>
              </a:rPr>
              <a:t>Qwen 2.5 3B Instruct Q4_K_M</a:t>
            </a:r>
          </a:p>
        </p:txBody>
      </p:sp>
      <p:sp>
        <p:nvSpPr>
          <p:cNvPr id="36" name="Rectangle 35"/>
          <p:cNvSpPr/>
          <p:nvPr/>
        </p:nvSpPr>
        <p:spPr>
          <a:xfrm>
            <a:off x="4892040" y="191109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28616" y="1936496"/>
            <a:ext cx="2697480" cy="265176"/>
          </a:xfrm>
          <a:prstGeom prst="rect">
            <a:avLst/>
          </a:prstGeom>
          <a:noFill/>
        </p:spPr>
        <p:txBody>
          <a:bodyPr wrap="square">
            <a:spAutoFit/>
          </a:bodyPr>
          <a:lstStyle/>
          <a:p>
            <a:pPr algn="l"/>
            <a:r>
              <a:rPr sz="1050" b="0">
                <a:solidFill>
                  <a:srgbClr val="CCD6F1"/>
                </a:solidFill>
              </a:rPr>
              <a:t>GGUF (llama_cpp)</a:t>
            </a:r>
          </a:p>
        </p:txBody>
      </p:sp>
      <p:sp>
        <p:nvSpPr>
          <p:cNvPr id="38" name="Rectangle 37"/>
          <p:cNvSpPr/>
          <p:nvPr/>
        </p:nvSpPr>
        <p:spPr>
          <a:xfrm>
            <a:off x="7772400" y="191109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08976" y="1936496"/>
            <a:ext cx="1737360" cy="265176"/>
          </a:xfrm>
          <a:prstGeom prst="rect">
            <a:avLst/>
          </a:prstGeom>
          <a:noFill/>
        </p:spPr>
        <p:txBody>
          <a:bodyPr wrap="square">
            <a:spAutoFit/>
          </a:bodyPr>
          <a:lstStyle/>
          <a:p>
            <a:pPr algn="l"/>
            <a:r>
              <a:rPr sz="1050" b="0">
                <a:solidFill>
                  <a:srgbClr val="CCD6F1"/>
                </a:solidFill>
              </a:rPr>
              <a:t>CPU-first developer setup model</a:t>
            </a:r>
          </a:p>
        </p:txBody>
      </p:sp>
      <p:sp>
        <p:nvSpPr>
          <p:cNvPr id="40" name="Rectangle 39"/>
          <p:cNvSpPr/>
          <p:nvPr/>
        </p:nvSpPr>
        <p:spPr>
          <a:xfrm>
            <a:off x="256032" y="217627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2201672"/>
            <a:ext cx="1965960" cy="253916"/>
          </a:xfrm>
          <a:prstGeom prst="rect">
            <a:avLst/>
          </a:prstGeom>
          <a:noFill/>
        </p:spPr>
        <p:txBody>
          <a:bodyPr wrap="square">
            <a:spAutoFit/>
          </a:bodyPr>
          <a:lstStyle/>
          <a:p>
            <a:pPr algn="l"/>
            <a:r>
              <a:rPr sz="1050" b="0" dirty="0">
                <a:solidFill>
                  <a:srgbClr val="5B8DFF"/>
                </a:solidFill>
              </a:rPr>
              <a:t> Lite Chat (mini)</a:t>
            </a:r>
          </a:p>
        </p:txBody>
      </p:sp>
      <p:sp>
        <p:nvSpPr>
          <p:cNvPr id="42" name="Rectangle 41"/>
          <p:cNvSpPr/>
          <p:nvPr/>
        </p:nvSpPr>
        <p:spPr>
          <a:xfrm>
            <a:off x="2377440" y="217627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414016" y="2201672"/>
            <a:ext cx="2331720" cy="265176"/>
          </a:xfrm>
          <a:prstGeom prst="rect">
            <a:avLst/>
          </a:prstGeom>
          <a:noFill/>
        </p:spPr>
        <p:txBody>
          <a:bodyPr wrap="square">
            <a:spAutoFit/>
          </a:bodyPr>
          <a:lstStyle/>
          <a:p>
            <a:pPr algn="l"/>
            <a:r>
              <a:rPr sz="1050" b="0">
                <a:solidFill>
                  <a:srgbClr val="CCD6F1"/>
                </a:solidFill>
              </a:rPr>
              <a:t>Qwen 2.5 1.5B Instruct Q4_K_M</a:t>
            </a:r>
          </a:p>
        </p:txBody>
      </p:sp>
      <p:sp>
        <p:nvSpPr>
          <p:cNvPr id="44" name="Rectangle 43"/>
          <p:cNvSpPr/>
          <p:nvPr/>
        </p:nvSpPr>
        <p:spPr>
          <a:xfrm>
            <a:off x="4892040" y="217627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28616" y="2201672"/>
            <a:ext cx="2697480" cy="265176"/>
          </a:xfrm>
          <a:prstGeom prst="rect">
            <a:avLst/>
          </a:prstGeom>
          <a:noFill/>
        </p:spPr>
        <p:txBody>
          <a:bodyPr wrap="square">
            <a:spAutoFit/>
          </a:bodyPr>
          <a:lstStyle/>
          <a:p>
            <a:pPr algn="l"/>
            <a:r>
              <a:rPr sz="1050" b="0">
                <a:solidFill>
                  <a:srgbClr val="CCD6F1"/>
                </a:solidFill>
              </a:rPr>
              <a:t>GGUF (llama_cpp)</a:t>
            </a:r>
          </a:p>
        </p:txBody>
      </p:sp>
      <p:sp>
        <p:nvSpPr>
          <p:cNvPr id="46" name="Rectangle 45"/>
          <p:cNvSpPr/>
          <p:nvPr/>
        </p:nvSpPr>
        <p:spPr>
          <a:xfrm>
            <a:off x="7772400" y="217627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808976" y="2201672"/>
            <a:ext cx="1737360" cy="265176"/>
          </a:xfrm>
          <a:prstGeom prst="rect">
            <a:avLst/>
          </a:prstGeom>
          <a:noFill/>
        </p:spPr>
        <p:txBody>
          <a:bodyPr wrap="square">
            <a:spAutoFit/>
          </a:bodyPr>
          <a:lstStyle/>
          <a:p>
            <a:pPr algn="l"/>
            <a:r>
              <a:rPr sz="1050" b="0">
                <a:solidFill>
                  <a:srgbClr val="CCD6F1"/>
                </a:solidFill>
              </a:rPr>
              <a:t>Ultra-light CPU chat model</a:t>
            </a:r>
          </a:p>
        </p:txBody>
      </p:sp>
      <p:sp>
        <p:nvSpPr>
          <p:cNvPr id="48" name="Rectangle 47"/>
          <p:cNvSpPr/>
          <p:nvPr/>
        </p:nvSpPr>
        <p:spPr>
          <a:xfrm>
            <a:off x="256032" y="2441448"/>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2466848"/>
            <a:ext cx="1965960" cy="253916"/>
          </a:xfrm>
          <a:prstGeom prst="rect">
            <a:avLst/>
          </a:prstGeom>
          <a:noFill/>
        </p:spPr>
        <p:txBody>
          <a:bodyPr wrap="square">
            <a:spAutoFit/>
          </a:bodyPr>
          <a:lstStyle/>
          <a:p>
            <a:pPr algn="l"/>
            <a:r>
              <a:rPr sz="1050" b="0" dirty="0">
                <a:solidFill>
                  <a:srgbClr val="5B8DFF"/>
                </a:solidFill>
              </a:rPr>
              <a:t> Base Chat (GPU)</a:t>
            </a:r>
          </a:p>
        </p:txBody>
      </p:sp>
      <p:sp>
        <p:nvSpPr>
          <p:cNvPr id="50" name="Rectangle 49"/>
          <p:cNvSpPr/>
          <p:nvPr/>
        </p:nvSpPr>
        <p:spPr>
          <a:xfrm>
            <a:off x="2377440" y="2441448"/>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414016" y="2466848"/>
            <a:ext cx="2331720" cy="265176"/>
          </a:xfrm>
          <a:prstGeom prst="rect">
            <a:avLst/>
          </a:prstGeom>
          <a:noFill/>
        </p:spPr>
        <p:txBody>
          <a:bodyPr wrap="square">
            <a:spAutoFit/>
          </a:bodyPr>
          <a:lstStyle/>
          <a:p>
            <a:pPr algn="l"/>
            <a:r>
              <a:rPr sz="1050" b="0">
                <a:solidFill>
                  <a:srgbClr val="CCD6F1"/>
                </a:solidFill>
              </a:rPr>
              <a:t>Qwen 2.5 7B Instruct (HF)</a:t>
            </a:r>
          </a:p>
        </p:txBody>
      </p:sp>
      <p:sp>
        <p:nvSpPr>
          <p:cNvPr id="52" name="Rectangle 51"/>
          <p:cNvSpPr/>
          <p:nvPr/>
        </p:nvSpPr>
        <p:spPr>
          <a:xfrm>
            <a:off x="4892040" y="2441448"/>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928616" y="2466848"/>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54" name="Rectangle 53"/>
          <p:cNvSpPr/>
          <p:nvPr/>
        </p:nvSpPr>
        <p:spPr>
          <a:xfrm>
            <a:off x="7772400" y="2441448"/>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08976" y="2466848"/>
            <a:ext cx="1737360" cy="265176"/>
          </a:xfrm>
          <a:prstGeom prst="rect">
            <a:avLst/>
          </a:prstGeom>
          <a:noFill/>
        </p:spPr>
        <p:txBody>
          <a:bodyPr wrap="square">
            <a:spAutoFit/>
          </a:bodyPr>
          <a:lstStyle/>
          <a:p>
            <a:pPr algn="l"/>
            <a:r>
              <a:rPr sz="1050" b="0">
                <a:solidFill>
                  <a:srgbClr val="CCD6F1"/>
                </a:solidFill>
              </a:rPr>
              <a:t>Full HF inference on CUDA</a:t>
            </a:r>
          </a:p>
        </p:txBody>
      </p:sp>
      <p:sp>
        <p:nvSpPr>
          <p:cNvPr id="56" name="Rectangle 55"/>
          <p:cNvSpPr/>
          <p:nvPr/>
        </p:nvSpPr>
        <p:spPr>
          <a:xfrm>
            <a:off x="256032" y="2706624"/>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2608" y="2732024"/>
            <a:ext cx="1965960" cy="253916"/>
          </a:xfrm>
          <a:prstGeom prst="rect">
            <a:avLst/>
          </a:prstGeom>
          <a:noFill/>
        </p:spPr>
        <p:txBody>
          <a:bodyPr wrap="square">
            <a:spAutoFit/>
          </a:bodyPr>
          <a:lstStyle/>
          <a:p>
            <a:pPr algn="l"/>
            <a:r>
              <a:rPr sz="1050" b="0" dirty="0">
                <a:solidFill>
                  <a:srgbClr val="5B8DFF"/>
                </a:solidFill>
              </a:rPr>
              <a:t> Base Chat (CPU)</a:t>
            </a:r>
          </a:p>
        </p:txBody>
      </p:sp>
      <p:sp>
        <p:nvSpPr>
          <p:cNvPr id="58" name="Rectangle 57"/>
          <p:cNvSpPr/>
          <p:nvPr/>
        </p:nvSpPr>
        <p:spPr>
          <a:xfrm>
            <a:off x="2377440" y="2706624"/>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414016" y="2732024"/>
            <a:ext cx="2331720" cy="265176"/>
          </a:xfrm>
          <a:prstGeom prst="rect">
            <a:avLst/>
          </a:prstGeom>
          <a:noFill/>
        </p:spPr>
        <p:txBody>
          <a:bodyPr wrap="square">
            <a:spAutoFit/>
          </a:bodyPr>
          <a:lstStyle/>
          <a:p>
            <a:pPr algn="l"/>
            <a:r>
              <a:rPr sz="1050" b="0">
                <a:solidFill>
                  <a:srgbClr val="CCD6F1"/>
                </a:solidFill>
              </a:rPr>
              <a:t>Qwen 2.5 3B Instruct (HF)</a:t>
            </a:r>
          </a:p>
        </p:txBody>
      </p:sp>
      <p:sp>
        <p:nvSpPr>
          <p:cNvPr id="60" name="Rectangle 59"/>
          <p:cNvSpPr/>
          <p:nvPr/>
        </p:nvSpPr>
        <p:spPr>
          <a:xfrm>
            <a:off x="4892040" y="2706624"/>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28616" y="2732024"/>
            <a:ext cx="2697480" cy="265176"/>
          </a:xfrm>
          <a:prstGeom prst="rect">
            <a:avLst/>
          </a:prstGeom>
          <a:noFill/>
        </p:spPr>
        <p:txBody>
          <a:bodyPr wrap="square">
            <a:spAutoFit/>
          </a:bodyPr>
          <a:lstStyle/>
          <a:p>
            <a:pPr algn="l"/>
            <a:r>
              <a:rPr sz="1050" b="0">
                <a:solidFill>
                  <a:srgbClr val="CCD6F1"/>
                </a:solidFill>
              </a:rPr>
              <a:t>Hugging Face Transformers</a:t>
            </a:r>
          </a:p>
        </p:txBody>
      </p:sp>
      <p:sp>
        <p:nvSpPr>
          <p:cNvPr id="62" name="Rectangle 61"/>
          <p:cNvSpPr/>
          <p:nvPr/>
        </p:nvSpPr>
        <p:spPr>
          <a:xfrm>
            <a:off x="7772400" y="2706624"/>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808976" y="2732024"/>
            <a:ext cx="1737360" cy="265176"/>
          </a:xfrm>
          <a:prstGeom prst="rect">
            <a:avLst/>
          </a:prstGeom>
          <a:noFill/>
        </p:spPr>
        <p:txBody>
          <a:bodyPr wrap="square">
            <a:spAutoFit/>
          </a:bodyPr>
          <a:lstStyle/>
          <a:p>
            <a:pPr algn="l"/>
            <a:r>
              <a:rPr sz="1050" b="0">
                <a:solidFill>
                  <a:srgbClr val="CCD6F1"/>
                </a:solidFill>
              </a:rPr>
              <a:t>CPU-safe HF chat model</a:t>
            </a:r>
          </a:p>
        </p:txBody>
      </p:sp>
      <p:sp>
        <p:nvSpPr>
          <p:cNvPr id="64" name="Rectangle 63"/>
          <p:cNvSpPr/>
          <p:nvPr/>
        </p:nvSpPr>
        <p:spPr>
          <a:xfrm>
            <a:off x="256032" y="2971800"/>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92608" y="2997200"/>
            <a:ext cx="1965960" cy="253916"/>
          </a:xfrm>
          <a:prstGeom prst="rect">
            <a:avLst/>
          </a:prstGeom>
          <a:noFill/>
        </p:spPr>
        <p:txBody>
          <a:bodyPr wrap="square">
            <a:spAutoFit/>
          </a:bodyPr>
          <a:lstStyle/>
          <a:p>
            <a:pPr algn="l"/>
            <a:r>
              <a:rPr sz="1050" b="0" dirty="0">
                <a:solidFill>
                  <a:srgbClr val="5B8DFF"/>
                </a:solidFill>
              </a:rPr>
              <a:t> Agent Router</a:t>
            </a:r>
          </a:p>
        </p:txBody>
      </p:sp>
      <p:sp>
        <p:nvSpPr>
          <p:cNvPr id="66" name="Rectangle 65"/>
          <p:cNvSpPr/>
          <p:nvPr/>
        </p:nvSpPr>
        <p:spPr>
          <a:xfrm>
            <a:off x="2377440" y="2971800"/>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414016" y="2997200"/>
            <a:ext cx="2331720" cy="265176"/>
          </a:xfrm>
          <a:prstGeom prst="rect">
            <a:avLst/>
          </a:prstGeom>
          <a:noFill/>
        </p:spPr>
        <p:txBody>
          <a:bodyPr wrap="square">
            <a:spAutoFit/>
          </a:bodyPr>
          <a:lstStyle/>
          <a:p>
            <a:pPr algn="l"/>
            <a:r>
              <a:rPr sz="1050" b="0">
                <a:solidFill>
                  <a:srgbClr val="CCD6F1"/>
                </a:solidFill>
              </a:rPr>
              <a:t>Qwen 2.5 0.5B Q4 (GGUF)</a:t>
            </a:r>
          </a:p>
        </p:txBody>
      </p:sp>
      <p:sp>
        <p:nvSpPr>
          <p:cNvPr id="68" name="Rectangle 67"/>
          <p:cNvSpPr/>
          <p:nvPr/>
        </p:nvSpPr>
        <p:spPr>
          <a:xfrm>
            <a:off x="4892040" y="2971800"/>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928616" y="2997200"/>
            <a:ext cx="2697480" cy="265176"/>
          </a:xfrm>
          <a:prstGeom prst="rect">
            <a:avLst/>
          </a:prstGeom>
          <a:noFill/>
        </p:spPr>
        <p:txBody>
          <a:bodyPr wrap="square">
            <a:spAutoFit/>
          </a:bodyPr>
          <a:lstStyle/>
          <a:p>
            <a:pPr algn="l"/>
            <a:r>
              <a:rPr sz="1050" b="0">
                <a:solidFill>
                  <a:srgbClr val="CCD6F1"/>
                </a:solidFill>
              </a:rPr>
              <a:t>GGUF (llama_cpp)</a:t>
            </a:r>
          </a:p>
        </p:txBody>
      </p:sp>
      <p:sp>
        <p:nvSpPr>
          <p:cNvPr id="70" name="Rectangle 69"/>
          <p:cNvSpPr/>
          <p:nvPr/>
        </p:nvSpPr>
        <p:spPr>
          <a:xfrm>
            <a:off x="7772400" y="2971800"/>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808976" y="2997200"/>
            <a:ext cx="1737360" cy="265176"/>
          </a:xfrm>
          <a:prstGeom prst="rect">
            <a:avLst/>
          </a:prstGeom>
          <a:noFill/>
        </p:spPr>
        <p:txBody>
          <a:bodyPr wrap="square">
            <a:spAutoFit/>
          </a:bodyPr>
          <a:lstStyle/>
          <a:p>
            <a:pPr algn="l"/>
            <a:r>
              <a:rPr sz="1050" b="0">
                <a:solidFill>
                  <a:srgbClr val="CCD6F1"/>
                </a:solidFill>
              </a:rPr>
              <a:t>Hidden routing, extraction, gate decisions</a:t>
            </a:r>
          </a:p>
        </p:txBody>
      </p:sp>
      <p:sp>
        <p:nvSpPr>
          <p:cNvPr id="72" name="Rectangle 71"/>
          <p:cNvSpPr/>
          <p:nvPr/>
        </p:nvSpPr>
        <p:spPr>
          <a:xfrm>
            <a:off x="256032" y="3236976"/>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92608" y="3262376"/>
            <a:ext cx="1965960" cy="253916"/>
          </a:xfrm>
          <a:prstGeom prst="rect">
            <a:avLst/>
          </a:prstGeom>
          <a:noFill/>
        </p:spPr>
        <p:txBody>
          <a:bodyPr wrap="square">
            <a:spAutoFit/>
          </a:bodyPr>
          <a:lstStyle/>
          <a:p>
            <a:pPr algn="l"/>
            <a:r>
              <a:rPr sz="1050" b="0" dirty="0">
                <a:solidFill>
                  <a:srgbClr val="5B8DFF"/>
                </a:solidFill>
              </a:rPr>
              <a:t> Embedding</a:t>
            </a:r>
          </a:p>
        </p:txBody>
      </p:sp>
      <p:sp>
        <p:nvSpPr>
          <p:cNvPr id="74" name="Rectangle 73"/>
          <p:cNvSpPr/>
          <p:nvPr/>
        </p:nvSpPr>
        <p:spPr>
          <a:xfrm>
            <a:off x="2377440" y="3236976"/>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414016" y="3262376"/>
            <a:ext cx="2331720" cy="265176"/>
          </a:xfrm>
          <a:prstGeom prst="rect">
            <a:avLst/>
          </a:prstGeom>
          <a:noFill/>
        </p:spPr>
        <p:txBody>
          <a:bodyPr wrap="square">
            <a:spAutoFit/>
          </a:bodyPr>
          <a:lstStyle/>
          <a:p>
            <a:pPr algn="l"/>
            <a:r>
              <a:rPr sz="1050" b="0">
                <a:solidFill>
                  <a:srgbClr val="CCD6F1"/>
                </a:solidFill>
              </a:rPr>
              <a:t>BAAI/bge-m3 (1024-dim)</a:t>
            </a:r>
          </a:p>
        </p:txBody>
      </p:sp>
      <p:sp>
        <p:nvSpPr>
          <p:cNvPr id="76" name="Rectangle 75"/>
          <p:cNvSpPr/>
          <p:nvPr/>
        </p:nvSpPr>
        <p:spPr>
          <a:xfrm>
            <a:off x="4892040" y="3236976"/>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928616" y="3262376"/>
            <a:ext cx="2697480" cy="265176"/>
          </a:xfrm>
          <a:prstGeom prst="rect">
            <a:avLst/>
          </a:prstGeom>
          <a:noFill/>
        </p:spPr>
        <p:txBody>
          <a:bodyPr wrap="square">
            <a:spAutoFit/>
          </a:bodyPr>
          <a:lstStyle/>
          <a:p>
            <a:pPr algn="l"/>
            <a:r>
              <a:rPr sz="1050" b="0">
                <a:solidFill>
                  <a:srgbClr val="CCD6F1"/>
                </a:solidFill>
              </a:rPr>
              <a:t>Hugging Face Sentence Transformer</a:t>
            </a:r>
          </a:p>
        </p:txBody>
      </p:sp>
      <p:sp>
        <p:nvSpPr>
          <p:cNvPr id="78" name="Rectangle 77"/>
          <p:cNvSpPr/>
          <p:nvPr/>
        </p:nvSpPr>
        <p:spPr>
          <a:xfrm>
            <a:off x="7772400" y="3236976"/>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808976" y="3262376"/>
            <a:ext cx="1737360" cy="265176"/>
          </a:xfrm>
          <a:prstGeom prst="rect">
            <a:avLst/>
          </a:prstGeom>
          <a:noFill/>
        </p:spPr>
        <p:txBody>
          <a:bodyPr wrap="square">
            <a:spAutoFit/>
          </a:bodyPr>
          <a:lstStyle/>
          <a:p>
            <a:pPr algn="l"/>
            <a:r>
              <a:rPr sz="1050" b="0">
                <a:solidFill>
                  <a:srgbClr val="CCD6F1"/>
                </a:solidFill>
              </a:rPr>
              <a:t>Ingestion + retrieval vector embedding</a:t>
            </a:r>
          </a:p>
        </p:txBody>
      </p:sp>
      <p:sp>
        <p:nvSpPr>
          <p:cNvPr id="80" name="Rectangle 79"/>
          <p:cNvSpPr/>
          <p:nvPr/>
        </p:nvSpPr>
        <p:spPr>
          <a:xfrm>
            <a:off x="256032" y="3502152"/>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92608" y="3527552"/>
            <a:ext cx="1965960" cy="253916"/>
          </a:xfrm>
          <a:prstGeom prst="rect">
            <a:avLst/>
          </a:prstGeom>
          <a:noFill/>
        </p:spPr>
        <p:txBody>
          <a:bodyPr wrap="square">
            <a:spAutoFit/>
          </a:bodyPr>
          <a:lstStyle/>
          <a:p>
            <a:pPr algn="l"/>
            <a:r>
              <a:rPr sz="1050" b="0" dirty="0">
                <a:solidFill>
                  <a:srgbClr val="5B8DFF"/>
                </a:solidFill>
              </a:rPr>
              <a:t>  Intent Classifier</a:t>
            </a:r>
          </a:p>
        </p:txBody>
      </p:sp>
      <p:sp>
        <p:nvSpPr>
          <p:cNvPr id="82" name="Rectangle 81"/>
          <p:cNvSpPr/>
          <p:nvPr/>
        </p:nvSpPr>
        <p:spPr>
          <a:xfrm>
            <a:off x="2377440" y="3502152"/>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414016" y="3527552"/>
            <a:ext cx="2331720" cy="265176"/>
          </a:xfrm>
          <a:prstGeom prst="rect">
            <a:avLst/>
          </a:prstGeom>
          <a:noFill/>
        </p:spPr>
        <p:txBody>
          <a:bodyPr wrap="square">
            <a:spAutoFit/>
          </a:bodyPr>
          <a:lstStyle/>
          <a:p>
            <a:pPr algn="l"/>
            <a:r>
              <a:rPr sz="1050" b="0">
                <a:solidFill>
                  <a:srgbClr val="CCD6F1"/>
                </a:solidFill>
              </a:rPr>
              <a:t>facebook/bart-large-mnli</a:t>
            </a:r>
          </a:p>
        </p:txBody>
      </p:sp>
      <p:sp>
        <p:nvSpPr>
          <p:cNvPr id="84" name="Rectangle 83"/>
          <p:cNvSpPr/>
          <p:nvPr/>
        </p:nvSpPr>
        <p:spPr>
          <a:xfrm>
            <a:off x="4892040" y="3502152"/>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928616" y="3527552"/>
            <a:ext cx="2697480" cy="265176"/>
          </a:xfrm>
          <a:prstGeom prst="rect">
            <a:avLst/>
          </a:prstGeom>
          <a:noFill/>
        </p:spPr>
        <p:txBody>
          <a:bodyPr wrap="square">
            <a:spAutoFit/>
          </a:bodyPr>
          <a:lstStyle/>
          <a:p>
            <a:pPr algn="l"/>
            <a:r>
              <a:rPr sz="1050" b="0">
                <a:solidFill>
                  <a:srgbClr val="CCD6F1"/>
                </a:solidFill>
              </a:rPr>
              <a:t>Zero-shot NLI pipeline</a:t>
            </a:r>
          </a:p>
        </p:txBody>
      </p:sp>
      <p:sp>
        <p:nvSpPr>
          <p:cNvPr id="86" name="Rectangle 85"/>
          <p:cNvSpPr/>
          <p:nvPr/>
        </p:nvSpPr>
        <p:spPr>
          <a:xfrm>
            <a:off x="7772400" y="3502152"/>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808976" y="3527552"/>
            <a:ext cx="1737360" cy="265176"/>
          </a:xfrm>
          <a:prstGeom prst="rect">
            <a:avLst/>
          </a:prstGeom>
          <a:noFill/>
        </p:spPr>
        <p:txBody>
          <a:bodyPr wrap="square">
            <a:spAutoFit/>
          </a:bodyPr>
          <a:lstStyle/>
          <a:p>
            <a:pPr algn="l"/>
            <a:r>
              <a:rPr sz="1050" b="0">
                <a:solidFill>
                  <a:srgbClr val="CCD6F1"/>
                </a:solidFill>
              </a:rPr>
              <a:t>Query intent classification (MNLI)</a:t>
            </a:r>
          </a:p>
        </p:txBody>
      </p:sp>
      <p:sp>
        <p:nvSpPr>
          <p:cNvPr id="88" name="Rectangle 87"/>
          <p:cNvSpPr/>
          <p:nvPr/>
        </p:nvSpPr>
        <p:spPr>
          <a:xfrm>
            <a:off x="256032" y="3767328"/>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292608" y="3792728"/>
            <a:ext cx="1965960" cy="253916"/>
          </a:xfrm>
          <a:prstGeom prst="rect">
            <a:avLst/>
          </a:prstGeom>
          <a:noFill/>
        </p:spPr>
        <p:txBody>
          <a:bodyPr wrap="square">
            <a:spAutoFit/>
          </a:bodyPr>
          <a:lstStyle/>
          <a:p>
            <a:pPr algn="l"/>
            <a:r>
              <a:rPr sz="1050" b="0" dirty="0">
                <a:solidFill>
                  <a:srgbClr val="5B8DFF"/>
                </a:solidFill>
              </a:rPr>
              <a:t> Table Detector</a:t>
            </a:r>
          </a:p>
        </p:txBody>
      </p:sp>
      <p:sp>
        <p:nvSpPr>
          <p:cNvPr id="90" name="Rectangle 89"/>
          <p:cNvSpPr/>
          <p:nvPr/>
        </p:nvSpPr>
        <p:spPr>
          <a:xfrm>
            <a:off x="2377440" y="3767328"/>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2414016" y="3792728"/>
            <a:ext cx="2331720" cy="265176"/>
          </a:xfrm>
          <a:prstGeom prst="rect">
            <a:avLst/>
          </a:prstGeom>
          <a:noFill/>
        </p:spPr>
        <p:txBody>
          <a:bodyPr wrap="square">
            <a:spAutoFit/>
          </a:bodyPr>
          <a:lstStyle/>
          <a:p>
            <a:pPr algn="l"/>
            <a:r>
              <a:rPr sz="1050" b="0">
                <a:solidFill>
                  <a:srgbClr val="CCD6F1"/>
                </a:solidFill>
              </a:rPr>
              <a:t>microsoft/table-transformer</a:t>
            </a:r>
          </a:p>
        </p:txBody>
      </p:sp>
      <p:sp>
        <p:nvSpPr>
          <p:cNvPr id="92" name="Rectangle 91"/>
          <p:cNvSpPr/>
          <p:nvPr/>
        </p:nvSpPr>
        <p:spPr>
          <a:xfrm>
            <a:off x="4892040" y="3767328"/>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928616" y="3792728"/>
            <a:ext cx="2697480" cy="265176"/>
          </a:xfrm>
          <a:prstGeom prst="rect">
            <a:avLst/>
          </a:prstGeom>
          <a:noFill/>
        </p:spPr>
        <p:txBody>
          <a:bodyPr wrap="square">
            <a:spAutoFit/>
          </a:bodyPr>
          <a:lstStyle/>
          <a:p>
            <a:pPr algn="l"/>
            <a:r>
              <a:rPr sz="1050" b="0">
                <a:solidFill>
                  <a:srgbClr val="CCD6F1"/>
                </a:solidFill>
              </a:rPr>
              <a:t>Hugging Face Vision</a:t>
            </a:r>
          </a:p>
        </p:txBody>
      </p:sp>
      <p:sp>
        <p:nvSpPr>
          <p:cNvPr id="94" name="Rectangle 93"/>
          <p:cNvSpPr/>
          <p:nvPr/>
        </p:nvSpPr>
        <p:spPr>
          <a:xfrm>
            <a:off x="7772400" y="3767328"/>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808976" y="3792728"/>
            <a:ext cx="1737360" cy="265176"/>
          </a:xfrm>
          <a:prstGeom prst="rect">
            <a:avLst/>
          </a:prstGeom>
          <a:noFill/>
        </p:spPr>
        <p:txBody>
          <a:bodyPr wrap="square">
            <a:spAutoFit/>
          </a:bodyPr>
          <a:lstStyle/>
          <a:p>
            <a:pPr algn="l"/>
            <a:r>
              <a:rPr sz="1050" b="0">
                <a:solidFill>
                  <a:srgbClr val="CCD6F1"/>
                </a:solidFill>
              </a:rPr>
              <a:t>Unstructured hi_res table structure</a:t>
            </a:r>
          </a:p>
        </p:txBody>
      </p:sp>
      <p:sp>
        <p:nvSpPr>
          <p:cNvPr id="96" name="Rectangle 95"/>
          <p:cNvSpPr/>
          <p:nvPr/>
        </p:nvSpPr>
        <p:spPr>
          <a:xfrm>
            <a:off x="256032" y="4032504"/>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92608" y="4057904"/>
            <a:ext cx="1965960" cy="253916"/>
          </a:xfrm>
          <a:prstGeom prst="rect">
            <a:avLst/>
          </a:prstGeom>
          <a:noFill/>
        </p:spPr>
        <p:txBody>
          <a:bodyPr wrap="square">
            <a:spAutoFit/>
          </a:bodyPr>
          <a:lstStyle/>
          <a:p>
            <a:pPr algn="l"/>
            <a:r>
              <a:rPr sz="1050" b="0" dirty="0">
                <a:solidFill>
                  <a:srgbClr val="5B8DFF"/>
                </a:solidFill>
              </a:rPr>
              <a:t>  Layout Model</a:t>
            </a:r>
          </a:p>
        </p:txBody>
      </p:sp>
      <p:sp>
        <p:nvSpPr>
          <p:cNvPr id="98" name="Rectangle 97"/>
          <p:cNvSpPr/>
          <p:nvPr/>
        </p:nvSpPr>
        <p:spPr>
          <a:xfrm>
            <a:off x="2377440" y="4032504"/>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414016" y="4057904"/>
            <a:ext cx="2331720" cy="265176"/>
          </a:xfrm>
          <a:prstGeom prst="rect">
            <a:avLst/>
          </a:prstGeom>
          <a:noFill/>
        </p:spPr>
        <p:txBody>
          <a:bodyPr wrap="square">
            <a:spAutoFit/>
          </a:bodyPr>
          <a:lstStyle/>
          <a:p>
            <a:pPr algn="l"/>
            <a:r>
              <a:rPr sz="1050" b="0">
                <a:solidFill>
                  <a:srgbClr val="CCD6F1"/>
                </a:solidFill>
              </a:rPr>
              <a:t>unstructuredio/yolox_l0.05</a:t>
            </a:r>
          </a:p>
        </p:txBody>
      </p:sp>
      <p:sp>
        <p:nvSpPr>
          <p:cNvPr id="100" name="Rectangle 99"/>
          <p:cNvSpPr/>
          <p:nvPr/>
        </p:nvSpPr>
        <p:spPr>
          <a:xfrm>
            <a:off x="4892040" y="4032504"/>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928616" y="4057904"/>
            <a:ext cx="2697480" cy="265176"/>
          </a:xfrm>
          <a:prstGeom prst="rect">
            <a:avLst/>
          </a:prstGeom>
          <a:noFill/>
        </p:spPr>
        <p:txBody>
          <a:bodyPr wrap="square">
            <a:spAutoFit/>
          </a:bodyPr>
          <a:lstStyle/>
          <a:p>
            <a:pPr algn="l"/>
            <a:r>
              <a:rPr sz="1050" b="0">
                <a:solidFill>
                  <a:srgbClr val="CCD6F1"/>
                </a:solidFill>
              </a:rPr>
              <a:t>ONNX (YOLOX)</a:t>
            </a:r>
          </a:p>
        </p:txBody>
      </p:sp>
      <p:sp>
        <p:nvSpPr>
          <p:cNvPr id="102" name="Rectangle 101"/>
          <p:cNvSpPr/>
          <p:nvPr/>
        </p:nvSpPr>
        <p:spPr>
          <a:xfrm>
            <a:off x="7772400" y="4032504"/>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808976" y="4057904"/>
            <a:ext cx="1737360" cy="265176"/>
          </a:xfrm>
          <a:prstGeom prst="rect">
            <a:avLst/>
          </a:prstGeom>
          <a:noFill/>
        </p:spPr>
        <p:txBody>
          <a:bodyPr wrap="square">
            <a:spAutoFit/>
          </a:bodyPr>
          <a:lstStyle/>
          <a:p>
            <a:pPr algn="l"/>
            <a:r>
              <a:rPr sz="1050" b="0">
                <a:solidFill>
                  <a:srgbClr val="CCD6F1"/>
                </a:solidFill>
              </a:rPr>
              <a:t>PDF page layout detection (Unstructured)</a:t>
            </a:r>
          </a:p>
        </p:txBody>
      </p:sp>
      <p:sp>
        <p:nvSpPr>
          <p:cNvPr id="104" name="Rectangle 103"/>
          <p:cNvSpPr/>
          <p:nvPr/>
        </p:nvSpPr>
        <p:spPr>
          <a:xfrm>
            <a:off x="256032" y="4297680"/>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92608" y="4323080"/>
            <a:ext cx="1965960" cy="253916"/>
          </a:xfrm>
          <a:prstGeom prst="rect">
            <a:avLst/>
          </a:prstGeom>
          <a:noFill/>
        </p:spPr>
        <p:txBody>
          <a:bodyPr wrap="square">
            <a:spAutoFit/>
          </a:bodyPr>
          <a:lstStyle/>
          <a:p>
            <a:pPr algn="l"/>
            <a:r>
              <a:rPr sz="1050" b="0" dirty="0">
                <a:solidFill>
                  <a:srgbClr val="5B8DFF"/>
                </a:solidFill>
              </a:rPr>
              <a:t> </a:t>
            </a:r>
            <a:r>
              <a:rPr sz="1050" b="0" dirty="0" err="1">
                <a:solidFill>
                  <a:srgbClr val="5B8DFF"/>
                </a:solidFill>
              </a:rPr>
              <a:t>Reranker</a:t>
            </a:r>
            <a:endParaRPr sz="1050" b="0" dirty="0">
              <a:solidFill>
                <a:srgbClr val="5B8DFF"/>
              </a:solidFill>
            </a:endParaRPr>
          </a:p>
        </p:txBody>
      </p:sp>
      <p:sp>
        <p:nvSpPr>
          <p:cNvPr id="106" name="Rectangle 105"/>
          <p:cNvSpPr/>
          <p:nvPr/>
        </p:nvSpPr>
        <p:spPr>
          <a:xfrm>
            <a:off x="2377440" y="4297680"/>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414016" y="4323080"/>
            <a:ext cx="2331720" cy="265176"/>
          </a:xfrm>
          <a:prstGeom prst="rect">
            <a:avLst/>
          </a:prstGeom>
          <a:noFill/>
        </p:spPr>
        <p:txBody>
          <a:bodyPr wrap="square">
            <a:spAutoFit/>
          </a:bodyPr>
          <a:lstStyle/>
          <a:p>
            <a:pPr algn="l"/>
            <a:r>
              <a:rPr sz="1050" b="0">
                <a:solidFill>
                  <a:srgbClr val="CCD6F1"/>
                </a:solidFill>
              </a:rPr>
              <a:t>ms-marco-MiniLM-L-12-v2</a:t>
            </a:r>
          </a:p>
        </p:txBody>
      </p:sp>
      <p:sp>
        <p:nvSpPr>
          <p:cNvPr id="108" name="Rectangle 107"/>
          <p:cNvSpPr/>
          <p:nvPr/>
        </p:nvSpPr>
        <p:spPr>
          <a:xfrm>
            <a:off x="4892040" y="4297680"/>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928616" y="4323080"/>
            <a:ext cx="2697480" cy="265176"/>
          </a:xfrm>
          <a:prstGeom prst="rect">
            <a:avLst/>
          </a:prstGeom>
          <a:noFill/>
        </p:spPr>
        <p:txBody>
          <a:bodyPr wrap="square">
            <a:spAutoFit/>
          </a:bodyPr>
          <a:lstStyle/>
          <a:p>
            <a:pPr algn="l"/>
            <a:r>
              <a:rPr sz="1050" b="0">
                <a:solidFill>
                  <a:srgbClr val="CCD6F1"/>
                </a:solidFill>
              </a:rPr>
              <a:t>FlashRank cross-encoder</a:t>
            </a:r>
          </a:p>
        </p:txBody>
      </p:sp>
      <p:sp>
        <p:nvSpPr>
          <p:cNvPr id="110" name="Rectangle 109"/>
          <p:cNvSpPr/>
          <p:nvPr/>
        </p:nvSpPr>
        <p:spPr>
          <a:xfrm>
            <a:off x="7772400" y="4297680"/>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808976" y="4323080"/>
            <a:ext cx="1737360" cy="265176"/>
          </a:xfrm>
          <a:prstGeom prst="rect">
            <a:avLst/>
          </a:prstGeom>
          <a:noFill/>
        </p:spPr>
        <p:txBody>
          <a:bodyPr wrap="square">
            <a:spAutoFit/>
          </a:bodyPr>
          <a:lstStyle/>
          <a:p>
            <a:pPr algn="l"/>
            <a:r>
              <a:rPr sz="1050" b="0">
                <a:solidFill>
                  <a:srgbClr val="CCD6F1"/>
                </a:solidFill>
              </a:rPr>
              <a:t>Post-retrieval chunk reranking</a:t>
            </a:r>
          </a:p>
        </p:txBody>
      </p:sp>
      <p:sp>
        <p:nvSpPr>
          <p:cNvPr id="112" name="Rectangle 111"/>
          <p:cNvSpPr/>
          <p:nvPr/>
        </p:nvSpPr>
        <p:spPr>
          <a:xfrm>
            <a:off x="256032" y="4562856"/>
            <a:ext cx="20208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92608" y="4588256"/>
            <a:ext cx="1965960" cy="253916"/>
          </a:xfrm>
          <a:prstGeom prst="rect">
            <a:avLst/>
          </a:prstGeom>
          <a:noFill/>
        </p:spPr>
        <p:txBody>
          <a:bodyPr wrap="square">
            <a:spAutoFit/>
          </a:bodyPr>
          <a:lstStyle/>
          <a:p>
            <a:pPr algn="l"/>
            <a:r>
              <a:rPr sz="1050" b="0" dirty="0">
                <a:solidFill>
                  <a:srgbClr val="5B8DFF"/>
                </a:solidFill>
              </a:rPr>
              <a:t> Net (</a:t>
            </a:r>
            <a:r>
              <a:rPr sz="1050" b="0" dirty="0" err="1">
                <a:solidFill>
                  <a:srgbClr val="5B8DFF"/>
                </a:solidFill>
              </a:rPr>
              <a:t>Groq</a:t>
            </a:r>
            <a:r>
              <a:rPr sz="1050" b="0" dirty="0">
                <a:solidFill>
                  <a:srgbClr val="5B8DFF"/>
                </a:solidFill>
              </a:rPr>
              <a:t>)</a:t>
            </a:r>
          </a:p>
        </p:txBody>
      </p:sp>
      <p:sp>
        <p:nvSpPr>
          <p:cNvPr id="114" name="Rectangle 113"/>
          <p:cNvSpPr/>
          <p:nvPr/>
        </p:nvSpPr>
        <p:spPr>
          <a:xfrm>
            <a:off x="2377440" y="4562856"/>
            <a:ext cx="238658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2414016" y="4588256"/>
            <a:ext cx="2331720" cy="265176"/>
          </a:xfrm>
          <a:prstGeom prst="rect">
            <a:avLst/>
          </a:prstGeom>
          <a:noFill/>
        </p:spPr>
        <p:txBody>
          <a:bodyPr wrap="square">
            <a:spAutoFit/>
          </a:bodyPr>
          <a:lstStyle/>
          <a:p>
            <a:pPr algn="l"/>
            <a:r>
              <a:rPr sz="1050" b="0">
                <a:solidFill>
                  <a:srgbClr val="CCD6F1"/>
                </a:solidFill>
              </a:rPr>
              <a:t>llama-3.1-8b-instant</a:t>
            </a:r>
          </a:p>
        </p:txBody>
      </p:sp>
      <p:sp>
        <p:nvSpPr>
          <p:cNvPr id="116" name="Rectangle 115"/>
          <p:cNvSpPr/>
          <p:nvPr/>
        </p:nvSpPr>
        <p:spPr>
          <a:xfrm>
            <a:off x="4892040" y="4562856"/>
            <a:ext cx="275234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4928616" y="4588256"/>
            <a:ext cx="2697480" cy="265176"/>
          </a:xfrm>
          <a:prstGeom prst="rect">
            <a:avLst/>
          </a:prstGeom>
          <a:noFill/>
        </p:spPr>
        <p:txBody>
          <a:bodyPr wrap="square">
            <a:spAutoFit/>
          </a:bodyPr>
          <a:lstStyle/>
          <a:p>
            <a:pPr algn="l"/>
            <a:r>
              <a:rPr sz="1050" b="0">
                <a:solidFill>
                  <a:srgbClr val="CCD6F1"/>
                </a:solidFill>
              </a:rPr>
              <a:t>Groq REST API</a:t>
            </a:r>
          </a:p>
        </p:txBody>
      </p:sp>
      <p:sp>
        <p:nvSpPr>
          <p:cNvPr id="118" name="Rectangle 117"/>
          <p:cNvSpPr/>
          <p:nvPr/>
        </p:nvSpPr>
        <p:spPr>
          <a:xfrm>
            <a:off x="7772400" y="4562856"/>
            <a:ext cx="1792224" cy="252476"/>
          </a:xfrm>
          <a:prstGeom prst="rect">
            <a:avLst/>
          </a:prstGeom>
          <a:solidFill>
            <a:srgbClr val="16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7808976" y="4588256"/>
            <a:ext cx="1737360" cy="265176"/>
          </a:xfrm>
          <a:prstGeom prst="rect">
            <a:avLst/>
          </a:prstGeom>
          <a:noFill/>
        </p:spPr>
        <p:txBody>
          <a:bodyPr wrap="square">
            <a:spAutoFit/>
          </a:bodyPr>
          <a:lstStyle/>
          <a:p>
            <a:pPr algn="l"/>
            <a:r>
              <a:rPr sz="1050" b="0">
                <a:solidFill>
                  <a:srgbClr val="CCD6F1"/>
                </a:solidFill>
              </a:rPr>
              <a:t>External API streaming – rank 1 &amp; 2</a:t>
            </a:r>
          </a:p>
        </p:txBody>
      </p:sp>
      <p:sp>
        <p:nvSpPr>
          <p:cNvPr id="120" name="Rectangle 119"/>
          <p:cNvSpPr/>
          <p:nvPr/>
        </p:nvSpPr>
        <p:spPr>
          <a:xfrm>
            <a:off x="256032" y="4828032"/>
            <a:ext cx="20208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92608" y="4853432"/>
            <a:ext cx="1965960" cy="253916"/>
          </a:xfrm>
          <a:prstGeom prst="rect">
            <a:avLst/>
          </a:prstGeom>
          <a:noFill/>
        </p:spPr>
        <p:txBody>
          <a:bodyPr wrap="square">
            <a:spAutoFit/>
          </a:bodyPr>
          <a:lstStyle/>
          <a:p>
            <a:pPr algn="l"/>
            <a:r>
              <a:rPr sz="1050" b="0" dirty="0">
                <a:solidFill>
                  <a:srgbClr val="5B8DFF"/>
                </a:solidFill>
              </a:rPr>
              <a:t> Net (</a:t>
            </a:r>
            <a:r>
              <a:rPr sz="1050" b="0" dirty="0" err="1">
                <a:solidFill>
                  <a:srgbClr val="5B8DFF"/>
                </a:solidFill>
              </a:rPr>
              <a:t>xAI</a:t>
            </a:r>
            <a:r>
              <a:rPr sz="1050" b="0" dirty="0">
                <a:solidFill>
                  <a:srgbClr val="5B8DFF"/>
                </a:solidFill>
              </a:rPr>
              <a:t>)</a:t>
            </a:r>
          </a:p>
        </p:txBody>
      </p:sp>
      <p:sp>
        <p:nvSpPr>
          <p:cNvPr id="122" name="Rectangle 121"/>
          <p:cNvSpPr/>
          <p:nvPr/>
        </p:nvSpPr>
        <p:spPr>
          <a:xfrm>
            <a:off x="2377440" y="4828032"/>
            <a:ext cx="238658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414016" y="4853432"/>
            <a:ext cx="2331720" cy="265176"/>
          </a:xfrm>
          <a:prstGeom prst="rect">
            <a:avLst/>
          </a:prstGeom>
          <a:noFill/>
        </p:spPr>
        <p:txBody>
          <a:bodyPr wrap="square">
            <a:spAutoFit/>
          </a:bodyPr>
          <a:lstStyle/>
          <a:p>
            <a:pPr algn="l"/>
            <a:r>
              <a:rPr sz="1050" b="0">
                <a:solidFill>
                  <a:srgbClr val="CCD6F1"/>
                </a:solidFill>
              </a:rPr>
              <a:t>grok-beta</a:t>
            </a:r>
          </a:p>
        </p:txBody>
      </p:sp>
      <p:sp>
        <p:nvSpPr>
          <p:cNvPr id="124" name="Rectangle 123"/>
          <p:cNvSpPr/>
          <p:nvPr/>
        </p:nvSpPr>
        <p:spPr>
          <a:xfrm>
            <a:off x="4892040" y="4828032"/>
            <a:ext cx="275234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4928616" y="4853432"/>
            <a:ext cx="2697480" cy="265176"/>
          </a:xfrm>
          <a:prstGeom prst="rect">
            <a:avLst/>
          </a:prstGeom>
          <a:noFill/>
        </p:spPr>
        <p:txBody>
          <a:bodyPr wrap="square">
            <a:spAutoFit/>
          </a:bodyPr>
          <a:lstStyle/>
          <a:p>
            <a:pPr algn="l"/>
            <a:r>
              <a:rPr sz="1050" b="0">
                <a:solidFill>
                  <a:srgbClr val="CCD6F1"/>
                </a:solidFill>
              </a:rPr>
              <a:t>xAI Grok REST API</a:t>
            </a:r>
          </a:p>
        </p:txBody>
      </p:sp>
      <p:sp>
        <p:nvSpPr>
          <p:cNvPr id="126" name="Rectangle 125"/>
          <p:cNvSpPr/>
          <p:nvPr/>
        </p:nvSpPr>
        <p:spPr>
          <a:xfrm>
            <a:off x="7772400" y="4828032"/>
            <a:ext cx="1792224" cy="252476"/>
          </a:xfrm>
          <a:prstGeom prst="rect">
            <a:avLst/>
          </a:prstGeom>
          <a:solidFill>
            <a:srgbClr val="121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808976" y="4853432"/>
            <a:ext cx="1737360" cy="265176"/>
          </a:xfrm>
          <a:prstGeom prst="rect">
            <a:avLst/>
          </a:prstGeom>
          <a:noFill/>
        </p:spPr>
        <p:txBody>
          <a:bodyPr wrap="square">
            <a:spAutoFit/>
          </a:bodyPr>
          <a:lstStyle/>
          <a:p>
            <a:pPr algn="l"/>
            <a:r>
              <a:rPr sz="1050" b="0">
                <a:solidFill>
                  <a:srgbClr val="CCD6F1"/>
                </a:solidFill>
              </a:rPr>
              <a:t>External API streaming – Grok provider</a:t>
            </a:r>
          </a:p>
        </p:txBody>
      </p:sp>
      <p:pic>
        <p:nvPicPr>
          <p:cNvPr id="128" name="Picture 127">
            <a:extLst>
              <a:ext uri="{FF2B5EF4-FFF2-40B4-BE49-F238E27FC236}">
                <a16:creationId xmlns:a16="http://schemas.microsoft.com/office/drawing/2014/main" id="{1159CF5C-643E-E0D3-0C7E-233E48D82F7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Ingestion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 Preprocess → Filter → Group → Chunk → Enrich → Embed → PGVector</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Upload</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User drags PDF in Next.js UI.
Stored in MinIO (S3).
Job ID created in Redis.</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C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C5AFF"/>
                </a:solidFill>
              </a:rPr>
              <a:t>2️⃣  Preprocess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stream_pdf_to_elements()
Choose: PyPDF / PyMuPDF4LLM
/ Unstructured / Docling
/ Table Preprocessor</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E06C20"/>
                </a:solidFill>
              </a:rPr>
              <a:t>3️⃣  Filter</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Remove headers, footers,
boilerplate, image noise.
Version-tracked FILTER_VERSION.</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7C3AED"/>
                </a:solidFill>
              </a:rPr>
              <a:t>4️⃣  Group Blocks</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build_grouped_blocks()
Merge OCR fragments into
clean logical text blocks.</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Chunk</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ContextAwareChunker
Doc-type aware config:
spec 3500 / proc 800 / report 2000</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Enrich</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Metadata injection:
doc_id, revision, page, section,
quality_score, chunk_type.</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Embed &amp; Ingest</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BAAI/bge-m3 → 1024-dim vector
ingest_to_pgvector()
Revision-safe upsert.</a:t>
            </a:r>
          </a:p>
        </p:txBody>
      </p:sp>
      <p:sp>
        <p:nvSpPr>
          <p:cNvPr id="40" name="Rectangle 39"/>
          <p:cNvSpPr/>
          <p:nvPr/>
        </p:nvSpPr>
        <p:spPr>
          <a:xfrm>
            <a:off x="256032" y="2633472"/>
            <a:ext cx="11667744" cy="502920"/>
          </a:xfrm>
          <a:prstGeom prst="rect">
            <a:avLst/>
          </a:prstGeom>
          <a:solidFill>
            <a:srgbClr val="101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A0B4FF"/>
                </a:solidFill>
              </a:rPr>
              <a:t>RAG Ingest Modes:   Fast (pypdf, no tables)   ·   Balanced (hi_res + table structure, no images)   ·   High-Fidelity (hi_res + tables + images extracted)</a:t>
            </a:r>
          </a:p>
        </p:txBody>
      </p:sp>
      <p:sp>
        <p:nvSpPr>
          <p:cNvPr id="42" name="TextBox 41"/>
          <p:cNvSpPr txBox="1"/>
          <p:nvPr/>
        </p:nvSpPr>
        <p:spPr>
          <a:xfrm>
            <a:off x="256032" y="3255264"/>
            <a:ext cx="4389120" cy="3246120"/>
          </a:xfrm>
          <a:prstGeom prst="rect">
            <a:avLst/>
          </a:prstGeom>
          <a:noFill/>
        </p:spPr>
        <p:txBody>
          <a:bodyPr wrap="square">
            <a:spAutoFit/>
          </a:bodyPr>
          <a:lstStyle/>
          <a:p>
            <a:pPr algn="l"/>
            <a:r>
              <a:rPr sz="1200" dirty="0">
                <a:solidFill>
                  <a:srgbClr val="CCD6F1"/>
                </a:solidFill>
              </a:rPr>
              <a:t>  PRE-PROCESSORS AVAILABLE:</a:t>
            </a:r>
          </a:p>
          <a:p>
            <a:pPr algn="l"/>
            <a:r>
              <a:rPr sz="1200" dirty="0">
                <a:solidFill>
                  <a:srgbClr val="CCD6F1"/>
                </a:solidFill>
              </a:rPr>
              <a:t>    • </a:t>
            </a:r>
            <a:r>
              <a:rPr sz="1200" dirty="0" err="1">
                <a:solidFill>
                  <a:srgbClr val="CCD6F1"/>
                </a:solidFill>
              </a:rPr>
              <a:t>pypdf_text</a:t>
            </a:r>
            <a:r>
              <a:rPr sz="1200" dirty="0">
                <a:solidFill>
                  <a:srgbClr val="CCD6F1"/>
                </a:solidFill>
              </a:rPr>
              <a:t>      – lightweight text extraction (</a:t>
            </a:r>
            <a:r>
              <a:rPr sz="1200" dirty="0" err="1">
                <a:solidFill>
                  <a:srgbClr val="CCD6F1"/>
                </a:solidFill>
              </a:rPr>
              <a:t>PyPDF</a:t>
            </a:r>
            <a:r>
              <a:rPr sz="1200" dirty="0">
                <a:solidFill>
                  <a:srgbClr val="CCD6F1"/>
                </a:solidFill>
              </a:rPr>
              <a:t>)</a:t>
            </a:r>
          </a:p>
          <a:p>
            <a:pPr algn="l"/>
            <a:r>
              <a:rPr sz="1200" dirty="0">
                <a:solidFill>
                  <a:srgbClr val="CCD6F1"/>
                </a:solidFill>
              </a:rPr>
              <a:t>    • pymupdf4llm    – rich markdown extraction (</a:t>
            </a:r>
            <a:r>
              <a:rPr sz="1200" dirty="0" err="1">
                <a:solidFill>
                  <a:srgbClr val="CCD6F1"/>
                </a:solidFill>
              </a:rPr>
              <a:t>PyMuPDF</a:t>
            </a:r>
            <a:r>
              <a:rPr sz="1200" dirty="0">
                <a:solidFill>
                  <a:srgbClr val="CCD6F1"/>
                </a:solidFill>
              </a:rPr>
              <a:t>)</a:t>
            </a:r>
          </a:p>
          <a:p>
            <a:pPr algn="l"/>
            <a:r>
              <a:rPr sz="1200" dirty="0">
                <a:solidFill>
                  <a:srgbClr val="CCD6F1"/>
                </a:solidFill>
              </a:rPr>
              <a:t>    • unstructured   – </a:t>
            </a:r>
            <a:r>
              <a:rPr sz="1200" dirty="0" err="1">
                <a:solidFill>
                  <a:srgbClr val="CCD6F1"/>
                </a:solidFill>
              </a:rPr>
              <a:t>hi_res</a:t>
            </a:r>
            <a:r>
              <a:rPr sz="1200" dirty="0">
                <a:solidFill>
                  <a:srgbClr val="CCD6F1"/>
                </a:solidFill>
              </a:rPr>
              <a:t> layout + OCR (Tesseract/YOLOX)</a:t>
            </a:r>
          </a:p>
          <a:p>
            <a:pPr algn="l"/>
            <a:r>
              <a:rPr sz="1200" dirty="0">
                <a:solidFill>
                  <a:srgbClr val="CCD6F1"/>
                </a:solidFill>
              </a:rPr>
              <a:t>    • </a:t>
            </a:r>
            <a:r>
              <a:rPr sz="1200" dirty="0" err="1">
                <a:solidFill>
                  <a:srgbClr val="CCD6F1"/>
                </a:solidFill>
              </a:rPr>
              <a:t>docling</a:t>
            </a:r>
            <a:r>
              <a:rPr sz="1200" dirty="0">
                <a:solidFill>
                  <a:srgbClr val="CCD6F1"/>
                </a:solidFill>
              </a:rPr>
              <a:t>         – academic-grade extraction with table/formula support</a:t>
            </a:r>
          </a:p>
          <a:p>
            <a:pPr algn="l"/>
            <a:r>
              <a:rPr sz="1200" dirty="0">
                <a:solidFill>
                  <a:srgbClr val="CCD6F1"/>
                </a:solidFill>
              </a:rPr>
              <a:t>    • </a:t>
            </a:r>
            <a:r>
              <a:rPr sz="1200" dirty="0" err="1">
                <a:solidFill>
                  <a:srgbClr val="CCD6F1"/>
                </a:solidFill>
              </a:rPr>
              <a:t>table_preprocessor</a:t>
            </a:r>
            <a:r>
              <a:rPr sz="1200" dirty="0">
                <a:solidFill>
                  <a:srgbClr val="CCD6F1"/>
                </a:solidFill>
              </a:rPr>
              <a:t> – </a:t>
            </a:r>
            <a:r>
              <a:rPr sz="1200" dirty="0" err="1">
                <a:solidFill>
                  <a:srgbClr val="CCD6F1"/>
                </a:solidFill>
              </a:rPr>
              <a:t>specialised</a:t>
            </a:r>
            <a:r>
              <a:rPr sz="1200" dirty="0">
                <a:solidFill>
                  <a:srgbClr val="CCD6F1"/>
                </a:solidFill>
              </a:rPr>
              <a:t> </a:t>
            </a:r>
            <a:r>
              <a:rPr sz="1200" dirty="0" err="1">
                <a:solidFill>
                  <a:srgbClr val="CCD6F1"/>
                </a:solidFill>
              </a:rPr>
              <a:t>Docling</a:t>
            </a:r>
            <a:r>
              <a:rPr sz="1200" dirty="0">
                <a:solidFill>
                  <a:srgbClr val="CCD6F1"/>
                </a:solidFill>
              </a:rPr>
              <a:t>-backed table-focused pipeline</a:t>
            </a:r>
          </a:p>
        </p:txBody>
      </p:sp>
      <p:sp>
        <p:nvSpPr>
          <p:cNvPr id="43" name="TextBox 42"/>
          <p:cNvSpPr txBox="1"/>
          <p:nvPr/>
        </p:nvSpPr>
        <p:spPr>
          <a:xfrm>
            <a:off x="4709160" y="3255264"/>
            <a:ext cx="3017520" cy="3246120"/>
          </a:xfrm>
          <a:prstGeom prst="rect">
            <a:avLst/>
          </a:prstGeom>
          <a:noFill/>
        </p:spPr>
        <p:txBody>
          <a:bodyPr wrap="square">
            <a:spAutoFit/>
          </a:bodyPr>
          <a:lstStyle/>
          <a:p>
            <a:pPr algn="l"/>
            <a:r>
              <a:rPr sz="1200" dirty="0">
                <a:solidFill>
                  <a:srgbClr val="CCD6F1"/>
                </a:solidFill>
              </a:rPr>
              <a:t>  DOC-TYPE CHUNKING:</a:t>
            </a:r>
          </a:p>
          <a:p>
            <a:pPr algn="l"/>
            <a:r>
              <a:rPr sz="1200" dirty="0">
                <a:solidFill>
                  <a:srgbClr val="CCD6F1"/>
                </a:solidFill>
              </a:rPr>
              <a:t>    Specification → 3500 / 500</a:t>
            </a:r>
          </a:p>
          <a:p>
            <a:pPr algn="l"/>
            <a:r>
              <a:rPr sz="1200" dirty="0">
                <a:solidFill>
                  <a:srgbClr val="CCD6F1"/>
                </a:solidFill>
              </a:rPr>
              <a:t>    Procedure/SOP → 800 / 100</a:t>
            </a:r>
          </a:p>
          <a:p>
            <a:pPr algn="l"/>
            <a:r>
              <a:rPr sz="1200" dirty="0">
                <a:solidFill>
                  <a:srgbClr val="CCD6F1"/>
                </a:solidFill>
              </a:rPr>
              <a:t>    Report        → 2000 / 300</a:t>
            </a:r>
          </a:p>
          <a:p>
            <a:pPr algn="l"/>
            <a:r>
              <a:rPr sz="1200" dirty="0">
                <a:solidFill>
                  <a:srgbClr val="CCD6F1"/>
                </a:solidFill>
              </a:rPr>
              <a:t>    Drawing/P&amp;ID  → 1000 / 150</a:t>
            </a:r>
          </a:p>
          <a:p>
            <a:pPr algn="l"/>
            <a:r>
              <a:rPr sz="1200" dirty="0">
                <a:solidFill>
                  <a:srgbClr val="CCD6F1"/>
                </a:solidFill>
              </a:rPr>
              <a:t>    Datasheet     → 1500 / 200</a:t>
            </a:r>
          </a:p>
          <a:p>
            <a:pPr algn="l"/>
            <a:r>
              <a:rPr sz="1200" dirty="0">
                <a:solidFill>
                  <a:srgbClr val="CCD6F1"/>
                </a:solidFill>
              </a:rPr>
              <a:t>    Default       → 3000 / 400</a:t>
            </a:r>
          </a:p>
        </p:txBody>
      </p:sp>
      <p:pic>
        <p:nvPicPr>
          <p:cNvPr id="44" name="Picture 43" descr="flowchart_ingestion.png"/>
          <p:cNvPicPr>
            <a:picLocks noChangeAspect="1"/>
          </p:cNvPicPr>
          <p:nvPr/>
        </p:nvPicPr>
        <p:blipFill>
          <a:blip r:embed="rId3"/>
          <a:stretch>
            <a:fillRect/>
          </a:stretch>
        </p:blipFill>
        <p:spPr>
          <a:xfrm>
            <a:off x="7818120" y="3154680"/>
            <a:ext cx="4114800" cy="3474720"/>
          </a:xfrm>
          <a:prstGeom prst="rect">
            <a:avLst/>
          </a:prstGeom>
        </p:spPr>
      </p:pic>
      <p:pic>
        <p:nvPicPr>
          <p:cNvPr id="45" name="Picture 44">
            <a:extLst>
              <a:ext uri="{FF2B5EF4-FFF2-40B4-BE49-F238E27FC236}">
                <a16:creationId xmlns:a16="http://schemas.microsoft.com/office/drawing/2014/main" id="{B1C3561D-4FD0-1C02-99D0-CE3F21A80AFF}"/>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Query Pipeline – Step-by-Step Flowchart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User Question → Intent → Multi-Lane Retrieval → RRF → Rerank → Agentic Review → Stream</a:t>
            </a:r>
          </a:p>
        </p:txBody>
      </p:sp>
      <p:sp>
        <p:nvSpPr>
          <p:cNvPr id="6" name="Rectangle 5"/>
          <p:cNvSpPr/>
          <p:nvPr/>
        </p:nvSpPr>
        <p:spPr>
          <a:xfrm>
            <a:off x="25603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 y="1216152"/>
            <a:ext cx="1508760" cy="320040"/>
          </a:xfrm>
          <a:prstGeom prst="rect">
            <a:avLst/>
          </a:prstGeom>
          <a:noFill/>
        </p:spPr>
        <p:txBody>
          <a:bodyPr wrap="square">
            <a:spAutoFit/>
          </a:bodyPr>
          <a:lstStyle/>
          <a:p>
            <a:pPr algn="l"/>
            <a:r>
              <a:rPr sz="1100" b="1">
                <a:solidFill>
                  <a:srgbClr val="5B8DFF"/>
                </a:solidFill>
              </a:rPr>
              <a:t>1️⃣  User Query</a:t>
            </a:r>
          </a:p>
        </p:txBody>
      </p:sp>
      <p:sp>
        <p:nvSpPr>
          <p:cNvPr id="9" name="TextBox 8"/>
          <p:cNvSpPr txBox="1"/>
          <p:nvPr/>
        </p:nvSpPr>
        <p:spPr>
          <a:xfrm>
            <a:off x="310896" y="1554480"/>
            <a:ext cx="1508760" cy="868680"/>
          </a:xfrm>
          <a:prstGeom prst="rect">
            <a:avLst/>
          </a:prstGeom>
          <a:noFill/>
        </p:spPr>
        <p:txBody>
          <a:bodyPr wrap="square">
            <a:spAutoFit/>
          </a:bodyPr>
          <a:lstStyle/>
          <a:p>
            <a:pPr algn="l"/>
            <a:r>
              <a:rPr sz="950" b="0">
                <a:solidFill>
                  <a:srgbClr val="CCD6F1"/>
                </a:solidFill>
              </a:rPr>
              <a:t>Next.js sends question
+ session_id + model_id
via SSE stream endpoint.</a:t>
            </a:r>
          </a:p>
        </p:txBody>
      </p:sp>
      <p:sp>
        <p:nvSpPr>
          <p:cNvPr id="10" name="TextBox 9"/>
          <p:cNvSpPr txBox="1"/>
          <p:nvPr/>
        </p:nvSpPr>
        <p:spPr>
          <a:xfrm>
            <a:off x="1874520" y="1700784"/>
            <a:ext cx="91440"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96596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65960" y="1170432"/>
            <a:ext cx="1600200" cy="1325880"/>
          </a:xfrm>
          <a:prstGeom prst="rect">
            <a:avLst/>
          </a:prstGeom>
          <a:noFill/>
          <a:ln w="25400">
            <a:solidFill>
              <a:srgbClr val="705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20824" y="1216152"/>
            <a:ext cx="1508760" cy="320040"/>
          </a:xfrm>
          <a:prstGeom prst="rect">
            <a:avLst/>
          </a:prstGeom>
          <a:noFill/>
        </p:spPr>
        <p:txBody>
          <a:bodyPr wrap="square">
            <a:spAutoFit/>
          </a:bodyPr>
          <a:lstStyle/>
          <a:p>
            <a:pPr algn="l"/>
            <a:r>
              <a:rPr sz="1100" b="1">
                <a:solidFill>
                  <a:srgbClr val="7050FF"/>
                </a:solidFill>
              </a:rPr>
              <a:t>2️⃣  Intent Class.</a:t>
            </a:r>
          </a:p>
        </p:txBody>
      </p:sp>
      <p:sp>
        <p:nvSpPr>
          <p:cNvPr id="14" name="TextBox 13"/>
          <p:cNvSpPr txBox="1"/>
          <p:nvPr/>
        </p:nvSpPr>
        <p:spPr>
          <a:xfrm>
            <a:off x="2020824" y="1554480"/>
            <a:ext cx="1508760" cy="868680"/>
          </a:xfrm>
          <a:prstGeom prst="rect">
            <a:avLst/>
          </a:prstGeom>
          <a:noFill/>
        </p:spPr>
        <p:txBody>
          <a:bodyPr wrap="square">
            <a:spAutoFit/>
          </a:bodyPr>
          <a:lstStyle/>
          <a:p>
            <a:pPr algn="l"/>
            <a:r>
              <a:rPr sz="950" b="0">
                <a:solidFill>
                  <a:srgbClr val="CCD6F1"/>
                </a:solidFill>
              </a:rPr>
              <a:t>BART-large-MNLI classifies:
summary / factual / compare
/ procedure / greeting</a:t>
            </a:r>
          </a:p>
        </p:txBody>
      </p:sp>
      <p:sp>
        <p:nvSpPr>
          <p:cNvPr id="15" name="TextBox 14"/>
          <p:cNvSpPr txBox="1"/>
          <p:nvPr/>
        </p:nvSpPr>
        <p:spPr>
          <a:xfrm>
            <a:off x="3584448" y="1700784"/>
            <a:ext cx="91440"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675888"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75888" y="1170432"/>
            <a:ext cx="1600200" cy="132588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30752" y="1216152"/>
            <a:ext cx="1508760" cy="320040"/>
          </a:xfrm>
          <a:prstGeom prst="rect">
            <a:avLst/>
          </a:prstGeom>
          <a:noFill/>
        </p:spPr>
        <p:txBody>
          <a:bodyPr wrap="square">
            <a:spAutoFit/>
          </a:bodyPr>
          <a:lstStyle/>
          <a:p>
            <a:pPr algn="l"/>
            <a:r>
              <a:rPr sz="1100" b="1">
                <a:solidFill>
                  <a:srgbClr val="7C3AED"/>
                </a:solidFill>
              </a:rPr>
              <a:t>3️⃣  Retrieval Mode</a:t>
            </a:r>
          </a:p>
        </p:txBody>
      </p:sp>
      <p:sp>
        <p:nvSpPr>
          <p:cNvPr id="19" name="TextBox 18"/>
          <p:cNvSpPr txBox="1"/>
          <p:nvPr/>
        </p:nvSpPr>
        <p:spPr>
          <a:xfrm>
            <a:off x="3730752" y="1554480"/>
            <a:ext cx="1508760" cy="868680"/>
          </a:xfrm>
          <a:prstGeom prst="rect">
            <a:avLst/>
          </a:prstGeom>
          <a:noFill/>
        </p:spPr>
        <p:txBody>
          <a:bodyPr wrap="square">
            <a:spAutoFit/>
          </a:bodyPr>
          <a:lstStyle/>
          <a:p>
            <a:pPr algn="l"/>
            <a:r>
              <a:rPr sz="950" b="0">
                <a:solidFill>
                  <a:srgbClr val="CCD6F1"/>
                </a:solidFill>
              </a:rPr>
              <a:t>Auto-selects:
Fast / Balanced / High-Fidelity
based on intent label.</a:t>
            </a:r>
          </a:p>
        </p:txBody>
      </p:sp>
      <p:sp>
        <p:nvSpPr>
          <p:cNvPr id="20" name="TextBox 19"/>
          <p:cNvSpPr txBox="1"/>
          <p:nvPr/>
        </p:nvSpPr>
        <p:spPr>
          <a:xfrm>
            <a:off x="5294376" y="1700784"/>
            <a:ext cx="91440"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385816"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385816" y="1170432"/>
            <a:ext cx="1600200" cy="1325880"/>
          </a:xfrm>
          <a:prstGeom prst="rect">
            <a:avLst/>
          </a:prstGeom>
          <a:noFill/>
          <a:ln w="25400">
            <a:solidFill>
              <a:srgbClr val="E06C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40680" y="1216152"/>
            <a:ext cx="1508760" cy="320040"/>
          </a:xfrm>
          <a:prstGeom prst="rect">
            <a:avLst/>
          </a:prstGeom>
          <a:noFill/>
        </p:spPr>
        <p:txBody>
          <a:bodyPr wrap="square">
            <a:spAutoFit/>
          </a:bodyPr>
          <a:lstStyle/>
          <a:p>
            <a:pPr algn="l"/>
            <a:r>
              <a:rPr sz="1100" b="1">
                <a:solidFill>
                  <a:srgbClr val="E06C20"/>
                </a:solidFill>
              </a:rPr>
              <a:t>4️⃣  Multi-Lane
Search</a:t>
            </a:r>
          </a:p>
        </p:txBody>
      </p:sp>
      <p:sp>
        <p:nvSpPr>
          <p:cNvPr id="24" name="TextBox 23"/>
          <p:cNvSpPr txBox="1"/>
          <p:nvPr/>
        </p:nvSpPr>
        <p:spPr>
          <a:xfrm>
            <a:off x="5440680" y="1554480"/>
            <a:ext cx="1508760" cy="868680"/>
          </a:xfrm>
          <a:prstGeom prst="rect">
            <a:avLst/>
          </a:prstGeom>
          <a:noFill/>
        </p:spPr>
        <p:txBody>
          <a:bodyPr wrap="square">
            <a:spAutoFit/>
          </a:bodyPr>
          <a:lstStyle/>
          <a:p>
            <a:pPr algn="l"/>
            <a:r>
              <a:rPr sz="950" b="0">
                <a:solidFill>
                  <a:srgbClr val="CCD6F1"/>
                </a:solidFill>
              </a:rPr>
              <a:t>Per-lane searches:
text, parent, image, child.
Vector + BM25 keyword per lane.</a:t>
            </a:r>
          </a:p>
        </p:txBody>
      </p:sp>
      <p:sp>
        <p:nvSpPr>
          <p:cNvPr id="25" name="TextBox 24"/>
          <p:cNvSpPr txBox="1"/>
          <p:nvPr/>
        </p:nvSpPr>
        <p:spPr>
          <a:xfrm>
            <a:off x="7004304" y="1700784"/>
            <a:ext cx="91440"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7095744"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095744" y="1170432"/>
            <a:ext cx="1600200" cy="132588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50608" y="1216152"/>
            <a:ext cx="1508760" cy="320040"/>
          </a:xfrm>
          <a:prstGeom prst="rect">
            <a:avLst/>
          </a:prstGeom>
          <a:noFill/>
        </p:spPr>
        <p:txBody>
          <a:bodyPr wrap="square">
            <a:spAutoFit/>
          </a:bodyPr>
          <a:lstStyle/>
          <a:p>
            <a:pPr algn="l"/>
            <a:r>
              <a:rPr sz="1100" b="1">
                <a:solidFill>
                  <a:srgbClr val="4ADE80"/>
                </a:solidFill>
              </a:rPr>
              <a:t>5️⃣  RRF Fusion</a:t>
            </a:r>
          </a:p>
        </p:txBody>
      </p:sp>
      <p:sp>
        <p:nvSpPr>
          <p:cNvPr id="29" name="TextBox 28"/>
          <p:cNvSpPr txBox="1"/>
          <p:nvPr/>
        </p:nvSpPr>
        <p:spPr>
          <a:xfrm>
            <a:off x="7150608" y="1554480"/>
            <a:ext cx="1508760" cy="868680"/>
          </a:xfrm>
          <a:prstGeom prst="rect">
            <a:avLst/>
          </a:prstGeom>
          <a:noFill/>
        </p:spPr>
        <p:txBody>
          <a:bodyPr wrap="square">
            <a:spAutoFit/>
          </a:bodyPr>
          <a:lstStyle/>
          <a:p>
            <a:pPr algn="l"/>
            <a:r>
              <a:rPr sz="950" b="0">
                <a:solidFill>
                  <a:srgbClr val="CCD6F1"/>
                </a:solidFill>
              </a:rPr>
              <a:t>Reciprocal Rank Fusion
fuses vector + keyword
ranks (k=60 default).</a:t>
            </a:r>
          </a:p>
        </p:txBody>
      </p:sp>
      <p:sp>
        <p:nvSpPr>
          <p:cNvPr id="30" name="TextBox 29"/>
          <p:cNvSpPr txBox="1"/>
          <p:nvPr/>
        </p:nvSpPr>
        <p:spPr>
          <a:xfrm>
            <a:off x="8714232" y="1700784"/>
            <a:ext cx="91440"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805672"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805672" y="1170432"/>
            <a:ext cx="1600200" cy="1325880"/>
          </a:xfrm>
          <a:prstGeom prst="rect">
            <a:avLst/>
          </a:prstGeom>
          <a:noFill/>
          <a:ln w="25400">
            <a:solidFill>
              <a:srgbClr val="E0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860536" y="1216152"/>
            <a:ext cx="1508760" cy="320040"/>
          </a:xfrm>
          <a:prstGeom prst="rect">
            <a:avLst/>
          </a:prstGeom>
          <a:noFill/>
        </p:spPr>
        <p:txBody>
          <a:bodyPr wrap="square">
            <a:spAutoFit/>
          </a:bodyPr>
          <a:lstStyle/>
          <a:p>
            <a:pPr algn="l"/>
            <a:r>
              <a:rPr sz="1100" b="1">
                <a:solidFill>
                  <a:srgbClr val="E0A020"/>
                </a:solidFill>
              </a:rPr>
              <a:t>6️⃣  Rerank</a:t>
            </a:r>
          </a:p>
        </p:txBody>
      </p:sp>
      <p:sp>
        <p:nvSpPr>
          <p:cNvPr id="34" name="TextBox 33"/>
          <p:cNvSpPr txBox="1"/>
          <p:nvPr/>
        </p:nvSpPr>
        <p:spPr>
          <a:xfrm>
            <a:off x="8860536" y="1554480"/>
            <a:ext cx="1508760" cy="868680"/>
          </a:xfrm>
          <a:prstGeom prst="rect">
            <a:avLst/>
          </a:prstGeom>
          <a:noFill/>
        </p:spPr>
        <p:txBody>
          <a:bodyPr wrap="square">
            <a:spAutoFit/>
          </a:bodyPr>
          <a:lstStyle/>
          <a:p>
            <a:pPr algn="l"/>
            <a:r>
              <a:rPr sz="950" b="0">
                <a:solidFill>
                  <a:srgbClr val="CCD6F1"/>
                </a:solidFill>
              </a:rPr>
              <a:t>FlashRank MiniLM-L-12
cross-encoder rescores
candidates  →  top-K.</a:t>
            </a:r>
          </a:p>
        </p:txBody>
      </p:sp>
      <p:sp>
        <p:nvSpPr>
          <p:cNvPr id="35" name="TextBox 34"/>
          <p:cNvSpPr txBox="1"/>
          <p:nvPr/>
        </p:nvSpPr>
        <p:spPr>
          <a:xfrm>
            <a:off x="10424160" y="1700784"/>
            <a:ext cx="91440"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10515600" y="1170432"/>
            <a:ext cx="1600200" cy="1325880"/>
          </a:xfrm>
          <a:prstGeom prst="rect">
            <a:avLst/>
          </a:prstGeom>
          <a:solidFill>
            <a:srgbClr val="0D1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515600" y="1170432"/>
            <a:ext cx="1600200" cy="132588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70464" y="1216152"/>
            <a:ext cx="1508760" cy="320040"/>
          </a:xfrm>
          <a:prstGeom prst="rect">
            <a:avLst/>
          </a:prstGeom>
          <a:noFill/>
        </p:spPr>
        <p:txBody>
          <a:bodyPr wrap="square">
            <a:spAutoFit/>
          </a:bodyPr>
          <a:lstStyle/>
          <a:p>
            <a:pPr algn="l"/>
            <a:r>
              <a:rPr sz="1100" b="1">
                <a:solidFill>
                  <a:srgbClr val="5B8DFF"/>
                </a:solidFill>
              </a:rPr>
              <a:t>7️⃣  LLM Generate</a:t>
            </a:r>
          </a:p>
        </p:txBody>
      </p:sp>
      <p:sp>
        <p:nvSpPr>
          <p:cNvPr id="39" name="TextBox 38"/>
          <p:cNvSpPr txBox="1"/>
          <p:nvPr/>
        </p:nvSpPr>
        <p:spPr>
          <a:xfrm>
            <a:off x="10570464" y="1554480"/>
            <a:ext cx="1508760" cy="868680"/>
          </a:xfrm>
          <a:prstGeom prst="rect">
            <a:avLst/>
          </a:prstGeom>
          <a:noFill/>
        </p:spPr>
        <p:txBody>
          <a:bodyPr wrap="square">
            <a:spAutoFit/>
          </a:bodyPr>
          <a:lstStyle/>
          <a:p>
            <a:pPr algn="l"/>
            <a:r>
              <a:rPr sz="950" b="0">
                <a:solidFill>
                  <a:srgbClr val="CCD6F1"/>
                </a:solidFill>
              </a:rPr>
              <a:t>Prompt built → streamed
via GGUF / HF / Groq / xAI.
Token-by-token SSE yield.</a:t>
            </a:r>
          </a:p>
        </p:txBody>
      </p:sp>
      <p:sp>
        <p:nvSpPr>
          <p:cNvPr id="40" name="Rectangle 39"/>
          <p:cNvSpPr/>
          <p:nvPr/>
        </p:nvSpPr>
        <p:spPr>
          <a:xfrm>
            <a:off x="256032" y="2633472"/>
            <a:ext cx="11667744" cy="502920"/>
          </a:xfrm>
          <a:prstGeom prst="rect">
            <a:avLst/>
          </a:prstGeom>
          <a:solidFill>
            <a:srgbClr val="151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2679192"/>
            <a:ext cx="11338560" cy="411480"/>
          </a:xfrm>
          <a:prstGeom prst="rect">
            <a:avLst/>
          </a:prstGeom>
          <a:noFill/>
        </p:spPr>
        <p:txBody>
          <a:bodyPr wrap="square">
            <a:spAutoFit/>
          </a:bodyPr>
          <a:lstStyle/>
          <a:p>
            <a:pPr algn="ctr"/>
            <a:r>
              <a:rPr sz="1200" b="0">
                <a:solidFill>
                  <a:srgbClr val="FFC040"/>
                </a:solidFill>
              </a:rPr>
              <a:t>Optional Agentic Review Pipeline (enable_agent_pipeline=true):  Router → Planner → Extractor → Draft → Reviewer → Repair Gate → Senior Escalation (Qwen 3B)</a:t>
            </a:r>
          </a:p>
        </p:txBody>
      </p:sp>
      <p:sp>
        <p:nvSpPr>
          <p:cNvPr id="42" name="TextBox 41"/>
          <p:cNvSpPr txBox="1"/>
          <p:nvPr/>
        </p:nvSpPr>
        <p:spPr>
          <a:xfrm>
            <a:off x="256032" y="3255264"/>
            <a:ext cx="4206240" cy="3246120"/>
          </a:xfrm>
          <a:prstGeom prst="rect">
            <a:avLst/>
          </a:prstGeom>
          <a:noFill/>
        </p:spPr>
        <p:txBody>
          <a:bodyPr wrap="square">
            <a:spAutoFit/>
          </a:bodyPr>
          <a:lstStyle/>
          <a:p>
            <a:pPr algn="l"/>
            <a:r>
              <a:rPr sz="1200">
                <a:solidFill>
                  <a:srgbClr val="CCD6F1"/>
                </a:solidFill>
              </a:rPr>
              <a:t>  QUERY PROFILE ROUTING:</a:t>
            </a:r>
          </a:p>
          <a:p>
            <a:pPr algn="l"/>
            <a:r>
              <a:rPr sz="1200">
                <a:solidFill>
                  <a:srgbClr val="CCD6F1"/>
                </a:solidFill>
              </a:rPr>
              <a:t>    • metadata   – Title+Narrative only, no OCR, text lane only</a:t>
            </a:r>
          </a:p>
          <a:p>
            <a:pPr algn="l"/>
            <a:r>
              <a:rPr sz="1200">
                <a:solidFill>
                  <a:srgbClr val="CCD6F1"/>
                </a:solidFill>
              </a:rPr>
              <a:t>    • table_data – parent+child lane priority, Table element boost</a:t>
            </a:r>
          </a:p>
          <a:p>
            <a:pPr algn="l"/>
            <a:r>
              <a:rPr sz="1200">
                <a:solidFill>
                  <a:srgbClr val="CCD6F1"/>
                </a:solidFill>
              </a:rPr>
              <a:t>    • image_ref  – image lane priority, Image element ×1.3 boost</a:t>
            </a:r>
          </a:p>
          <a:p>
            <a:pPr algn="l"/>
            <a:r>
              <a:rPr sz="1200">
                <a:solidFill>
                  <a:srgbClr val="CCD6F1"/>
                </a:solidFill>
              </a:rPr>
              <a:t>    • summary    – balanced lanes, broad element set</a:t>
            </a:r>
          </a:p>
          <a:p>
            <a:pPr algn="l"/>
            <a:r>
              <a:rPr sz="1200">
                <a:solidFill>
                  <a:srgbClr val="CCD6F1"/>
                </a:solidFill>
              </a:rPr>
              <a:t>    • explanation – text lane focus, NarrativeText ×1.25</a:t>
            </a:r>
          </a:p>
          <a:p>
            <a:pPr algn="l"/>
            <a:r>
              <a:rPr sz="1200">
                <a:solidFill>
                  <a:srgbClr val="CCD6F1"/>
                </a:solidFill>
              </a:rPr>
              <a:t>    • factual    – text+parent lanes, excludes UncategorizedText</a:t>
            </a:r>
          </a:p>
        </p:txBody>
      </p:sp>
      <p:sp>
        <p:nvSpPr>
          <p:cNvPr id="43" name="TextBox 42"/>
          <p:cNvSpPr txBox="1"/>
          <p:nvPr/>
        </p:nvSpPr>
        <p:spPr>
          <a:xfrm>
            <a:off x="4526280" y="3255264"/>
            <a:ext cx="2926080" cy="3246120"/>
          </a:xfrm>
          <a:prstGeom prst="rect">
            <a:avLst/>
          </a:prstGeom>
          <a:noFill/>
        </p:spPr>
        <p:txBody>
          <a:bodyPr wrap="square">
            <a:spAutoFit/>
          </a:bodyPr>
          <a:lstStyle/>
          <a:p>
            <a:pPr algn="l"/>
            <a:r>
              <a:rPr sz="1200" dirty="0">
                <a:solidFill>
                  <a:srgbClr val="CCD6F1"/>
                </a:solidFill>
              </a:rPr>
              <a:t>  SCORING FACTORS:</a:t>
            </a:r>
          </a:p>
          <a:p>
            <a:pPr algn="l"/>
            <a:r>
              <a:rPr sz="1200" dirty="0">
                <a:solidFill>
                  <a:srgbClr val="CCD6F1"/>
                </a:solidFill>
              </a:rPr>
              <a:t>    </a:t>
            </a:r>
            <a:r>
              <a:rPr sz="1200" dirty="0" err="1">
                <a:solidFill>
                  <a:srgbClr val="CCD6F1"/>
                </a:solidFill>
              </a:rPr>
              <a:t>element_wt</a:t>
            </a:r>
            <a:r>
              <a:rPr sz="1200" dirty="0">
                <a:solidFill>
                  <a:srgbClr val="CCD6F1"/>
                </a:solidFill>
              </a:rPr>
              <a:t> × </a:t>
            </a:r>
            <a:r>
              <a:rPr sz="1200" dirty="0" err="1">
                <a:solidFill>
                  <a:srgbClr val="CCD6F1"/>
                </a:solidFill>
              </a:rPr>
              <a:t>source_wt</a:t>
            </a:r>
            <a:r>
              <a:rPr sz="1200" dirty="0">
                <a:solidFill>
                  <a:srgbClr val="CCD6F1"/>
                </a:solidFill>
              </a:rPr>
              <a:t> × quality</a:t>
            </a:r>
          </a:p>
          <a:p>
            <a:pPr algn="l"/>
            <a:r>
              <a:rPr sz="1200" dirty="0">
                <a:solidFill>
                  <a:srgbClr val="CCD6F1"/>
                </a:solidFill>
              </a:rPr>
              <a:t>    × </a:t>
            </a:r>
            <a:r>
              <a:rPr sz="1200" dirty="0" err="1">
                <a:solidFill>
                  <a:srgbClr val="CCD6F1"/>
                </a:solidFill>
              </a:rPr>
              <a:t>child_pen</a:t>
            </a:r>
            <a:r>
              <a:rPr sz="1200" dirty="0">
                <a:solidFill>
                  <a:srgbClr val="CCD6F1"/>
                </a:solidFill>
              </a:rPr>
              <a:t> × </a:t>
            </a:r>
            <a:r>
              <a:rPr sz="1200" dirty="0" err="1">
                <a:solidFill>
                  <a:srgbClr val="CCD6F1"/>
                </a:solidFill>
              </a:rPr>
              <a:t>ocr_pen</a:t>
            </a:r>
            <a:r>
              <a:rPr sz="1200" dirty="0">
                <a:solidFill>
                  <a:srgbClr val="CCD6F1"/>
                </a:solidFill>
              </a:rPr>
              <a:t> × </a:t>
            </a:r>
            <a:r>
              <a:rPr sz="1200" dirty="0" err="1">
                <a:solidFill>
                  <a:srgbClr val="CCD6F1"/>
                </a:solidFill>
              </a:rPr>
              <a:t>query_mult</a:t>
            </a:r>
            <a:endParaRPr sz="1200" dirty="0">
              <a:solidFill>
                <a:srgbClr val="CCD6F1"/>
              </a:solidFill>
            </a:endParaRPr>
          </a:p>
          <a:p>
            <a:pPr algn="l"/>
            <a:r>
              <a:rPr sz="1200" dirty="0">
                <a:solidFill>
                  <a:srgbClr val="CCD6F1"/>
                </a:solidFill>
              </a:rPr>
              <a:t>    × </a:t>
            </a:r>
            <a:r>
              <a:rPr sz="1200" dirty="0" err="1">
                <a:solidFill>
                  <a:srgbClr val="CCD6F1"/>
                </a:solidFill>
              </a:rPr>
              <a:t>lane_mult</a:t>
            </a:r>
            <a:r>
              <a:rPr sz="1200" dirty="0">
                <a:solidFill>
                  <a:srgbClr val="CCD6F1"/>
                </a:solidFill>
              </a:rPr>
              <a:t> × </a:t>
            </a:r>
            <a:r>
              <a:rPr sz="1200" dirty="0" err="1">
                <a:solidFill>
                  <a:srgbClr val="CCD6F1"/>
                </a:solidFill>
              </a:rPr>
              <a:t>section_mult</a:t>
            </a:r>
            <a:endParaRPr sz="1200" dirty="0">
              <a:solidFill>
                <a:srgbClr val="CCD6F1"/>
              </a:solidFill>
            </a:endParaRPr>
          </a:p>
          <a:p>
            <a:pPr algn="l"/>
            <a:r>
              <a:rPr sz="1200" dirty="0">
                <a:solidFill>
                  <a:srgbClr val="CCD6F1"/>
                </a:solidFill>
              </a:rPr>
              <a:t>  </a:t>
            </a:r>
          </a:p>
          <a:p>
            <a:pPr algn="l"/>
            <a:r>
              <a:rPr sz="1200" dirty="0">
                <a:solidFill>
                  <a:srgbClr val="CCD6F1"/>
                </a:solidFill>
              </a:rPr>
              <a:t>  QUALITY GATES:</a:t>
            </a:r>
          </a:p>
          <a:p>
            <a:pPr algn="l"/>
            <a:r>
              <a:rPr sz="1200" dirty="0">
                <a:solidFill>
                  <a:srgbClr val="CCD6F1"/>
                </a:solidFill>
              </a:rPr>
              <a:t>    Grounding check &lt; 0.40 → warning</a:t>
            </a:r>
          </a:p>
          <a:p>
            <a:pPr algn="l"/>
            <a:r>
              <a:rPr sz="1200" dirty="0">
                <a:solidFill>
                  <a:srgbClr val="CCD6F1"/>
                </a:solidFill>
              </a:rPr>
              <a:t>    Release gate → blockers list</a:t>
            </a:r>
          </a:p>
          <a:p>
            <a:pPr algn="l"/>
            <a:r>
              <a:rPr sz="1200" dirty="0">
                <a:solidFill>
                  <a:srgbClr val="CCD6F1"/>
                </a:solidFill>
              </a:rPr>
              <a:t>    Eval gate: heuristic pre-LLM</a:t>
            </a:r>
          </a:p>
        </p:txBody>
      </p:sp>
      <p:pic>
        <p:nvPicPr>
          <p:cNvPr id="44" name="Picture 43" descr="flowchart_query.png"/>
          <p:cNvPicPr>
            <a:picLocks noChangeAspect="1"/>
          </p:cNvPicPr>
          <p:nvPr/>
        </p:nvPicPr>
        <p:blipFill>
          <a:blip r:embed="rId3"/>
          <a:stretch>
            <a:fillRect/>
          </a:stretch>
        </p:blipFill>
        <p:spPr>
          <a:xfrm>
            <a:off x="7543800" y="3154680"/>
            <a:ext cx="4389120" cy="3474720"/>
          </a:xfrm>
          <a:prstGeom prst="rect">
            <a:avLst/>
          </a:prstGeom>
        </p:spPr>
      </p:pic>
      <p:pic>
        <p:nvPicPr>
          <p:cNvPr id="45" name="Picture 44">
            <a:extLst>
              <a:ext uri="{FF2B5EF4-FFF2-40B4-BE49-F238E27FC236}">
                <a16:creationId xmlns:a16="http://schemas.microsoft.com/office/drawing/2014/main" id="{FF1ED353-E96B-488D-F8A8-B2F41C7A7BAE}"/>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Agentic Review Pipeline – Hierarchical Deliberation Engine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Multi-stage agent chain: Router → Planner → Extractor → Draft → Reviewer → Gate → Senior</a:t>
            </a:r>
          </a:p>
        </p:txBody>
      </p:sp>
      <p:sp>
        <p:nvSpPr>
          <p:cNvPr id="6" name="Rectangle 5"/>
          <p:cNvSpPr/>
          <p:nvPr/>
        </p:nvSpPr>
        <p:spPr>
          <a:xfrm>
            <a:off x="256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1752" y="1225296"/>
            <a:ext cx="1417320" cy="457200"/>
          </a:xfrm>
          <a:prstGeom prst="rect">
            <a:avLst/>
          </a:prstGeom>
          <a:noFill/>
        </p:spPr>
        <p:txBody>
          <a:bodyPr wrap="square">
            <a:spAutoFit/>
          </a:bodyPr>
          <a:lstStyle/>
          <a:p>
            <a:pPr algn="l"/>
            <a:r>
              <a:rPr sz="1150" b="1">
                <a:solidFill>
                  <a:srgbClr val="FFC040"/>
                </a:solidFill>
              </a:rPr>
              <a:t>Router
(0.5B GGUF)</a:t>
            </a:r>
          </a:p>
        </p:txBody>
      </p:sp>
      <p:sp>
        <p:nvSpPr>
          <p:cNvPr id="9" name="TextBox 8"/>
          <p:cNvSpPr txBox="1"/>
          <p:nvPr/>
        </p:nvSpPr>
        <p:spPr>
          <a:xfrm>
            <a:off x="301752" y="1682496"/>
            <a:ext cx="1417320" cy="1005840"/>
          </a:xfrm>
          <a:prstGeom prst="rect">
            <a:avLst/>
          </a:prstGeom>
          <a:noFill/>
        </p:spPr>
        <p:txBody>
          <a:bodyPr wrap="square">
            <a:spAutoFit/>
          </a:bodyPr>
          <a:lstStyle/>
          <a:p>
            <a:pPr algn="l"/>
            <a:r>
              <a:rPr sz="1000" b="0">
                <a:solidFill>
                  <a:srgbClr val="CCD6F1"/>
                </a:solidFill>
              </a:rPr>
              <a:t>Classifies question type:
fact_lookup / summary /
comparison / ambiguous</a:t>
            </a:r>
          </a:p>
        </p:txBody>
      </p:sp>
      <p:sp>
        <p:nvSpPr>
          <p:cNvPr id="10" name="TextBox 9"/>
          <p:cNvSpPr txBox="1"/>
          <p:nvPr/>
        </p:nvSpPr>
        <p:spPr>
          <a:xfrm>
            <a:off x="1773936" y="1856232"/>
            <a:ext cx="82296" cy="320040"/>
          </a:xfrm>
          <a:prstGeom prst="rect">
            <a:avLst/>
          </a:prstGeom>
          <a:noFill/>
        </p:spPr>
        <p:txBody>
          <a:bodyPr wrap="square">
            <a:spAutoFit/>
          </a:bodyPr>
          <a:lstStyle/>
          <a:p>
            <a:pPr algn="ctr"/>
            <a:r>
              <a:rPr sz="1400" b="1">
                <a:solidFill>
                  <a:srgbClr val="5B8DFF"/>
                </a:solidFill>
              </a:rPr>
              <a:t>→</a:t>
            </a:r>
          </a:p>
        </p:txBody>
      </p:sp>
      <p:sp>
        <p:nvSpPr>
          <p:cNvPr id="11" name="Rectangle 10"/>
          <p:cNvSpPr/>
          <p:nvPr/>
        </p:nvSpPr>
        <p:spPr>
          <a:xfrm>
            <a:off x="1856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56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01952" y="1225296"/>
            <a:ext cx="1417320" cy="457200"/>
          </a:xfrm>
          <a:prstGeom prst="rect">
            <a:avLst/>
          </a:prstGeom>
          <a:noFill/>
        </p:spPr>
        <p:txBody>
          <a:bodyPr wrap="square">
            <a:spAutoFit/>
          </a:bodyPr>
          <a:lstStyle/>
          <a:p>
            <a:pPr algn="l"/>
            <a:r>
              <a:rPr sz="1150" b="1">
                <a:solidFill>
                  <a:srgbClr val="FFC040"/>
                </a:solidFill>
              </a:rPr>
              <a:t>Planner
(0.5B GGUF)</a:t>
            </a:r>
          </a:p>
        </p:txBody>
      </p:sp>
      <p:sp>
        <p:nvSpPr>
          <p:cNvPr id="14" name="TextBox 13"/>
          <p:cNvSpPr txBox="1"/>
          <p:nvPr/>
        </p:nvSpPr>
        <p:spPr>
          <a:xfrm>
            <a:off x="1901952" y="1682496"/>
            <a:ext cx="1417320" cy="1005840"/>
          </a:xfrm>
          <a:prstGeom prst="rect">
            <a:avLst/>
          </a:prstGeom>
          <a:noFill/>
        </p:spPr>
        <p:txBody>
          <a:bodyPr wrap="square">
            <a:spAutoFit/>
          </a:bodyPr>
          <a:lstStyle/>
          <a:p>
            <a:pPr algn="l"/>
            <a:r>
              <a:rPr sz="1000" b="0">
                <a:solidFill>
                  <a:srgbClr val="CCD6F1"/>
                </a:solidFill>
              </a:rPr>
              <a:t>Determines retrieval plan:
top_k, prefer_first_page
prefer_title / revision block</a:t>
            </a:r>
          </a:p>
        </p:txBody>
      </p:sp>
      <p:sp>
        <p:nvSpPr>
          <p:cNvPr id="15" name="TextBox 14"/>
          <p:cNvSpPr txBox="1"/>
          <p:nvPr/>
        </p:nvSpPr>
        <p:spPr>
          <a:xfrm>
            <a:off x="3374136" y="1856232"/>
            <a:ext cx="82296" cy="320040"/>
          </a:xfrm>
          <a:prstGeom prst="rect">
            <a:avLst/>
          </a:prstGeom>
          <a:noFill/>
        </p:spPr>
        <p:txBody>
          <a:bodyPr wrap="square">
            <a:spAutoFit/>
          </a:bodyPr>
          <a:lstStyle/>
          <a:p>
            <a:pPr algn="ctr"/>
            <a:r>
              <a:rPr sz="1400" b="1">
                <a:solidFill>
                  <a:srgbClr val="5B8DFF"/>
                </a:solidFill>
              </a:rPr>
              <a:t>→</a:t>
            </a:r>
          </a:p>
        </p:txBody>
      </p:sp>
      <p:sp>
        <p:nvSpPr>
          <p:cNvPr id="16" name="Rectangle 15"/>
          <p:cNvSpPr/>
          <p:nvPr/>
        </p:nvSpPr>
        <p:spPr>
          <a:xfrm>
            <a:off x="34564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4564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02152" y="1225296"/>
            <a:ext cx="1417320" cy="457200"/>
          </a:xfrm>
          <a:prstGeom prst="rect">
            <a:avLst/>
          </a:prstGeom>
          <a:noFill/>
        </p:spPr>
        <p:txBody>
          <a:bodyPr wrap="square">
            <a:spAutoFit/>
          </a:bodyPr>
          <a:lstStyle/>
          <a:p>
            <a:pPr algn="l"/>
            <a:r>
              <a:rPr sz="1150" b="1">
                <a:solidFill>
                  <a:srgbClr val="FFC040"/>
                </a:solidFill>
              </a:rPr>
              <a:t>Extractor
(0.5B GGUF)</a:t>
            </a:r>
          </a:p>
        </p:txBody>
      </p:sp>
      <p:sp>
        <p:nvSpPr>
          <p:cNvPr id="19" name="TextBox 18"/>
          <p:cNvSpPr txBox="1"/>
          <p:nvPr/>
        </p:nvSpPr>
        <p:spPr>
          <a:xfrm>
            <a:off x="3502152" y="1682496"/>
            <a:ext cx="1417320" cy="1005840"/>
          </a:xfrm>
          <a:prstGeom prst="rect">
            <a:avLst/>
          </a:prstGeom>
          <a:noFill/>
        </p:spPr>
        <p:txBody>
          <a:bodyPr wrap="square">
            <a:spAutoFit/>
          </a:bodyPr>
          <a:lstStyle/>
          <a:p>
            <a:pPr algn="l"/>
            <a:r>
              <a:rPr sz="1000" b="0">
                <a:solidFill>
                  <a:srgbClr val="CCD6F1"/>
                </a:solidFill>
              </a:rPr>
              <a:t>Extracts structured facts:
document_id, revision,
tag_number from chunks</a:t>
            </a:r>
          </a:p>
        </p:txBody>
      </p:sp>
      <p:sp>
        <p:nvSpPr>
          <p:cNvPr id="20" name="TextBox 19"/>
          <p:cNvSpPr txBox="1"/>
          <p:nvPr/>
        </p:nvSpPr>
        <p:spPr>
          <a:xfrm>
            <a:off x="4974336" y="1856232"/>
            <a:ext cx="82296" cy="320040"/>
          </a:xfrm>
          <a:prstGeom prst="rect">
            <a:avLst/>
          </a:prstGeom>
          <a:noFill/>
        </p:spPr>
        <p:txBody>
          <a:bodyPr wrap="square">
            <a:spAutoFit/>
          </a:bodyPr>
          <a:lstStyle/>
          <a:p>
            <a:pPr algn="ctr"/>
            <a:r>
              <a:rPr sz="1400" b="1">
                <a:solidFill>
                  <a:srgbClr val="5B8DFF"/>
                </a:solidFill>
              </a:rPr>
              <a:t>→</a:t>
            </a:r>
          </a:p>
        </p:txBody>
      </p:sp>
      <p:sp>
        <p:nvSpPr>
          <p:cNvPr id="21" name="Rectangle 20"/>
          <p:cNvSpPr/>
          <p:nvPr/>
        </p:nvSpPr>
        <p:spPr>
          <a:xfrm>
            <a:off x="50566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02352" y="1225296"/>
            <a:ext cx="1417320" cy="457200"/>
          </a:xfrm>
          <a:prstGeom prst="rect">
            <a:avLst/>
          </a:prstGeom>
          <a:noFill/>
        </p:spPr>
        <p:txBody>
          <a:bodyPr wrap="square">
            <a:spAutoFit/>
          </a:bodyPr>
          <a:lstStyle/>
          <a:p>
            <a:pPr algn="l"/>
            <a:r>
              <a:rPr sz="1150" b="1">
                <a:solidFill>
                  <a:srgbClr val="FFC040"/>
                </a:solidFill>
              </a:rPr>
              <a:t>Draft
(user model)</a:t>
            </a:r>
          </a:p>
        </p:txBody>
      </p:sp>
      <p:sp>
        <p:nvSpPr>
          <p:cNvPr id="24" name="TextBox 23"/>
          <p:cNvSpPr txBox="1"/>
          <p:nvPr/>
        </p:nvSpPr>
        <p:spPr>
          <a:xfrm>
            <a:off x="5102352" y="1682496"/>
            <a:ext cx="1417320" cy="1005840"/>
          </a:xfrm>
          <a:prstGeom prst="rect">
            <a:avLst/>
          </a:prstGeom>
          <a:noFill/>
        </p:spPr>
        <p:txBody>
          <a:bodyPr wrap="square">
            <a:spAutoFit/>
          </a:bodyPr>
          <a:lstStyle/>
          <a:p>
            <a:pPr algn="l"/>
            <a:r>
              <a:rPr sz="1000" b="0">
                <a:solidFill>
                  <a:srgbClr val="CCD6F1"/>
                </a:solidFill>
              </a:rPr>
              <a:t>Generates candidate answer
from facts + context.
Strict-copy or analytical.</a:t>
            </a:r>
          </a:p>
        </p:txBody>
      </p:sp>
      <p:sp>
        <p:nvSpPr>
          <p:cNvPr id="25" name="TextBox 24"/>
          <p:cNvSpPr txBox="1"/>
          <p:nvPr/>
        </p:nvSpPr>
        <p:spPr>
          <a:xfrm>
            <a:off x="6574536" y="1856232"/>
            <a:ext cx="82296" cy="320040"/>
          </a:xfrm>
          <a:prstGeom prst="rect">
            <a:avLst/>
          </a:prstGeom>
          <a:noFill/>
        </p:spPr>
        <p:txBody>
          <a:bodyPr wrap="square">
            <a:spAutoFit/>
          </a:bodyPr>
          <a:lstStyle/>
          <a:p>
            <a:pPr algn="ctr"/>
            <a:r>
              <a:rPr sz="1400" b="1">
                <a:solidFill>
                  <a:srgbClr val="5B8DFF"/>
                </a:solidFill>
              </a:rPr>
              <a:t>→</a:t>
            </a:r>
          </a:p>
        </p:txBody>
      </p:sp>
      <p:sp>
        <p:nvSpPr>
          <p:cNvPr id="26" name="Rectangle 25"/>
          <p:cNvSpPr/>
          <p:nvPr/>
        </p:nvSpPr>
        <p:spPr>
          <a:xfrm>
            <a:off x="66568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6568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02552" y="1225296"/>
            <a:ext cx="1417320" cy="457200"/>
          </a:xfrm>
          <a:prstGeom prst="rect">
            <a:avLst/>
          </a:prstGeom>
          <a:noFill/>
        </p:spPr>
        <p:txBody>
          <a:bodyPr wrap="square">
            <a:spAutoFit/>
          </a:bodyPr>
          <a:lstStyle/>
          <a:p>
            <a:pPr algn="l"/>
            <a:r>
              <a:rPr sz="1150" b="1">
                <a:solidFill>
                  <a:srgbClr val="FFC040"/>
                </a:solidFill>
              </a:rPr>
              <a:t>Reviewer
(1.5B GGUF)</a:t>
            </a:r>
          </a:p>
        </p:txBody>
      </p:sp>
      <p:sp>
        <p:nvSpPr>
          <p:cNvPr id="29" name="TextBox 28"/>
          <p:cNvSpPr txBox="1"/>
          <p:nvPr/>
        </p:nvSpPr>
        <p:spPr>
          <a:xfrm>
            <a:off x="6702552" y="1682496"/>
            <a:ext cx="1417320" cy="1005840"/>
          </a:xfrm>
          <a:prstGeom prst="rect">
            <a:avLst/>
          </a:prstGeom>
          <a:noFill/>
        </p:spPr>
        <p:txBody>
          <a:bodyPr wrap="square">
            <a:spAutoFit/>
          </a:bodyPr>
          <a:lstStyle/>
          <a:p>
            <a:pPr algn="l"/>
            <a:r>
              <a:rPr sz="1000" b="0">
                <a:solidFill>
                  <a:srgbClr val="CCD6F1"/>
                </a:solidFill>
              </a:rPr>
              <a:t>Reviews draft:
verbosity, grounding,
missing fields, conflicts</a:t>
            </a:r>
          </a:p>
        </p:txBody>
      </p:sp>
      <p:sp>
        <p:nvSpPr>
          <p:cNvPr id="30" name="TextBox 29"/>
          <p:cNvSpPr txBox="1"/>
          <p:nvPr/>
        </p:nvSpPr>
        <p:spPr>
          <a:xfrm>
            <a:off x="8174736" y="1856232"/>
            <a:ext cx="82296" cy="320040"/>
          </a:xfrm>
          <a:prstGeom prst="rect">
            <a:avLst/>
          </a:prstGeom>
          <a:noFill/>
        </p:spPr>
        <p:txBody>
          <a:bodyPr wrap="square">
            <a:spAutoFit/>
          </a:bodyPr>
          <a:lstStyle/>
          <a:p>
            <a:pPr algn="ctr"/>
            <a:r>
              <a:rPr sz="1400" b="1">
                <a:solidFill>
                  <a:srgbClr val="5B8DFF"/>
                </a:solidFill>
              </a:rPr>
              <a:t>→</a:t>
            </a:r>
          </a:p>
        </p:txBody>
      </p:sp>
      <p:sp>
        <p:nvSpPr>
          <p:cNvPr id="31" name="Rectangle 30"/>
          <p:cNvSpPr/>
          <p:nvPr/>
        </p:nvSpPr>
        <p:spPr>
          <a:xfrm>
            <a:off x="82570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570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02752" y="1225296"/>
            <a:ext cx="1417320" cy="457200"/>
          </a:xfrm>
          <a:prstGeom prst="rect">
            <a:avLst/>
          </a:prstGeom>
          <a:noFill/>
        </p:spPr>
        <p:txBody>
          <a:bodyPr wrap="square">
            <a:spAutoFit/>
          </a:bodyPr>
          <a:lstStyle/>
          <a:p>
            <a:pPr algn="l"/>
            <a:r>
              <a:rPr sz="1150" b="1">
                <a:solidFill>
                  <a:srgbClr val="FFC040"/>
                </a:solidFill>
              </a:rPr>
              <a:t>Gate
(0.5B GGUF)</a:t>
            </a:r>
          </a:p>
        </p:txBody>
      </p:sp>
      <p:sp>
        <p:nvSpPr>
          <p:cNvPr id="34" name="TextBox 33"/>
          <p:cNvSpPr txBox="1"/>
          <p:nvPr/>
        </p:nvSpPr>
        <p:spPr>
          <a:xfrm>
            <a:off x="8302752" y="1682496"/>
            <a:ext cx="1417320" cy="1005840"/>
          </a:xfrm>
          <a:prstGeom prst="rect">
            <a:avLst/>
          </a:prstGeom>
          <a:noFill/>
        </p:spPr>
        <p:txBody>
          <a:bodyPr wrap="square">
            <a:spAutoFit/>
          </a:bodyPr>
          <a:lstStyle/>
          <a:p>
            <a:pPr algn="l"/>
            <a:r>
              <a:rPr sz="1000" b="0">
                <a:solidFill>
                  <a:srgbClr val="CCD6F1"/>
                </a:solidFill>
              </a:rPr>
              <a:t>Decision:
release / retry_once
escalate_3b / reject</a:t>
            </a:r>
          </a:p>
        </p:txBody>
      </p:sp>
      <p:sp>
        <p:nvSpPr>
          <p:cNvPr id="35" name="TextBox 34"/>
          <p:cNvSpPr txBox="1"/>
          <p:nvPr/>
        </p:nvSpPr>
        <p:spPr>
          <a:xfrm>
            <a:off x="9774936" y="1856232"/>
            <a:ext cx="82296" cy="320040"/>
          </a:xfrm>
          <a:prstGeom prst="rect">
            <a:avLst/>
          </a:prstGeom>
          <a:noFill/>
        </p:spPr>
        <p:txBody>
          <a:bodyPr wrap="square">
            <a:spAutoFit/>
          </a:bodyPr>
          <a:lstStyle/>
          <a:p>
            <a:pPr algn="ctr"/>
            <a:r>
              <a:rPr sz="1400" b="1">
                <a:solidFill>
                  <a:srgbClr val="5B8DFF"/>
                </a:solidFill>
              </a:rPr>
              <a:t>→</a:t>
            </a:r>
          </a:p>
        </p:txBody>
      </p:sp>
      <p:sp>
        <p:nvSpPr>
          <p:cNvPr id="36" name="Rectangle 35"/>
          <p:cNvSpPr/>
          <p:nvPr/>
        </p:nvSpPr>
        <p:spPr>
          <a:xfrm>
            <a:off x="9857232" y="1170432"/>
            <a:ext cx="1508760" cy="1600200"/>
          </a:xfrm>
          <a:prstGeom prst="rect">
            <a:avLst/>
          </a:prstGeom>
          <a:solidFill>
            <a:srgbClr val="0F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857232" y="1170432"/>
            <a:ext cx="1508760" cy="1600200"/>
          </a:xfrm>
          <a:prstGeom prst="rect">
            <a:avLst/>
          </a:prstGeom>
          <a:noFill/>
          <a:ln w="2286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02952" y="1225296"/>
            <a:ext cx="1417320" cy="457200"/>
          </a:xfrm>
          <a:prstGeom prst="rect">
            <a:avLst/>
          </a:prstGeom>
          <a:noFill/>
        </p:spPr>
        <p:txBody>
          <a:bodyPr wrap="square">
            <a:spAutoFit/>
          </a:bodyPr>
          <a:lstStyle/>
          <a:p>
            <a:pPr algn="l"/>
            <a:r>
              <a:rPr sz="1150" b="1">
                <a:solidFill>
                  <a:srgbClr val="FFC040"/>
                </a:solidFill>
              </a:rPr>
              <a:t>Senior
(Qwen 3B HF)</a:t>
            </a:r>
          </a:p>
        </p:txBody>
      </p:sp>
      <p:sp>
        <p:nvSpPr>
          <p:cNvPr id="39" name="TextBox 38"/>
          <p:cNvSpPr txBox="1"/>
          <p:nvPr/>
        </p:nvSpPr>
        <p:spPr>
          <a:xfrm>
            <a:off x="9902952" y="1682496"/>
            <a:ext cx="1417320" cy="1005840"/>
          </a:xfrm>
          <a:prstGeom prst="rect">
            <a:avLst/>
          </a:prstGeom>
          <a:noFill/>
        </p:spPr>
        <p:txBody>
          <a:bodyPr wrap="square">
            <a:spAutoFit/>
          </a:bodyPr>
          <a:lstStyle/>
          <a:p>
            <a:pPr algn="l"/>
            <a:r>
              <a:rPr sz="1000" b="0">
                <a:solidFill>
                  <a:srgbClr val="CCD6F1"/>
                </a:solidFill>
              </a:rPr>
              <a:t>Escalation model for
conflicts &amp; ambiguities.
Final authoritative answer.</a:t>
            </a:r>
          </a:p>
        </p:txBody>
      </p:sp>
      <p:pic>
        <p:nvPicPr>
          <p:cNvPr id="40" name="Picture 39" descr="flowchart_agentic.png"/>
          <p:cNvPicPr>
            <a:picLocks noChangeAspect="1"/>
          </p:cNvPicPr>
          <p:nvPr/>
        </p:nvPicPr>
        <p:blipFill>
          <a:blip r:embed="rId3"/>
          <a:stretch>
            <a:fillRect/>
          </a:stretch>
        </p:blipFill>
        <p:spPr>
          <a:xfrm>
            <a:off x="1351465" y="2825496"/>
            <a:ext cx="8414327" cy="3213388"/>
          </a:xfrm>
          <a:prstGeom prst="rect">
            <a:avLst/>
          </a:prstGeom>
        </p:spPr>
      </p:pic>
      <p:sp>
        <p:nvSpPr>
          <p:cNvPr id="41" name="TextBox 40"/>
          <p:cNvSpPr txBox="1"/>
          <p:nvPr/>
        </p:nvSpPr>
        <p:spPr>
          <a:xfrm>
            <a:off x="577439" y="6136818"/>
            <a:ext cx="11033945" cy="623248"/>
          </a:xfrm>
          <a:prstGeom prst="rect">
            <a:avLst/>
          </a:prstGeom>
          <a:noFill/>
        </p:spPr>
        <p:txBody>
          <a:bodyPr wrap="square">
            <a:spAutoFit/>
          </a:bodyPr>
          <a:lstStyle/>
          <a:p>
            <a:pPr algn="l"/>
            <a:r>
              <a:rPr sz="1150" dirty="0">
                <a:solidFill>
                  <a:srgbClr val="CCD6F1"/>
                </a:solidFill>
              </a:rPr>
              <a:t>  MODEL ASSIGNMENTS:  Router/Planner/Extractor/Gate → Qwen 0.5B Q4   |   Draft → user model (Llama 8B / Qwen)   |   Reviewer → Qwen 1.5B Q4   |   Senior → Qwen 3B HF</a:t>
            </a:r>
          </a:p>
          <a:p>
            <a:pPr algn="l"/>
            <a:r>
              <a:rPr sz="1150" dirty="0">
                <a:solidFill>
                  <a:srgbClr val="CCD6F1"/>
                </a:solidFill>
              </a:rPr>
              <a:t>  STRICT FACTUAL PATH (</a:t>
            </a:r>
            <a:r>
              <a:rPr sz="1150" dirty="0" err="1">
                <a:solidFill>
                  <a:srgbClr val="CCD6F1"/>
                </a:solidFill>
              </a:rPr>
              <a:t>eval_gate</a:t>
            </a:r>
            <a:r>
              <a:rPr sz="1150" dirty="0">
                <a:solidFill>
                  <a:srgbClr val="CCD6F1"/>
                </a:solidFill>
              </a:rPr>
              <a:t>=true): regex heuristic extraction → validate → release without LLM if high confidence</a:t>
            </a:r>
          </a:p>
          <a:p>
            <a:pPr algn="l"/>
            <a:r>
              <a:rPr sz="1150" dirty="0">
                <a:solidFill>
                  <a:srgbClr val="CCD6F1"/>
                </a:solidFill>
              </a:rPr>
              <a:t>  DISABLED BY DEFAULT  —  enable via </a:t>
            </a:r>
            <a:r>
              <a:rPr sz="1150" dirty="0" err="1">
                <a:solidFill>
                  <a:srgbClr val="CCD6F1"/>
                </a:solidFill>
              </a:rPr>
              <a:t>devtools</a:t>
            </a:r>
            <a:r>
              <a:rPr sz="1150" dirty="0">
                <a:solidFill>
                  <a:srgbClr val="CCD6F1"/>
                </a:solidFill>
              </a:rPr>
              <a:t> panel:  </a:t>
            </a:r>
            <a:r>
              <a:rPr sz="1150" dirty="0" err="1">
                <a:solidFill>
                  <a:srgbClr val="CCD6F1"/>
                </a:solidFill>
              </a:rPr>
              <a:t>enable_agent_pipeline</a:t>
            </a:r>
            <a:r>
              <a:rPr sz="1150" dirty="0">
                <a:solidFill>
                  <a:srgbClr val="CCD6F1"/>
                </a:solidFill>
              </a:rPr>
              <a:t>=true   and   </a:t>
            </a:r>
            <a:r>
              <a:rPr sz="1150" dirty="0" err="1">
                <a:solidFill>
                  <a:srgbClr val="CCD6F1"/>
                </a:solidFill>
              </a:rPr>
              <a:t>enable_eval_gate</a:t>
            </a:r>
            <a:r>
              <a:rPr sz="1150" dirty="0">
                <a:solidFill>
                  <a:srgbClr val="CCD6F1"/>
                </a:solidFill>
              </a:rPr>
              <a:t>=true</a:t>
            </a:r>
          </a:p>
        </p:txBody>
      </p:sp>
      <p:pic>
        <p:nvPicPr>
          <p:cNvPr id="42" name="Picture 41">
            <a:extLst>
              <a:ext uri="{FF2B5EF4-FFF2-40B4-BE49-F238E27FC236}">
                <a16:creationId xmlns:a16="http://schemas.microsoft.com/office/drawing/2014/main" id="{5ECE2E3E-FBFD-D54B-B1C3-3890BD1D9A15}"/>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857232" cy="566928"/>
          </a:xfrm>
          <a:prstGeom prst="rect">
            <a:avLst/>
          </a:prstGeom>
          <a:noFill/>
        </p:spPr>
        <p:txBody>
          <a:bodyPr wrap="square" tIns="0">
            <a:spAutoFit/>
          </a:bodyPr>
          <a:lstStyle/>
          <a:p>
            <a:pPr algn="l">
              <a:spcAft>
                <a:spcPts val="100"/>
              </a:spcAft>
            </a:pPr>
            <a:r>
              <a:rPr sz="2600" b="1" i="0">
                <a:solidFill>
                  <a:srgbClr val="FFFFFF"/>
                </a:solidFill>
                <a:latin typeface="Calibri"/>
              </a:rPr>
              <a:t>Developer Admin Dashboard</a:t>
            </a:r>
          </a:p>
        </p:txBody>
      </p:sp>
      <p:sp>
        <p:nvSpPr>
          <p:cNvPr id="5" name="TextBox 4"/>
          <p:cNvSpPr txBox="1"/>
          <p:nvPr/>
        </p:nvSpPr>
        <p:spPr>
          <a:xfrm>
            <a:off x="320040" y="621792"/>
            <a:ext cx="9857232" cy="329184"/>
          </a:xfrm>
          <a:prstGeom prst="rect">
            <a:avLst/>
          </a:prstGeom>
          <a:noFill/>
        </p:spPr>
        <p:txBody>
          <a:bodyPr wrap="square" tIns="0">
            <a:spAutoFit/>
          </a:bodyPr>
          <a:lstStyle/>
          <a:p>
            <a:pPr algn="l">
              <a:spcAft>
                <a:spcPts val="100"/>
              </a:spcAft>
            </a:pPr>
            <a:r>
              <a:rPr sz="1300" b="0" i="0">
                <a:solidFill>
                  <a:srgbClr val="DFE9FF"/>
                </a:solidFill>
                <a:latin typeface="Calibri"/>
              </a:rPr>
              <a:t>Enterprise-grade control panel for live system management  |  Admin-gated  |  No server restart required for any operation</a:t>
            </a:r>
          </a:p>
        </p:txBody>
      </p:sp>
      <p:sp>
        <p:nvSpPr>
          <p:cNvPr id="7" name="Rectangle 6"/>
          <p:cNvSpPr/>
          <p:nvPr/>
        </p:nvSpPr>
        <p:spPr>
          <a:xfrm>
            <a:off x="182880" y="1170432"/>
            <a:ext cx="5829300" cy="2697479"/>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252728"/>
            <a:ext cx="5646420" cy="402336"/>
          </a:xfrm>
          <a:prstGeom prst="rect">
            <a:avLst/>
          </a:prstGeom>
          <a:noFill/>
        </p:spPr>
        <p:txBody>
          <a:bodyPr wrap="square" tIns="0">
            <a:spAutoFit/>
          </a:bodyPr>
          <a:lstStyle/>
          <a:p>
            <a:pPr algn="l">
              <a:spcAft>
                <a:spcPts val="100"/>
              </a:spcAft>
            </a:pPr>
            <a:r>
              <a:rPr sz="1400" b="1" i="0">
                <a:solidFill>
                  <a:srgbClr val="5B8DFF"/>
                </a:solidFill>
                <a:latin typeface="Calibri"/>
              </a:rPr>
              <a:t>AI  AI Model Management</a:t>
            </a:r>
          </a:p>
        </p:txBody>
      </p:sp>
      <p:sp>
        <p:nvSpPr>
          <p:cNvPr id="9" name="Rectangle 8"/>
          <p:cNvSpPr/>
          <p:nvPr/>
        </p:nvSpPr>
        <p:spPr>
          <a:xfrm>
            <a:off x="256032" y="1609344"/>
            <a:ext cx="568299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 y="1645920"/>
            <a:ext cx="5628132" cy="2167127"/>
          </a:xfrm>
          <a:prstGeom prst="rect">
            <a:avLst/>
          </a:prstGeom>
          <a:noFill/>
        </p:spPr>
        <p:txBody>
          <a:bodyPr wrap="square" tIns="25400">
            <a:spAutoFit/>
          </a:bodyPr>
          <a:lstStyle/>
          <a:p>
            <a:pPr algn="l">
              <a:spcAft>
                <a:spcPts val="200"/>
              </a:spcAft>
            </a:pPr>
            <a:r>
              <a:rPr sz="1200" b="0" i="0">
                <a:solidFill>
                  <a:srgbClr val="CCD6F1"/>
                </a:solidFill>
                <a:latin typeface="Calibri"/>
              </a:rPr>
              <a:t>Switch between three AI model modes at runtime</a:t>
            </a:r>
          </a:p>
          <a:p>
            <a:pPr algn="l">
              <a:spcAft>
                <a:spcPts val="200"/>
              </a:spcAft>
            </a:pPr>
            <a:r>
              <a:rPr sz="1100" b="0" i="0">
                <a:solidFill>
                  <a:srgbClr val="7080A0"/>
                </a:solidFill>
                <a:latin typeface="Calibri"/>
              </a:rPr>
              <a:t>  base  — Full HuggingFace transformer (GPU)</a:t>
            </a:r>
          </a:p>
          <a:p>
            <a:pPr algn="l">
              <a:spcAft>
                <a:spcPts val="200"/>
              </a:spcAft>
            </a:pPr>
            <a:r>
              <a:rPr sz="1100" b="0" i="0">
                <a:solidFill>
                  <a:srgbClr val="7080A0"/>
                </a:solidFill>
                <a:latin typeface="Calibri"/>
              </a:rPr>
              <a:t>  lite   — GGUF quantised model  (CPU only)</a:t>
            </a:r>
          </a:p>
          <a:p>
            <a:pPr algn="l">
              <a:spcAft>
                <a:spcPts val="200"/>
              </a:spcAft>
            </a:pPr>
            <a:r>
              <a:rPr sz="1100" b="0" i="0">
                <a:solidFill>
                  <a:srgbClr val="7080A0"/>
                </a:solidFill>
                <a:latin typeface="Calibri"/>
              </a:rPr>
              <a:t>  net   — Cloud API (OpenAI / Gemini)</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Download, register and test new models via API</a:t>
            </a:r>
          </a:p>
          <a:p>
            <a:pPr algn="l">
              <a:spcAft>
                <a:spcPts val="200"/>
              </a:spcAft>
            </a:pPr>
            <a:r>
              <a:rPr sz="1200" b="0" i="0">
                <a:solidFill>
                  <a:srgbClr val="CCD6F1"/>
                </a:solidFill>
                <a:latin typeface="Calibri"/>
              </a:rPr>
              <a:t>Hot-swap the active model without any downtime</a:t>
            </a:r>
          </a:p>
          <a:p>
            <a:pPr algn="l">
              <a:spcAft>
                <a:spcPts val="200"/>
              </a:spcAft>
            </a:pPr>
            <a:r>
              <a:rPr sz="1200" b="0" i="0">
                <a:solidFill>
                  <a:srgbClr val="CCD6F1"/>
                </a:solidFill>
                <a:latin typeface="Calibri"/>
              </a:rPr>
              <a:t>Model readiness checked per mode with error detail</a:t>
            </a:r>
          </a:p>
        </p:txBody>
      </p:sp>
      <p:sp>
        <p:nvSpPr>
          <p:cNvPr id="11" name="Rectangle 10"/>
          <p:cNvSpPr/>
          <p:nvPr/>
        </p:nvSpPr>
        <p:spPr>
          <a:xfrm>
            <a:off x="6176772" y="1170432"/>
            <a:ext cx="5829300" cy="2697479"/>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8212" y="1252728"/>
            <a:ext cx="5646420" cy="402336"/>
          </a:xfrm>
          <a:prstGeom prst="rect">
            <a:avLst/>
          </a:prstGeom>
          <a:noFill/>
        </p:spPr>
        <p:txBody>
          <a:bodyPr wrap="square" tIns="0">
            <a:spAutoFit/>
          </a:bodyPr>
          <a:lstStyle/>
          <a:p>
            <a:pPr algn="l">
              <a:spcAft>
                <a:spcPts val="100"/>
              </a:spcAft>
            </a:pPr>
            <a:r>
              <a:rPr sz="1400" b="1" i="0">
                <a:solidFill>
                  <a:srgbClr val="7C3AED"/>
                </a:solidFill>
                <a:latin typeface="Calibri"/>
              </a:rPr>
              <a:t>USR  User Administration</a:t>
            </a:r>
          </a:p>
        </p:txBody>
      </p:sp>
      <p:sp>
        <p:nvSpPr>
          <p:cNvPr id="13" name="Rectangle 12"/>
          <p:cNvSpPr/>
          <p:nvPr/>
        </p:nvSpPr>
        <p:spPr>
          <a:xfrm>
            <a:off x="6249924" y="1609344"/>
            <a:ext cx="568299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86500" y="1645920"/>
            <a:ext cx="5628132" cy="2167127"/>
          </a:xfrm>
          <a:prstGeom prst="rect">
            <a:avLst/>
          </a:prstGeom>
          <a:noFill/>
        </p:spPr>
        <p:txBody>
          <a:bodyPr wrap="square" tIns="25400">
            <a:spAutoFit/>
          </a:bodyPr>
          <a:lstStyle/>
          <a:p>
            <a:pPr algn="l">
              <a:spcAft>
                <a:spcPts val="200"/>
              </a:spcAft>
            </a:pPr>
            <a:r>
              <a:rPr sz="1200" b="0" i="0">
                <a:solidFill>
                  <a:srgbClr val="CCD6F1"/>
                </a:solidFill>
                <a:latin typeface="Calibri"/>
              </a:rPr>
              <a:t>Create users with isolated storage resources</a:t>
            </a:r>
          </a:p>
          <a:p>
            <a:pPr algn="l">
              <a:spcAft>
                <a:spcPts val="200"/>
              </a:spcAft>
            </a:pPr>
            <a:r>
              <a:rPr sz="1100" b="0" i="0">
                <a:solidFill>
                  <a:srgbClr val="7080A0"/>
                </a:solidFill>
                <a:latin typeface="Calibri"/>
              </a:rPr>
              <a:t>  Each user gets a dedicated PostgreSQL database</a:t>
            </a:r>
          </a:p>
          <a:p>
            <a:pPr algn="l">
              <a:spcAft>
                <a:spcPts val="200"/>
              </a:spcAft>
            </a:pPr>
            <a:r>
              <a:rPr sz="1100" b="0" i="0">
                <a:solidFill>
                  <a:srgbClr val="7080A0"/>
                </a:solidFill>
                <a:latin typeface="Calibri"/>
              </a:rPr>
              <a:t>  Personal MinIO bucket for document storage</a:t>
            </a:r>
          </a:p>
          <a:p>
            <a:pPr algn="l">
              <a:spcAft>
                <a:spcPts val="200"/>
              </a:spcAft>
            </a:pPr>
            <a:r>
              <a:rPr sz="1100" b="0" i="0">
                <a:solidFill>
                  <a:srgbClr val="7080A0"/>
                </a:solidFill>
                <a:latin typeface="Calibri"/>
              </a:rPr>
              <a:t>  Scoped Redis namespace for session data</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Enable / disable user accounts instantly</a:t>
            </a:r>
          </a:p>
          <a:p>
            <a:pPr algn="l">
              <a:spcAft>
                <a:spcPts val="200"/>
              </a:spcAft>
            </a:pPr>
            <a:r>
              <a:rPr sz="1200" b="0" i="0">
                <a:solidFill>
                  <a:srgbClr val="CCD6F1"/>
                </a:solidFill>
                <a:latin typeface="Calibri"/>
              </a:rPr>
              <a:t>Role-based access control (admin / user)</a:t>
            </a:r>
          </a:p>
          <a:p>
            <a:pPr algn="l">
              <a:spcAft>
                <a:spcPts val="200"/>
              </a:spcAft>
            </a:pPr>
            <a:r>
              <a:rPr sz="1200" b="0" i="0">
                <a:solidFill>
                  <a:srgbClr val="CCD6F1"/>
                </a:solidFill>
                <a:latin typeface="Calibri"/>
              </a:rPr>
              <a:t>Admin password reset without old credentials</a:t>
            </a:r>
          </a:p>
        </p:txBody>
      </p:sp>
      <p:sp>
        <p:nvSpPr>
          <p:cNvPr id="15" name="Rectangle 14"/>
          <p:cNvSpPr/>
          <p:nvPr/>
        </p:nvSpPr>
        <p:spPr>
          <a:xfrm>
            <a:off x="182880" y="3974896"/>
            <a:ext cx="5829300" cy="2697479"/>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4057192"/>
            <a:ext cx="5646420" cy="402336"/>
          </a:xfrm>
          <a:prstGeom prst="rect">
            <a:avLst/>
          </a:prstGeom>
          <a:noFill/>
        </p:spPr>
        <p:txBody>
          <a:bodyPr wrap="square" tIns="0">
            <a:spAutoFit/>
          </a:bodyPr>
          <a:lstStyle/>
          <a:p>
            <a:pPr algn="l">
              <a:spcAft>
                <a:spcPts val="100"/>
              </a:spcAft>
            </a:pPr>
            <a:r>
              <a:rPr sz="1400" b="1" i="0">
                <a:solidFill>
                  <a:srgbClr val="4ADE80"/>
                </a:solidFill>
                <a:latin typeface="Calibri"/>
              </a:rPr>
              <a:t>MON  System Analytics &amp; Monitoring</a:t>
            </a:r>
          </a:p>
        </p:txBody>
      </p:sp>
      <p:sp>
        <p:nvSpPr>
          <p:cNvPr id="17" name="Rectangle 16"/>
          <p:cNvSpPr/>
          <p:nvPr/>
        </p:nvSpPr>
        <p:spPr>
          <a:xfrm>
            <a:off x="256032" y="4413808"/>
            <a:ext cx="568299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 y="4450384"/>
            <a:ext cx="5628132" cy="2167127"/>
          </a:xfrm>
          <a:prstGeom prst="rect">
            <a:avLst/>
          </a:prstGeom>
          <a:noFill/>
        </p:spPr>
        <p:txBody>
          <a:bodyPr wrap="square" tIns="25400">
            <a:spAutoFit/>
          </a:bodyPr>
          <a:lstStyle/>
          <a:p>
            <a:pPr algn="l">
              <a:spcAft>
                <a:spcPts val="200"/>
              </a:spcAft>
            </a:pPr>
            <a:r>
              <a:rPr sz="1200" b="0" i="0">
                <a:solidFill>
                  <a:srgbClr val="CCD6F1"/>
                </a:solidFill>
                <a:latin typeface="Calibri"/>
              </a:rPr>
              <a:t>Live dashboard: GET /devtools/mvp/overview</a:t>
            </a:r>
          </a:p>
          <a:p>
            <a:pPr algn="l">
              <a:spcAft>
                <a:spcPts val="200"/>
              </a:spcAft>
            </a:pPr>
            <a:r>
              <a:rPr sz="1100" b="0" i="0">
                <a:solidFill>
                  <a:srgbClr val="7080A0"/>
                </a:solidFill>
                <a:latin typeface="Calibri"/>
              </a:rPr>
              <a:t>  Configurable time window: 1 to 168 hours</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Ingestion funnel: processing / ready / error counts</a:t>
            </a:r>
          </a:p>
          <a:p>
            <a:pPr algn="l">
              <a:spcAft>
                <a:spcPts val="200"/>
              </a:spcAft>
            </a:pPr>
            <a:r>
              <a:rPr sz="1200" b="0" i="0">
                <a:solidFill>
                  <a:srgbClr val="CCD6F1"/>
                </a:solidFill>
                <a:latin typeface="Calibri"/>
              </a:rPr>
              <a:t>RAG quality score: high / medium / low distribution</a:t>
            </a:r>
          </a:p>
          <a:p>
            <a:pPr algn="l">
              <a:spcAft>
                <a:spcPts val="200"/>
              </a:spcAft>
            </a:pPr>
            <a:r>
              <a:rPr sz="1200" b="0" i="0">
                <a:solidFill>
                  <a:srgbClr val="CCD6F1"/>
                </a:solidFill>
                <a:latin typeface="Calibri"/>
              </a:rPr>
              <a:t>Response latency and semantic cache hit rate</a:t>
            </a:r>
          </a:p>
          <a:p>
            <a:pPr algn="l">
              <a:spcAft>
                <a:spcPts val="200"/>
              </a:spcAft>
            </a:pPr>
            <a:r>
              <a:rPr sz="1200" b="0" i="0">
                <a:solidFill>
                  <a:srgbClr val="CCD6F1"/>
                </a:solidFill>
                <a:latin typeface="Calibri"/>
              </a:rPr>
              <a:t>User feedback tracking: positive vs negative ratio</a:t>
            </a:r>
          </a:p>
          <a:p>
            <a:pPr algn="l">
              <a:spcAft>
                <a:spcPts val="200"/>
              </a:spcAft>
            </a:pPr>
            <a:r>
              <a:rPr sz="1200" b="0" i="0">
                <a:solidFill>
                  <a:srgbClr val="CCD6F1"/>
                </a:solidFill>
                <a:latin typeface="Calibri"/>
              </a:rPr>
              <a:t>Runtime health: GPU VRAM, queues, worker status</a:t>
            </a:r>
          </a:p>
        </p:txBody>
      </p:sp>
      <p:sp>
        <p:nvSpPr>
          <p:cNvPr id="19" name="Rectangle 18"/>
          <p:cNvSpPr/>
          <p:nvPr/>
        </p:nvSpPr>
        <p:spPr>
          <a:xfrm>
            <a:off x="6176772" y="3974896"/>
            <a:ext cx="5829300" cy="2697479"/>
          </a:xfrm>
          <a:prstGeom prst="rect">
            <a:avLst/>
          </a:prstGeom>
          <a:solidFill>
            <a:srgbClr val="1E1204"/>
          </a:solidFill>
          <a:ln w="2286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8212" y="4057192"/>
            <a:ext cx="5646420" cy="402336"/>
          </a:xfrm>
          <a:prstGeom prst="rect">
            <a:avLst/>
          </a:prstGeom>
          <a:noFill/>
        </p:spPr>
        <p:txBody>
          <a:bodyPr wrap="square" tIns="0">
            <a:spAutoFit/>
          </a:bodyPr>
          <a:lstStyle/>
          <a:p>
            <a:pPr algn="l">
              <a:spcAft>
                <a:spcPts val="100"/>
              </a:spcAft>
            </a:pPr>
            <a:r>
              <a:rPr sz="1400" b="1" i="0">
                <a:solidFill>
                  <a:srgbClr val="FBBF24"/>
                </a:solidFill>
                <a:latin typeface="Calibri"/>
              </a:rPr>
              <a:t>DBS  Data Visibility &amp; Controls</a:t>
            </a:r>
          </a:p>
        </p:txBody>
      </p:sp>
      <p:sp>
        <p:nvSpPr>
          <p:cNvPr id="21" name="Rectangle 20"/>
          <p:cNvSpPr/>
          <p:nvPr/>
        </p:nvSpPr>
        <p:spPr>
          <a:xfrm>
            <a:off x="6249924" y="4413808"/>
            <a:ext cx="5682996" cy="11887"/>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6500" y="4450384"/>
            <a:ext cx="5628132" cy="2167127"/>
          </a:xfrm>
          <a:prstGeom prst="rect">
            <a:avLst/>
          </a:prstGeom>
          <a:noFill/>
        </p:spPr>
        <p:txBody>
          <a:bodyPr wrap="square" tIns="25400">
            <a:spAutoFit/>
          </a:bodyPr>
          <a:lstStyle/>
          <a:p>
            <a:pPr algn="l">
              <a:spcAft>
                <a:spcPts val="200"/>
              </a:spcAft>
            </a:pPr>
            <a:r>
              <a:rPr sz="1200" b="0" i="0">
                <a:solidFill>
                  <a:srgbClr val="CCD6F1"/>
                </a:solidFill>
                <a:latin typeface="Calibri"/>
              </a:rPr>
              <a:t>Live browser across all storage layers:</a:t>
            </a:r>
          </a:p>
          <a:p>
            <a:pPr algn="l">
              <a:spcAft>
                <a:spcPts val="200"/>
              </a:spcAft>
            </a:pPr>
            <a:r>
              <a:rPr sz="1100" b="0" i="0">
                <a:solidFill>
                  <a:srgbClr val="7080A0"/>
                </a:solidFill>
                <a:latin typeface="Calibri"/>
              </a:rPr>
              <a:t>  RAG DB    — pgvector semantic index</a:t>
            </a:r>
          </a:p>
          <a:p>
            <a:pPr algn="l">
              <a:spcAft>
                <a:spcPts val="200"/>
              </a:spcAft>
            </a:pPr>
            <a:r>
              <a:rPr sz="1100" b="0" i="0">
                <a:solidFill>
                  <a:srgbClr val="7080A0"/>
                </a:solidFill>
                <a:latin typeface="Calibri"/>
              </a:rPr>
              <a:t>  Chat DB   — conversation history</a:t>
            </a:r>
          </a:p>
          <a:p>
            <a:pPr algn="l">
              <a:spcAft>
                <a:spcPts val="200"/>
              </a:spcAft>
            </a:pPr>
            <a:r>
              <a:rPr sz="1100" b="0" i="0">
                <a:solidFill>
                  <a:srgbClr val="7080A0"/>
                </a:solidFill>
                <a:latin typeface="Calibri"/>
              </a:rPr>
              <a:t>  Redis      — session state &amp; cache keys</a:t>
            </a:r>
          </a:p>
          <a:p>
            <a:pPr algn="l">
              <a:spcAft>
                <a:spcPts val="200"/>
              </a:spcAft>
            </a:pPr>
            <a:r>
              <a:rPr sz="1100" b="0" i="0">
                <a:solidFill>
                  <a:srgbClr val="7080A0"/>
                </a:solidFill>
                <a:latin typeface="Calibri"/>
              </a:rPr>
              <a:t>  MinIO      — uploaded document objects</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Paginated record inspection (no raw SQL needed)</a:t>
            </a:r>
          </a:p>
          <a:p>
            <a:pPr algn="l">
              <a:spcAft>
                <a:spcPts val="200"/>
              </a:spcAft>
            </a:pPr>
            <a:r>
              <a:rPr sz="1200" b="0" i="0">
                <a:solidFill>
                  <a:srgbClr val="CCD6F1"/>
                </a:solidFill>
                <a:latin typeface="Calibri"/>
              </a:rPr>
              <a:t>Selective reset controls with safety confirmation</a:t>
            </a:r>
          </a:p>
          <a:p>
            <a:pPr algn="l">
              <a:spcAft>
                <a:spcPts val="200"/>
              </a:spcAft>
            </a:pPr>
            <a:r>
              <a:rPr sz="1200" b="0" i="0">
                <a:solidFill>
                  <a:srgbClr val="CCD6F1"/>
                </a:solidFill>
                <a:latin typeface="Calibri"/>
              </a:rPr>
              <a:t>Per-session &amp; per-user RAG toggle overrides</a:t>
            </a:r>
          </a:p>
        </p:txBody>
      </p:sp>
      <p:pic>
        <p:nvPicPr>
          <p:cNvPr id="23" name="Picture 22">
            <a:extLst>
              <a:ext uri="{FF2B5EF4-FFF2-40B4-BE49-F238E27FC236}">
                <a16:creationId xmlns:a16="http://schemas.microsoft.com/office/drawing/2014/main" id="{D779C4DD-F58C-249D-9894-A64F02AAD8FA}"/>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857232" cy="566928"/>
          </a:xfrm>
          <a:prstGeom prst="rect">
            <a:avLst/>
          </a:prstGeom>
          <a:noFill/>
        </p:spPr>
        <p:txBody>
          <a:bodyPr wrap="square" tIns="0">
            <a:spAutoFit/>
          </a:bodyPr>
          <a:lstStyle/>
          <a:p>
            <a:pPr algn="l">
              <a:spcAft>
                <a:spcPts val="100"/>
              </a:spcAft>
            </a:pPr>
            <a:r>
              <a:rPr sz="2600" b="1" i="0">
                <a:solidFill>
                  <a:srgbClr val="FFFFFF"/>
                </a:solidFill>
                <a:latin typeface="Calibri"/>
              </a:rPr>
              <a:t>System Quality &amp; Analytics Monitoring</a:t>
            </a:r>
          </a:p>
        </p:txBody>
      </p:sp>
      <p:sp>
        <p:nvSpPr>
          <p:cNvPr id="5" name="TextBox 4"/>
          <p:cNvSpPr txBox="1"/>
          <p:nvPr/>
        </p:nvSpPr>
        <p:spPr>
          <a:xfrm>
            <a:off x="320040" y="621792"/>
            <a:ext cx="9857232" cy="329184"/>
          </a:xfrm>
          <a:prstGeom prst="rect">
            <a:avLst/>
          </a:prstGeom>
          <a:noFill/>
        </p:spPr>
        <p:txBody>
          <a:bodyPr wrap="square" tIns="0">
            <a:spAutoFit/>
          </a:bodyPr>
          <a:lstStyle/>
          <a:p>
            <a:pPr algn="l">
              <a:spcAft>
                <a:spcPts val="100"/>
              </a:spcAft>
            </a:pPr>
            <a:r>
              <a:rPr sz="1300" b="0" i="0">
                <a:solidFill>
                  <a:srgbClr val="DFE9FF"/>
                </a:solidFill>
                <a:latin typeface="Calibri"/>
              </a:rPr>
              <a:t>Real-time operational metrics proving system reliability  |  GET /devtools/mvp/overview  |  Configurable 1-168 hour window</a:t>
            </a:r>
          </a:p>
        </p:txBody>
      </p:sp>
      <p:sp>
        <p:nvSpPr>
          <p:cNvPr id="7" name="Rectangle 6"/>
          <p:cNvSpPr/>
          <p:nvPr/>
        </p:nvSpPr>
        <p:spPr>
          <a:xfrm>
            <a:off x="182880" y="1170432"/>
            <a:ext cx="2914650" cy="5431536"/>
          </a:xfrm>
          <a:prstGeom prst="rect">
            <a:avLst/>
          </a:prstGeom>
          <a:solidFill>
            <a:srgbClr val="1E0606"/>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252728"/>
            <a:ext cx="2731770" cy="402336"/>
          </a:xfrm>
          <a:prstGeom prst="rect">
            <a:avLst/>
          </a:prstGeom>
          <a:noFill/>
        </p:spPr>
        <p:txBody>
          <a:bodyPr wrap="square" tIns="0">
            <a:spAutoFit/>
          </a:bodyPr>
          <a:lstStyle/>
          <a:p>
            <a:pPr algn="l">
              <a:spcAft>
                <a:spcPts val="100"/>
              </a:spcAft>
            </a:pPr>
            <a:r>
              <a:rPr sz="1400" b="1" i="0">
                <a:solidFill>
                  <a:srgbClr val="FF4545"/>
                </a:solidFill>
                <a:latin typeface="Calibri"/>
              </a:rPr>
              <a:t>RT  Runtime Health</a:t>
            </a:r>
          </a:p>
        </p:txBody>
      </p:sp>
      <p:sp>
        <p:nvSpPr>
          <p:cNvPr id="9" name="Rectangle 8"/>
          <p:cNvSpPr/>
          <p:nvPr/>
        </p:nvSpPr>
        <p:spPr>
          <a:xfrm>
            <a:off x="256032" y="1609344"/>
            <a:ext cx="2768346" cy="11887"/>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 y="1645920"/>
            <a:ext cx="2713482" cy="4901183"/>
          </a:xfrm>
          <a:prstGeom prst="rect">
            <a:avLst/>
          </a:prstGeom>
          <a:noFill/>
        </p:spPr>
        <p:txBody>
          <a:bodyPr wrap="square" tIns="25400">
            <a:spAutoFit/>
          </a:bodyPr>
          <a:lstStyle/>
          <a:p>
            <a:pPr algn="l">
              <a:spcAft>
                <a:spcPts val="200"/>
              </a:spcAft>
            </a:pPr>
            <a:r>
              <a:rPr sz="1200" b="0" i="0">
                <a:solidFill>
                  <a:srgbClr val="CCD6F1"/>
                </a:solidFill>
                <a:latin typeface="Calibri"/>
              </a:rPr>
              <a:t>GPU health check</a:t>
            </a:r>
          </a:p>
          <a:p>
            <a:pPr algn="l">
              <a:spcAft>
                <a:spcPts val="200"/>
              </a:spcAft>
            </a:pPr>
            <a:r>
              <a:rPr sz="1100" b="0" i="0">
                <a:solidFill>
                  <a:srgbClr val="7080A0"/>
                </a:solidFill>
                <a:latin typeface="Calibri"/>
              </a:rPr>
              <a:t>  Device name + VRAM usage</a:t>
            </a:r>
          </a:p>
          <a:p>
            <a:pPr algn="l">
              <a:spcAft>
                <a:spcPts val="200"/>
              </a:spcAft>
            </a:pPr>
            <a:r>
              <a:rPr sz="1100" b="0" i="0">
                <a:solidFill>
                  <a:srgbClr val="7080A0"/>
                </a:solidFill>
                <a:latin typeface="Calibri"/>
              </a:rPr>
              <a:t>  Free vs used memory (GB)</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Message broker status</a:t>
            </a:r>
          </a:p>
          <a:p>
            <a:pPr algn="l">
              <a:spcAft>
                <a:spcPts val="200"/>
              </a:spcAft>
            </a:pPr>
            <a:r>
              <a:rPr sz="1100" b="0" i="0">
                <a:solidFill>
                  <a:srgbClr val="7080A0"/>
                </a:solidFill>
                <a:latin typeface="Calibri"/>
              </a:rPr>
              <a:t>  RabbitMQ reachability</a:t>
            </a:r>
          </a:p>
          <a:p>
            <a:pPr algn="l">
              <a:spcAft>
                <a:spcPts val="200"/>
              </a:spcAft>
            </a:pPr>
            <a:r>
              <a:rPr sz="1100" b="0" i="0">
                <a:solidFill>
                  <a:srgbClr val="7080A0"/>
                </a:solidFill>
                <a:latin typeface="Calibri"/>
              </a:rPr>
              <a:t>  Queue depth per worker</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Celery worker fleet</a:t>
            </a:r>
          </a:p>
          <a:p>
            <a:pPr algn="l">
              <a:spcAft>
                <a:spcPts val="200"/>
              </a:spcAft>
            </a:pPr>
            <a:r>
              <a:rPr sz="1100" b="0" i="0">
                <a:solidFill>
                  <a:srgbClr val="7080A0"/>
                </a:solidFill>
                <a:latin typeface="Calibri"/>
              </a:rPr>
              <a:t>  Active workers listed</a:t>
            </a:r>
          </a:p>
          <a:p>
            <a:pPr algn="l">
              <a:spcAft>
                <a:spcPts val="200"/>
              </a:spcAft>
            </a:pPr>
            <a:r>
              <a:rPr sz="1100" b="0" i="0">
                <a:solidFill>
                  <a:srgbClr val="7080A0"/>
                </a:solidFill>
                <a:latin typeface="Calibri"/>
              </a:rPr>
              <a:t>  Tasks per queue type</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Instant alert if any</a:t>
            </a:r>
          </a:p>
          <a:p>
            <a:pPr algn="l">
              <a:spcAft>
                <a:spcPts val="200"/>
              </a:spcAft>
            </a:pPr>
            <a:r>
              <a:rPr sz="1200" b="0" i="0">
                <a:solidFill>
                  <a:srgbClr val="CCD6F1"/>
                </a:solidFill>
                <a:latin typeface="Calibri"/>
              </a:rPr>
              <a:t>component goes offline</a:t>
            </a:r>
          </a:p>
        </p:txBody>
      </p:sp>
      <p:sp>
        <p:nvSpPr>
          <p:cNvPr id="11" name="Rectangle 10"/>
          <p:cNvSpPr/>
          <p:nvPr/>
        </p:nvSpPr>
        <p:spPr>
          <a:xfrm>
            <a:off x="3262122" y="1170432"/>
            <a:ext cx="2914650" cy="5431536"/>
          </a:xfrm>
          <a:prstGeom prst="rect">
            <a:avLst/>
          </a:prstGeom>
          <a:solidFill>
            <a:srgbClr val="061228"/>
          </a:solidFill>
          <a:ln w="22860">
            <a:solidFill>
              <a:srgbClr val="5B8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53562" y="1252728"/>
            <a:ext cx="2731770" cy="402336"/>
          </a:xfrm>
          <a:prstGeom prst="rect">
            <a:avLst/>
          </a:prstGeom>
          <a:noFill/>
        </p:spPr>
        <p:txBody>
          <a:bodyPr wrap="square" tIns="0">
            <a:spAutoFit/>
          </a:bodyPr>
          <a:lstStyle/>
          <a:p>
            <a:pPr algn="l">
              <a:spcAft>
                <a:spcPts val="100"/>
              </a:spcAft>
            </a:pPr>
            <a:r>
              <a:rPr sz="1400" b="1" i="0">
                <a:solidFill>
                  <a:srgbClr val="5B8DFF"/>
                </a:solidFill>
                <a:latin typeface="Calibri"/>
              </a:rPr>
              <a:t>ING  Ingestion Success Rate</a:t>
            </a:r>
          </a:p>
        </p:txBody>
      </p:sp>
      <p:sp>
        <p:nvSpPr>
          <p:cNvPr id="13" name="Rectangle 12"/>
          <p:cNvSpPr/>
          <p:nvPr/>
        </p:nvSpPr>
        <p:spPr>
          <a:xfrm>
            <a:off x="3335274" y="1609344"/>
            <a:ext cx="2768346" cy="11887"/>
          </a:xfrm>
          <a:prstGeom prst="rect">
            <a:avLst/>
          </a:prstGeom>
          <a:solidFill>
            <a:srgbClr val="5B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71850" y="1645920"/>
            <a:ext cx="2713482" cy="4901183"/>
          </a:xfrm>
          <a:prstGeom prst="rect">
            <a:avLst/>
          </a:prstGeom>
          <a:noFill/>
        </p:spPr>
        <p:txBody>
          <a:bodyPr wrap="square" tIns="25400">
            <a:spAutoFit/>
          </a:bodyPr>
          <a:lstStyle/>
          <a:p>
            <a:pPr algn="l">
              <a:spcAft>
                <a:spcPts val="200"/>
              </a:spcAft>
            </a:pPr>
            <a:r>
              <a:rPr sz="1200" b="0" i="0">
                <a:solidFill>
                  <a:srgbClr val="CCD6F1"/>
                </a:solidFill>
                <a:latin typeface="Calibri"/>
              </a:rPr>
              <a:t>Real-time job funnel:</a:t>
            </a:r>
          </a:p>
          <a:p>
            <a:pPr algn="l">
              <a:spcAft>
                <a:spcPts val="200"/>
              </a:spcAft>
            </a:pPr>
            <a:r>
              <a:rPr sz="1100" b="0" i="0">
                <a:solidFill>
                  <a:srgbClr val="7080A0"/>
                </a:solidFill>
                <a:latin typeface="Calibri"/>
              </a:rPr>
              <a:t>  Waiting  (pending metadata)</a:t>
            </a:r>
          </a:p>
          <a:p>
            <a:pPr algn="l">
              <a:spcAft>
                <a:spcPts val="200"/>
              </a:spcAft>
            </a:pPr>
            <a:r>
              <a:rPr sz="1100" b="0" i="0">
                <a:solidFill>
                  <a:srgbClr val="7080A0"/>
                </a:solidFill>
                <a:latin typeface="Calibri"/>
              </a:rPr>
              <a:t>  Processing (active tasks)</a:t>
            </a:r>
          </a:p>
          <a:p>
            <a:pPr algn="l">
              <a:spcAft>
                <a:spcPts val="200"/>
              </a:spcAft>
            </a:pPr>
            <a:r>
              <a:rPr sz="1100" b="0" i="0">
                <a:solidFill>
                  <a:srgbClr val="7080A0"/>
                </a:solidFill>
                <a:latin typeface="Calibri"/>
              </a:rPr>
              <a:t>  Ready     (successful)</a:t>
            </a:r>
          </a:p>
          <a:p>
            <a:pPr algn="l">
              <a:spcAft>
                <a:spcPts val="200"/>
              </a:spcAft>
            </a:pPr>
            <a:r>
              <a:rPr sz="1100" b="0" i="0">
                <a:solidFill>
                  <a:srgbClr val="7080A0"/>
                </a:solidFill>
                <a:latin typeface="Calibri"/>
              </a:rPr>
              <a:t>  Error     (failed)</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Success rate =</a:t>
            </a:r>
          </a:p>
          <a:p>
            <a:pPr algn="l">
              <a:spcAft>
                <a:spcPts val="200"/>
              </a:spcAft>
            </a:pPr>
            <a:r>
              <a:rPr sz="1100" b="0" i="0">
                <a:solidFill>
                  <a:srgbClr val="7080A0"/>
                </a:solidFill>
                <a:latin typeface="Calibri"/>
              </a:rPr>
              <a:t>  ready / (ready + error)</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Avg processing time</a:t>
            </a:r>
          </a:p>
          <a:p>
            <a:pPr algn="l">
              <a:spcAft>
                <a:spcPts val="200"/>
              </a:spcAft>
            </a:pPr>
            <a:r>
              <a:rPr sz="1100" b="0" i="0">
                <a:solidFill>
                  <a:srgbClr val="7080A0"/>
                </a:solidFill>
                <a:latin typeface="Calibri"/>
              </a:rPr>
              <a:t>  seconds per document</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Top 5 error messages</a:t>
            </a:r>
          </a:p>
          <a:p>
            <a:pPr algn="l">
              <a:spcAft>
                <a:spcPts val="200"/>
              </a:spcAft>
            </a:pPr>
            <a:r>
              <a:rPr sz="1100" b="0" i="0">
                <a:solidFill>
                  <a:srgbClr val="7080A0"/>
                </a:solidFill>
                <a:latin typeface="Calibri"/>
              </a:rPr>
              <a:t>  for rapid debugging</a:t>
            </a:r>
          </a:p>
        </p:txBody>
      </p:sp>
      <p:sp>
        <p:nvSpPr>
          <p:cNvPr id="15" name="Rectangle 14"/>
          <p:cNvSpPr/>
          <p:nvPr/>
        </p:nvSpPr>
        <p:spPr>
          <a:xfrm>
            <a:off x="6341364" y="1170432"/>
            <a:ext cx="2914650" cy="5431536"/>
          </a:xfrm>
          <a:prstGeom prst="rect">
            <a:avLst/>
          </a:prstGeom>
          <a:solidFill>
            <a:srgbClr val="051810"/>
          </a:solidFill>
          <a:ln w="22860">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32804" y="1252728"/>
            <a:ext cx="2731770" cy="402336"/>
          </a:xfrm>
          <a:prstGeom prst="rect">
            <a:avLst/>
          </a:prstGeom>
          <a:noFill/>
        </p:spPr>
        <p:txBody>
          <a:bodyPr wrap="square" tIns="0">
            <a:spAutoFit/>
          </a:bodyPr>
          <a:lstStyle/>
          <a:p>
            <a:pPr algn="l">
              <a:spcAft>
                <a:spcPts val="100"/>
              </a:spcAft>
            </a:pPr>
            <a:r>
              <a:rPr sz="1400" b="1" i="0">
                <a:solidFill>
                  <a:srgbClr val="4ADE80"/>
                </a:solidFill>
                <a:latin typeface="Calibri"/>
              </a:rPr>
              <a:t>RAG  RAG Quality Score</a:t>
            </a:r>
          </a:p>
        </p:txBody>
      </p:sp>
      <p:sp>
        <p:nvSpPr>
          <p:cNvPr id="17" name="Rectangle 16"/>
          <p:cNvSpPr/>
          <p:nvPr/>
        </p:nvSpPr>
        <p:spPr>
          <a:xfrm>
            <a:off x="6414516" y="1609344"/>
            <a:ext cx="2768346" cy="11887"/>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1092" y="1645920"/>
            <a:ext cx="2713482" cy="4901183"/>
          </a:xfrm>
          <a:prstGeom prst="rect">
            <a:avLst/>
          </a:prstGeom>
          <a:noFill/>
        </p:spPr>
        <p:txBody>
          <a:bodyPr wrap="square" tIns="25400">
            <a:spAutoFit/>
          </a:bodyPr>
          <a:lstStyle/>
          <a:p>
            <a:pPr algn="l">
              <a:spcAft>
                <a:spcPts val="200"/>
              </a:spcAft>
            </a:pPr>
            <a:r>
              <a:rPr sz="1200" b="0" i="0">
                <a:solidFill>
                  <a:srgbClr val="CCD6F1"/>
                </a:solidFill>
                <a:latin typeface="Calibri"/>
              </a:rPr>
              <a:t>Per-response quality labels</a:t>
            </a:r>
          </a:p>
          <a:p>
            <a:pPr algn="l">
              <a:spcAft>
                <a:spcPts val="200"/>
              </a:spcAft>
            </a:pPr>
            <a:r>
              <a:rPr sz="1200" b="0" i="0">
                <a:solidFill>
                  <a:srgbClr val="CCD6F1"/>
                </a:solidFill>
                <a:latin typeface="Calibri"/>
              </a:rPr>
              <a:t>scored by eval pipeline:</a:t>
            </a:r>
          </a:p>
          <a:p>
            <a:pPr algn="l">
              <a:spcAft>
                <a:spcPts val="200"/>
              </a:spcAft>
            </a:pPr>
            <a:r>
              <a:rPr sz="1100" b="0" i="0">
                <a:solidFill>
                  <a:srgbClr val="7080A0"/>
                </a:solidFill>
                <a:latin typeface="Calibri"/>
              </a:rPr>
              <a:t>  HIGH   — full context hit</a:t>
            </a:r>
          </a:p>
          <a:p>
            <a:pPr algn="l">
              <a:spcAft>
                <a:spcPts val="200"/>
              </a:spcAft>
            </a:pPr>
            <a:r>
              <a:rPr sz="1100" b="0" i="0">
                <a:solidFill>
                  <a:srgbClr val="7080A0"/>
                </a:solidFill>
                <a:latin typeface="Calibri"/>
              </a:rPr>
              <a:t>  MEDIUM — partial context</a:t>
            </a:r>
          </a:p>
          <a:p>
            <a:pPr algn="l">
              <a:spcAft>
                <a:spcPts val="200"/>
              </a:spcAft>
            </a:pPr>
            <a:r>
              <a:rPr sz="1100" b="0" i="0">
                <a:solidFill>
                  <a:srgbClr val="7080A0"/>
                </a:solidFill>
                <a:latin typeface="Calibri"/>
              </a:rPr>
              <a:t>  LOW    — poor retrieval</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Semantic cache hit rate</a:t>
            </a:r>
          </a:p>
          <a:p>
            <a:pPr algn="l">
              <a:spcAft>
                <a:spcPts val="200"/>
              </a:spcAft>
            </a:pPr>
            <a:r>
              <a:rPr sz="1100" b="0" i="0">
                <a:solidFill>
                  <a:srgbClr val="7080A0"/>
                </a:solidFill>
                <a:latin typeface="Calibri"/>
              </a:rPr>
              <a:t>  (Redis answer caching)</a:t>
            </a:r>
          </a:p>
          <a:p>
            <a:pPr algn="l">
              <a:spcAft>
                <a:spcPts val="200"/>
              </a:spcAft>
            </a:pPr>
            <a:endParaRPr sz="1100" b="0" i="0">
              <a:solidFill>
                <a:srgbClr val="7080A0"/>
              </a:solidFill>
              <a:latin typeface="Calibri"/>
            </a:endParaRPr>
          </a:p>
          <a:p>
            <a:pPr algn="l">
              <a:spcAft>
                <a:spcPts val="200"/>
              </a:spcAft>
            </a:pPr>
            <a:r>
              <a:rPr sz="1200" b="0" i="0">
                <a:solidFill>
                  <a:srgbClr val="CCD6F1"/>
                </a:solidFill>
                <a:latin typeface="Calibri"/>
              </a:rPr>
              <a:t>Avg response latency (ms)</a:t>
            </a:r>
          </a:p>
          <a:p>
            <a:pPr algn="l">
              <a:spcAft>
                <a:spcPts val="200"/>
              </a:spcAft>
            </a:pPr>
            <a:endParaRPr sz="1200" b="0" i="0">
              <a:solidFill>
                <a:srgbClr val="CCD6F1"/>
              </a:solidFill>
              <a:latin typeface="Calibri"/>
            </a:endParaRPr>
          </a:p>
          <a:p>
            <a:pPr algn="l">
              <a:spcAft>
                <a:spcPts val="200"/>
              </a:spcAft>
            </a:pPr>
            <a:r>
              <a:rPr sz="1200" b="0" i="0">
                <a:solidFill>
                  <a:srgbClr val="CCD6F1"/>
                </a:solidFill>
                <a:latin typeface="Calibri"/>
              </a:rPr>
              <a:t>Worst 5 documents by</a:t>
            </a:r>
          </a:p>
          <a:p>
            <a:pPr algn="l">
              <a:spcAft>
                <a:spcPts val="200"/>
              </a:spcAft>
            </a:pPr>
            <a:r>
              <a:rPr sz="1200" b="0" i="0">
                <a:solidFill>
                  <a:srgbClr val="CCD6F1"/>
                </a:solidFill>
                <a:latin typeface="Calibri"/>
              </a:rPr>
              <a:t>low-quality rate flagged</a:t>
            </a:r>
          </a:p>
          <a:p>
            <a:pPr algn="l">
              <a:spcAft>
                <a:spcPts val="200"/>
              </a:spcAft>
            </a:pPr>
            <a:r>
              <a:rPr sz="1200" b="0" i="0">
                <a:solidFill>
                  <a:srgbClr val="CCD6F1"/>
                </a:solidFill>
                <a:latin typeface="Calibri"/>
              </a:rPr>
              <a:t>for re-ingestion review</a:t>
            </a:r>
          </a:p>
        </p:txBody>
      </p:sp>
      <p:sp>
        <p:nvSpPr>
          <p:cNvPr id="19" name="Rectangle 18"/>
          <p:cNvSpPr/>
          <p:nvPr/>
        </p:nvSpPr>
        <p:spPr>
          <a:xfrm>
            <a:off x="9420606" y="1170432"/>
            <a:ext cx="2914650" cy="5431536"/>
          </a:xfrm>
          <a:prstGeom prst="rect">
            <a:avLst/>
          </a:prstGeom>
          <a:solidFill>
            <a:srgbClr val="100828"/>
          </a:solidFill>
          <a:ln w="228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12046" y="1252728"/>
            <a:ext cx="2731770" cy="402336"/>
          </a:xfrm>
          <a:prstGeom prst="rect">
            <a:avLst/>
          </a:prstGeom>
          <a:noFill/>
        </p:spPr>
        <p:txBody>
          <a:bodyPr wrap="square" tIns="0">
            <a:spAutoFit/>
          </a:bodyPr>
          <a:lstStyle/>
          <a:p>
            <a:pPr algn="l">
              <a:spcAft>
                <a:spcPts val="100"/>
              </a:spcAft>
            </a:pPr>
            <a:r>
              <a:rPr sz="1400" b="1" i="0">
                <a:solidFill>
                  <a:srgbClr val="7C3AED"/>
                </a:solidFill>
                <a:latin typeface="Calibri"/>
              </a:rPr>
              <a:t>FB  User Feedback Loop</a:t>
            </a:r>
          </a:p>
        </p:txBody>
      </p:sp>
      <p:sp>
        <p:nvSpPr>
          <p:cNvPr id="21" name="Rectangle 20"/>
          <p:cNvSpPr/>
          <p:nvPr/>
        </p:nvSpPr>
        <p:spPr>
          <a:xfrm>
            <a:off x="9493758" y="1609344"/>
            <a:ext cx="2768346" cy="1188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30334" y="1645920"/>
            <a:ext cx="2713482" cy="4901183"/>
          </a:xfrm>
          <a:prstGeom prst="rect">
            <a:avLst/>
          </a:prstGeom>
          <a:noFill/>
        </p:spPr>
        <p:txBody>
          <a:bodyPr wrap="square" tIns="25400">
            <a:spAutoFit/>
          </a:bodyPr>
          <a:lstStyle/>
          <a:p>
            <a:pPr algn="l">
              <a:spcAft>
                <a:spcPts val="200"/>
              </a:spcAft>
            </a:pPr>
            <a:r>
              <a:rPr sz="1200" b="0" i="0" dirty="0">
                <a:solidFill>
                  <a:srgbClr val="CCD6F1"/>
                </a:solidFill>
                <a:latin typeface="Calibri"/>
              </a:rPr>
              <a:t>Users rate every response:</a:t>
            </a:r>
          </a:p>
          <a:p>
            <a:pPr algn="l">
              <a:spcAft>
                <a:spcPts val="200"/>
              </a:spcAft>
            </a:pPr>
            <a:r>
              <a:rPr sz="1100" b="0" i="0" dirty="0">
                <a:solidFill>
                  <a:srgbClr val="7080A0"/>
                </a:solidFill>
                <a:latin typeface="Calibri"/>
              </a:rPr>
              <a:t>  Correct / Helpful</a:t>
            </a:r>
          </a:p>
          <a:p>
            <a:pPr algn="l">
              <a:spcAft>
                <a:spcPts val="200"/>
              </a:spcAft>
            </a:pPr>
            <a:r>
              <a:rPr sz="1100" b="0" i="0" dirty="0">
                <a:solidFill>
                  <a:srgbClr val="7080A0"/>
                </a:solidFill>
                <a:latin typeface="Calibri"/>
              </a:rPr>
              <a:t>  Incorrect / Hallucination</a:t>
            </a:r>
          </a:p>
          <a:p>
            <a:pPr algn="l">
              <a:spcAft>
                <a:spcPts val="200"/>
              </a:spcAft>
            </a:pPr>
            <a:r>
              <a:rPr sz="1100" b="0" i="0" dirty="0">
                <a:solidFill>
                  <a:srgbClr val="7080A0"/>
                </a:solidFill>
                <a:latin typeface="Calibri"/>
              </a:rPr>
              <a:t>  Missing context</a:t>
            </a:r>
          </a:p>
          <a:p>
            <a:pPr algn="l">
              <a:spcAft>
                <a:spcPts val="200"/>
              </a:spcAft>
            </a:pPr>
            <a:endParaRPr sz="1100" b="0" i="0" dirty="0">
              <a:solidFill>
                <a:srgbClr val="7080A0"/>
              </a:solidFill>
              <a:latin typeface="Calibri"/>
            </a:endParaRPr>
          </a:p>
          <a:p>
            <a:pPr algn="l">
              <a:spcAft>
                <a:spcPts val="200"/>
              </a:spcAft>
            </a:pPr>
            <a:r>
              <a:rPr sz="1200" b="0" i="0" dirty="0">
                <a:solidFill>
                  <a:srgbClr val="CCD6F1"/>
                </a:solidFill>
                <a:latin typeface="Calibri"/>
              </a:rPr>
              <a:t>Live feedback counters:</a:t>
            </a:r>
          </a:p>
          <a:p>
            <a:pPr algn="l">
              <a:spcAft>
                <a:spcPts val="200"/>
              </a:spcAft>
            </a:pPr>
            <a:r>
              <a:rPr sz="1100" b="0" i="0" dirty="0">
                <a:solidFill>
                  <a:srgbClr val="7080A0"/>
                </a:solidFill>
                <a:latin typeface="Calibri"/>
              </a:rPr>
              <a:t>  Total feedback events</a:t>
            </a:r>
          </a:p>
          <a:p>
            <a:pPr algn="l">
              <a:spcAft>
                <a:spcPts val="200"/>
              </a:spcAft>
            </a:pPr>
            <a:r>
              <a:rPr sz="1100" b="0" i="0" dirty="0">
                <a:solidFill>
                  <a:srgbClr val="7080A0"/>
                </a:solidFill>
                <a:latin typeface="Calibri"/>
              </a:rPr>
              <a:t>  Positive vs Negative</a:t>
            </a:r>
          </a:p>
          <a:p>
            <a:pPr algn="l">
              <a:spcAft>
                <a:spcPts val="200"/>
              </a:spcAft>
            </a:pPr>
            <a:r>
              <a:rPr sz="1100" b="0" i="0" dirty="0">
                <a:solidFill>
                  <a:srgbClr val="7080A0"/>
                </a:solidFill>
                <a:latin typeface="Calibri"/>
              </a:rPr>
              <a:t>  Average feedback score</a:t>
            </a:r>
          </a:p>
          <a:p>
            <a:pPr algn="l">
              <a:spcAft>
                <a:spcPts val="200"/>
              </a:spcAft>
            </a:pPr>
            <a:endParaRPr sz="1100" b="0" i="0" dirty="0">
              <a:solidFill>
                <a:srgbClr val="7080A0"/>
              </a:solidFill>
              <a:latin typeface="Calibri"/>
            </a:endParaRPr>
          </a:p>
          <a:p>
            <a:pPr algn="l">
              <a:spcAft>
                <a:spcPts val="200"/>
              </a:spcAft>
            </a:pPr>
            <a:r>
              <a:rPr sz="1200" b="0" i="0" dirty="0">
                <a:solidFill>
                  <a:srgbClr val="CCD6F1"/>
                </a:solidFill>
                <a:latin typeface="Calibri"/>
              </a:rPr>
              <a:t>Label distribution chart</a:t>
            </a:r>
          </a:p>
          <a:p>
            <a:pPr algn="l">
              <a:spcAft>
                <a:spcPts val="200"/>
              </a:spcAft>
            </a:pPr>
            <a:r>
              <a:rPr sz="1100" b="0" i="0" dirty="0">
                <a:solidFill>
                  <a:srgbClr val="7080A0"/>
                </a:solidFill>
                <a:latin typeface="Calibri"/>
              </a:rPr>
              <a:t>  Top 8 labels ranked</a:t>
            </a:r>
          </a:p>
          <a:p>
            <a:pPr algn="l">
              <a:spcAft>
                <a:spcPts val="200"/>
              </a:spcAft>
            </a:pPr>
            <a:endParaRPr sz="1100" b="0" i="0" dirty="0">
              <a:solidFill>
                <a:srgbClr val="7080A0"/>
              </a:solidFill>
              <a:latin typeface="Calibri"/>
            </a:endParaRPr>
          </a:p>
          <a:p>
            <a:pPr algn="l">
              <a:spcAft>
                <a:spcPts val="200"/>
              </a:spcAft>
            </a:pPr>
            <a:r>
              <a:rPr sz="1200" b="0" i="0" dirty="0">
                <a:solidFill>
                  <a:srgbClr val="CCD6F1"/>
                </a:solidFill>
                <a:latin typeface="Calibri"/>
              </a:rPr>
              <a:t>Feeds model retraining</a:t>
            </a:r>
          </a:p>
          <a:p>
            <a:pPr algn="l">
              <a:spcAft>
                <a:spcPts val="200"/>
              </a:spcAft>
            </a:pPr>
            <a:r>
              <a:rPr sz="1200" b="0" i="0" dirty="0">
                <a:solidFill>
                  <a:srgbClr val="CCD6F1"/>
                </a:solidFill>
                <a:latin typeface="Calibri"/>
              </a:rPr>
              <a:t>and prompt improvement</a:t>
            </a:r>
          </a:p>
        </p:txBody>
      </p:sp>
      <p:pic>
        <p:nvPicPr>
          <p:cNvPr id="23" name="Picture 22">
            <a:extLst>
              <a:ext uri="{FF2B5EF4-FFF2-40B4-BE49-F238E27FC236}">
                <a16:creationId xmlns:a16="http://schemas.microsoft.com/office/drawing/2014/main" id="{82B5BC66-6567-7786-CC07-3D16E1C11054}"/>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Architecture – Next.js 14 (App Router) + TypeScript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Modular React components · SSE streaming · JWT auth · Multi-workspace modes</a:t>
            </a:r>
          </a:p>
        </p:txBody>
      </p:sp>
      <p:sp>
        <p:nvSpPr>
          <p:cNvPr id="6" name="TextBox 5"/>
          <p:cNvSpPr txBox="1"/>
          <p:nvPr/>
        </p:nvSpPr>
        <p:spPr>
          <a:xfrm>
            <a:off x="256032" y="1143000"/>
            <a:ext cx="5577840" cy="3416320"/>
          </a:xfrm>
          <a:prstGeom prst="rect">
            <a:avLst/>
          </a:prstGeom>
          <a:noFill/>
        </p:spPr>
        <p:txBody>
          <a:bodyPr wrap="square">
            <a:spAutoFit/>
          </a:bodyPr>
          <a:lstStyle/>
          <a:p>
            <a:pPr algn="l"/>
            <a:r>
              <a:rPr sz="1200" dirty="0">
                <a:solidFill>
                  <a:srgbClr val="CCD6F1"/>
                </a:solidFill>
              </a:rPr>
              <a:t>  TECH STACK:</a:t>
            </a:r>
          </a:p>
          <a:p>
            <a:pPr algn="l"/>
            <a:r>
              <a:rPr sz="1200" dirty="0">
                <a:solidFill>
                  <a:srgbClr val="CCD6F1"/>
                </a:solidFill>
              </a:rPr>
              <a:t>    • Next.js 14 (App Router) + TypeScript</a:t>
            </a:r>
          </a:p>
          <a:p>
            <a:pPr algn="l"/>
            <a:r>
              <a:rPr sz="1200" dirty="0">
                <a:solidFill>
                  <a:srgbClr val="CCD6F1"/>
                </a:solidFill>
              </a:rPr>
              <a:t>    • Tailwind CSS utility classes</a:t>
            </a:r>
          </a:p>
          <a:p>
            <a:pPr algn="l"/>
            <a:r>
              <a:rPr sz="1200" dirty="0">
                <a:solidFill>
                  <a:srgbClr val="CCD6F1"/>
                </a:solidFill>
              </a:rPr>
              <a:t>    • </a:t>
            </a:r>
            <a:r>
              <a:rPr sz="1200" dirty="0" err="1">
                <a:solidFill>
                  <a:srgbClr val="CCD6F1"/>
                </a:solidFill>
              </a:rPr>
              <a:t>Lucide</a:t>
            </a:r>
            <a:r>
              <a:rPr sz="1200" dirty="0">
                <a:solidFill>
                  <a:srgbClr val="CCD6F1"/>
                </a:solidFill>
              </a:rPr>
              <a:t> React icons</a:t>
            </a:r>
          </a:p>
          <a:p>
            <a:pPr algn="l"/>
            <a:r>
              <a:rPr sz="1200" dirty="0">
                <a:solidFill>
                  <a:srgbClr val="CCD6F1"/>
                </a:solidFill>
              </a:rPr>
              <a:t>    • Tauri (optional desktop build, </a:t>
            </a:r>
            <a:r>
              <a:rPr sz="1200" dirty="0" err="1">
                <a:solidFill>
                  <a:srgbClr val="CCD6F1"/>
                </a:solidFill>
              </a:rPr>
              <a:t>src-tauri</a:t>
            </a:r>
            <a:r>
              <a:rPr sz="1200" dirty="0">
                <a:solidFill>
                  <a:srgbClr val="CCD6F1"/>
                </a:solidFill>
              </a:rPr>
              <a:t>/)</a:t>
            </a:r>
          </a:p>
          <a:p>
            <a:pPr algn="l"/>
            <a:r>
              <a:rPr sz="1200" dirty="0">
                <a:solidFill>
                  <a:srgbClr val="CCD6F1"/>
                </a:solidFill>
              </a:rPr>
              <a:t>  </a:t>
            </a:r>
          </a:p>
          <a:p>
            <a:pPr algn="l"/>
            <a:r>
              <a:rPr sz="1200" dirty="0">
                <a:solidFill>
                  <a:srgbClr val="CCD6F1"/>
                </a:solidFill>
              </a:rPr>
              <a:t>  APP ROUTES:</a:t>
            </a:r>
          </a:p>
          <a:p>
            <a:pPr algn="l"/>
            <a:r>
              <a:rPr sz="1200" dirty="0">
                <a:solidFill>
                  <a:srgbClr val="CCD6F1"/>
                </a:solidFill>
              </a:rPr>
              <a:t>    • /               – Main workspace (auth-gated)</a:t>
            </a:r>
          </a:p>
          <a:p>
            <a:pPr algn="l"/>
            <a:r>
              <a:rPr sz="1200" dirty="0">
                <a:solidFill>
                  <a:srgbClr val="CCD6F1"/>
                </a:solidFill>
              </a:rPr>
              <a:t>    • /</a:t>
            </a:r>
            <a:r>
              <a:rPr sz="1200" dirty="0" err="1">
                <a:solidFill>
                  <a:srgbClr val="CCD6F1"/>
                </a:solidFill>
              </a:rPr>
              <a:t>signin</a:t>
            </a:r>
            <a:r>
              <a:rPr sz="1200" dirty="0">
                <a:solidFill>
                  <a:srgbClr val="CCD6F1"/>
                </a:solidFill>
              </a:rPr>
              <a:t>         – JWT login page</a:t>
            </a:r>
          </a:p>
          <a:p>
            <a:pPr algn="l"/>
            <a:r>
              <a:rPr sz="1200" dirty="0">
                <a:solidFill>
                  <a:srgbClr val="CCD6F1"/>
                </a:solidFill>
              </a:rPr>
              <a:t>    • /welcome        – First-run onboarding flow</a:t>
            </a:r>
          </a:p>
          <a:p>
            <a:pPr algn="l"/>
            <a:r>
              <a:rPr sz="1200" dirty="0">
                <a:solidFill>
                  <a:srgbClr val="CCD6F1"/>
                </a:solidFill>
              </a:rPr>
              <a:t>    • /dashboard      – Project metrics dashboard</a:t>
            </a:r>
          </a:p>
          <a:p>
            <a:pPr algn="l"/>
            <a:r>
              <a:rPr sz="1200" dirty="0">
                <a:solidFill>
                  <a:srgbClr val="CCD6F1"/>
                </a:solidFill>
              </a:rPr>
              <a:t>    • /</a:t>
            </a:r>
            <a:r>
              <a:rPr sz="1200" dirty="0" err="1">
                <a:solidFill>
                  <a:srgbClr val="CCD6F1"/>
                </a:solidFill>
              </a:rPr>
              <a:t>pml</a:t>
            </a:r>
            <a:r>
              <a:rPr sz="1200" dirty="0">
                <a:solidFill>
                  <a:srgbClr val="CCD6F1"/>
                </a:solidFill>
              </a:rPr>
              <a:t>            – PML template editor workspace</a:t>
            </a:r>
          </a:p>
          <a:p>
            <a:pPr algn="l"/>
            <a:r>
              <a:rPr sz="1200" dirty="0">
                <a:solidFill>
                  <a:srgbClr val="CCD6F1"/>
                </a:solidFill>
              </a:rPr>
              <a:t>    • /usage          – API usage &amp; model telemetry</a:t>
            </a:r>
          </a:p>
          <a:p>
            <a:pPr algn="l"/>
            <a:r>
              <a:rPr sz="1200" dirty="0">
                <a:solidFill>
                  <a:srgbClr val="CCD6F1"/>
                </a:solidFill>
              </a:rPr>
              <a:t>  </a:t>
            </a:r>
          </a:p>
          <a:p>
            <a:pPr algn="l"/>
            <a:r>
              <a:rPr sz="1200" dirty="0">
                <a:solidFill>
                  <a:srgbClr val="CCD6F1"/>
                </a:solidFill>
              </a:rPr>
              <a:t>  AUTHENTICATION:</a:t>
            </a:r>
          </a:p>
          <a:p>
            <a:pPr algn="l"/>
            <a:r>
              <a:rPr sz="1200" dirty="0">
                <a:solidFill>
                  <a:srgbClr val="CCD6F1"/>
                </a:solidFill>
              </a:rPr>
              <a:t>    • </a:t>
            </a:r>
            <a:r>
              <a:rPr sz="1200" dirty="0" err="1">
                <a:solidFill>
                  <a:srgbClr val="CCD6F1"/>
                </a:solidFill>
              </a:rPr>
              <a:t>authMe</a:t>
            </a:r>
            <a:r>
              <a:rPr sz="1200" dirty="0">
                <a:solidFill>
                  <a:srgbClr val="CCD6F1"/>
                </a:solidFill>
              </a:rPr>
              <a:t>() on mount – redirect to /</a:t>
            </a:r>
            <a:r>
              <a:rPr sz="1200" dirty="0" err="1">
                <a:solidFill>
                  <a:srgbClr val="CCD6F1"/>
                </a:solidFill>
              </a:rPr>
              <a:t>signin</a:t>
            </a:r>
            <a:r>
              <a:rPr sz="1200" dirty="0">
                <a:solidFill>
                  <a:srgbClr val="CCD6F1"/>
                </a:solidFill>
              </a:rPr>
              <a:t> if not logged in</a:t>
            </a:r>
          </a:p>
          <a:p>
            <a:pPr algn="l"/>
            <a:r>
              <a:rPr sz="1200" dirty="0">
                <a:solidFill>
                  <a:srgbClr val="CCD6F1"/>
                </a:solidFill>
              </a:rPr>
              <a:t>    • </a:t>
            </a:r>
            <a:r>
              <a:rPr sz="1200" dirty="0" err="1">
                <a:solidFill>
                  <a:srgbClr val="CCD6F1"/>
                </a:solidFill>
              </a:rPr>
              <a:t>authLogout</a:t>
            </a:r>
            <a:r>
              <a:rPr sz="1200" dirty="0">
                <a:solidFill>
                  <a:srgbClr val="CCD6F1"/>
                </a:solidFill>
              </a:rPr>
              <a:t>() clears session cookie</a:t>
            </a:r>
          </a:p>
          <a:p>
            <a:pPr algn="l"/>
            <a:r>
              <a:rPr sz="1200" dirty="0">
                <a:solidFill>
                  <a:srgbClr val="CCD6F1"/>
                </a:solidFill>
              </a:rPr>
              <a:t>    • First-visit gate → /welcome page</a:t>
            </a:r>
          </a:p>
        </p:txBody>
      </p:sp>
      <p:sp>
        <p:nvSpPr>
          <p:cNvPr id="7" name="TextBox 6"/>
          <p:cNvSpPr txBox="1"/>
          <p:nvPr/>
        </p:nvSpPr>
        <p:spPr>
          <a:xfrm>
            <a:off x="5943600" y="1143000"/>
            <a:ext cx="5943600" cy="3046988"/>
          </a:xfrm>
          <a:prstGeom prst="rect">
            <a:avLst/>
          </a:prstGeom>
          <a:noFill/>
        </p:spPr>
        <p:txBody>
          <a:bodyPr wrap="square">
            <a:spAutoFit/>
          </a:bodyPr>
          <a:lstStyle/>
          <a:p>
            <a:pPr algn="l"/>
            <a:r>
              <a:rPr sz="1200" dirty="0">
                <a:solidFill>
                  <a:srgbClr val="CCD6F1"/>
                </a:solidFill>
              </a:rPr>
              <a:t>   KEY COMPONENT MODULES:</a:t>
            </a:r>
          </a:p>
          <a:p>
            <a:pPr algn="l"/>
            <a:r>
              <a:rPr sz="1200" dirty="0">
                <a:solidFill>
                  <a:srgbClr val="CCD6F1"/>
                </a:solidFill>
              </a:rPr>
              <a:t>    • components/chat/   – </a:t>
            </a:r>
            <a:r>
              <a:rPr sz="1200" dirty="0" err="1">
                <a:solidFill>
                  <a:srgbClr val="CCD6F1"/>
                </a:solidFill>
              </a:rPr>
              <a:t>ChatWindow</a:t>
            </a:r>
            <a:r>
              <a:rPr sz="1200" dirty="0">
                <a:solidFill>
                  <a:srgbClr val="CCD6F1"/>
                </a:solidFill>
              </a:rPr>
              <a:t>, </a:t>
            </a:r>
            <a:r>
              <a:rPr sz="1200" dirty="0" err="1">
                <a:solidFill>
                  <a:srgbClr val="CCD6F1"/>
                </a:solidFill>
              </a:rPr>
              <a:t>MessageBubble</a:t>
            </a:r>
            <a:r>
              <a:rPr sz="1200" dirty="0">
                <a:solidFill>
                  <a:srgbClr val="CCD6F1"/>
                </a:solidFill>
              </a:rPr>
              <a:t>, </a:t>
            </a:r>
            <a:r>
              <a:rPr sz="1200" dirty="0" err="1">
                <a:solidFill>
                  <a:srgbClr val="CCD6F1"/>
                </a:solidFill>
              </a:rPr>
              <a:t>ChatInput</a:t>
            </a:r>
            <a:r>
              <a:rPr sz="1200" dirty="0">
                <a:solidFill>
                  <a:srgbClr val="CCD6F1"/>
                </a:solidFill>
              </a:rPr>
              <a:t>,</a:t>
            </a:r>
          </a:p>
          <a:p>
            <a:pPr algn="l"/>
            <a:r>
              <a:rPr sz="1200" dirty="0">
                <a:solidFill>
                  <a:srgbClr val="CCD6F1"/>
                </a:solidFill>
              </a:rPr>
              <a:t>       </a:t>
            </a:r>
            <a:r>
              <a:rPr sz="1200" dirty="0" err="1">
                <a:solidFill>
                  <a:srgbClr val="CCD6F1"/>
                </a:solidFill>
              </a:rPr>
              <a:t>ChatHeader</a:t>
            </a:r>
            <a:r>
              <a:rPr sz="1200" dirty="0">
                <a:solidFill>
                  <a:srgbClr val="CCD6F1"/>
                </a:solidFill>
              </a:rPr>
              <a:t>, </a:t>
            </a:r>
            <a:r>
              <a:rPr sz="1200" dirty="0" err="1">
                <a:solidFill>
                  <a:srgbClr val="CCD6F1"/>
                </a:solidFill>
              </a:rPr>
              <a:t>PreprocessingPreviewPanel</a:t>
            </a:r>
            <a:r>
              <a:rPr sz="1200" dirty="0">
                <a:solidFill>
                  <a:srgbClr val="CCD6F1"/>
                </a:solidFill>
              </a:rPr>
              <a:t>, </a:t>
            </a:r>
            <a:r>
              <a:rPr sz="1200" dirty="0" err="1">
                <a:solidFill>
                  <a:srgbClr val="CCD6F1"/>
                </a:solidFill>
              </a:rPr>
              <a:t>SourceViewerModal</a:t>
            </a:r>
            <a:r>
              <a:rPr sz="1200" dirty="0">
                <a:solidFill>
                  <a:srgbClr val="CCD6F1"/>
                </a:solidFill>
              </a:rPr>
              <a:t>,</a:t>
            </a:r>
          </a:p>
          <a:p>
            <a:pPr algn="l"/>
            <a:r>
              <a:rPr sz="1200" dirty="0">
                <a:solidFill>
                  <a:srgbClr val="CCD6F1"/>
                </a:solidFill>
              </a:rPr>
              <a:t>       </a:t>
            </a:r>
            <a:r>
              <a:rPr sz="1200" dirty="0" err="1">
                <a:solidFill>
                  <a:srgbClr val="CCD6F1"/>
                </a:solidFill>
              </a:rPr>
              <a:t>TableInspectionModal</a:t>
            </a:r>
            <a:r>
              <a:rPr sz="1200" dirty="0">
                <a:solidFill>
                  <a:srgbClr val="CCD6F1"/>
                </a:solidFill>
              </a:rPr>
              <a:t>, </a:t>
            </a:r>
            <a:r>
              <a:rPr sz="1200" dirty="0" err="1">
                <a:solidFill>
                  <a:srgbClr val="CCD6F1"/>
                </a:solidFill>
              </a:rPr>
              <a:t>InlineMetadataPrompt</a:t>
            </a:r>
            <a:endParaRPr sz="1200" dirty="0">
              <a:solidFill>
                <a:srgbClr val="CCD6F1"/>
              </a:solidFill>
            </a:endParaRPr>
          </a:p>
          <a:p>
            <a:pPr algn="l"/>
            <a:r>
              <a:rPr sz="1200" dirty="0">
                <a:solidFill>
                  <a:srgbClr val="CCD6F1"/>
                </a:solidFill>
              </a:rPr>
              <a:t>    • components/sidebar/ – Sidebar, </a:t>
            </a:r>
            <a:r>
              <a:rPr sz="1200" dirty="0" err="1">
                <a:solidFill>
                  <a:srgbClr val="CCD6F1"/>
                </a:solidFill>
              </a:rPr>
              <a:t>ChatList</a:t>
            </a:r>
            <a:r>
              <a:rPr sz="1200" dirty="0">
                <a:solidFill>
                  <a:srgbClr val="CCD6F1"/>
                </a:solidFill>
              </a:rPr>
              <a:t>, </a:t>
            </a:r>
            <a:r>
              <a:rPr sz="1200" dirty="0" err="1">
                <a:solidFill>
                  <a:srgbClr val="CCD6F1"/>
                </a:solidFill>
              </a:rPr>
              <a:t>PdfUpload</a:t>
            </a:r>
            <a:r>
              <a:rPr sz="1200" dirty="0">
                <a:solidFill>
                  <a:srgbClr val="CCD6F1"/>
                </a:solidFill>
              </a:rPr>
              <a:t>, Brand</a:t>
            </a:r>
          </a:p>
          <a:p>
            <a:pPr algn="l"/>
            <a:r>
              <a:rPr sz="1200" dirty="0">
                <a:solidFill>
                  <a:srgbClr val="CCD6F1"/>
                </a:solidFill>
              </a:rPr>
              <a:t>    • components/upload/  – </a:t>
            </a:r>
            <a:r>
              <a:rPr sz="1200" dirty="0" err="1">
                <a:solidFill>
                  <a:srgbClr val="CCD6F1"/>
                </a:solidFill>
              </a:rPr>
              <a:t>PdfUploadButton</a:t>
            </a:r>
            <a:r>
              <a:rPr sz="1200" dirty="0">
                <a:solidFill>
                  <a:srgbClr val="CCD6F1"/>
                </a:solidFill>
              </a:rPr>
              <a:t>, </a:t>
            </a:r>
            <a:r>
              <a:rPr sz="1200" dirty="0" err="1">
                <a:solidFill>
                  <a:srgbClr val="CCD6F1"/>
                </a:solidFill>
              </a:rPr>
              <a:t>UploadProgress</a:t>
            </a:r>
            <a:r>
              <a:rPr sz="1200" dirty="0">
                <a:solidFill>
                  <a:srgbClr val="CCD6F1"/>
                </a:solidFill>
              </a:rPr>
              <a:t>,</a:t>
            </a:r>
          </a:p>
          <a:p>
            <a:pPr algn="l"/>
            <a:r>
              <a:rPr sz="1200" dirty="0">
                <a:solidFill>
                  <a:srgbClr val="CCD6F1"/>
                </a:solidFill>
              </a:rPr>
              <a:t>       </a:t>
            </a:r>
            <a:r>
              <a:rPr sz="1200" dirty="0" err="1">
                <a:solidFill>
                  <a:srgbClr val="CCD6F1"/>
                </a:solidFill>
              </a:rPr>
              <a:t>ChunkingProgress</a:t>
            </a:r>
            <a:r>
              <a:rPr sz="1200" dirty="0">
                <a:solidFill>
                  <a:srgbClr val="CCD6F1"/>
                </a:solidFill>
              </a:rPr>
              <a:t>, </a:t>
            </a:r>
            <a:r>
              <a:rPr sz="1200" dirty="0" err="1">
                <a:solidFill>
                  <a:srgbClr val="CCD6F1"/>
                </a:solidFill>
              </a:rPr>
              <a:t>PdfContextBanner</a:t>
            </a:r>
            <a:endParaRPr sz="1200" dirty="0">
              <a:solidFill>
                <a:srgbClr val="CCD6F1"/>
              </a:solidFill>
            </a:endParaRPr>
          </a:p>
          <a:p>
            <a:pPr algn="l"/>
            <a:r>
              <a:rPr sz="1200" dirty="0">
                <a:solidFill>
                  <a:srgbClr val="CCD6F1"/>
                </a:solidFill>
              </a:rPr>
              <a:t>    • components/workspace/ – </a:t>
            </a:r>
            <a:r>
              <a:rPr sz="1200" dirty="0" err="1">
                <a:solidFill>
                  <a:srgbClr val="CCD6F1"/>
                </a:solidFill>
              </a:rPr>
              <a:t>WorkspaceModeSwitcher</a:t>
            </a:r>
            <a:r>
              <a:rPr sz="1200" dirty="0">
                <a:solidFill>
                  <a:srgbClr val="CCD6F1"/>
                </a:solidFill>
              </a:rPr>
              <a:t>,</a:t>
            </a:r>
          </a:p>
          <a:p>
            <a:pPr algn="l"/>
            <a:r>
              <a:rPr sz="1200" dirty="0">
                <a:solidFill>
                  <a:srgbClr val="CCD6F1"/>
                </a:solidFill>
              </a:rPr>
              <a:t>       </a:t>
            </a:r>
            <a:r>
              <a:rPr sz="1200" dirty="0" err="1">
                <a:solidFill>
                  <a:srgbClr val="CCD6F1"/>
                </a:solidFill>
              </a:rPr>
              <a:t>WorkspaceOverviewDashboard</a:t>
            </a:r>
            <a:r>
              <a:rPr sz="1200" dirty="0">
                <a:solidFill>
                  <a:srgbClr val="CCD6F1"/>
                </a:solidFill>
              </a:rPr>
              <a:t>, </a:t>
            </a:r>
            <a:r>
              <a:rPr sz="1200" dirty="0" err="1">
                <a:solidFill>
                  <a:srgbClr val="CCD6F1"/>
                </a:solidFill>
              </a:rPr>
              <a:t>WorkspaceProjectTree</a:t>
            </a:r>
            <a:endParaRPr sz="1200" dirty="0">
              <a:solidFill>
                <a:srgbClr val="CCD6F1"/>
              </a:solidFill>
            </a:endParaRPr>
          </a:p>
          <a:p>
            <a:pPr algn="l"/>
            <a:r>
              <a:rPr sz="1200" dirty="0">
                <a:solidFill>
                  <a:srgbClr val="CCD6F1"/>
                </a:solidFill>
              </a:rPr>
              <a:t>    • components/</a:t>
            </a:r>
            <a:r>
              <a:rPr sz="1200" dirty="0" err="1">
                <a:solidFill>
                  <a:srgbClr val="CCD6F1"/>
                </a:solidFill>
              </a:rPr>
              <a:t>pml</a:t>
            </a:r>
            <a:r>
              <a:rPr sz="1200" dirty="0">
                <a:solidFill>
                  <a:srgbClr val="CCD6F1"/>
                </a:solidFill>
              </a:rPr>
              <a:t>/    – </a:t>
            </a:r>
            <a:r>
              <a:rPr sz="1200" dirty="0" err="1">
                <a:solidFill>
                  <a:srgbClr val="CCD6F1"/>
                </a:solidFill>
              </a:rPr>
              <a:t>TemplateLibraryPanel</a:t>
            </a:r>
            <a:endParaRPr sz="1200" dirty="0">
              <a:solidFill>
                <a:srgbClr val="CCD6F1"/>
              </a:solidFill>
            </a:endParaRPr>
          </a:p>
          <a:p>
            <a:pPr algn="l"/>
            <a:r>
              <a:rPr sz="1200" dirty="0">
                <a:solidFill>
                  <a:srgbClr val="CCD6F1"/>
                </a:solidFill>
              </a:rPr>
              <a:t>    • components/messaging/ – </a:t>
            </a:r>
            <a:r>
              <a:rPr sz="1200" dirty="0" err="1">
                <a:solidFill>
                  <a:srgbClr val="CCD6F1"/>
                </a:solidFill>
              </a:rPr>
              <a:t>EnterpriseMessagingWorkspace</a:t>
            </a:r>
            <a:endParaRPr sz="1200" dirty="0">
              <a:solidFill>
                <a:srgbClr val="CCD6F1"/>
              </a:solidFill>
            </a:endParaRPr>
          </a:p>
          <a:p>
            <a:pPr algn="l"/>
            <a:r>
              <a:rPr sz="1200" dirty="0">
                <a:solidFill>
                  <a:srgbClr val="CCD6F1"/>
                </a:solidFill>
              </a:rPr>
              <a:t>    • components/onboarding/ – </a:t>
            </a:r>
            <a:r>
              <a:rPr sz="1200" dirty="0" err="1">
                <a:solidFill>
                  <a:srgbClr val="CCD6F1"/>
                </a:solidFill>
              </a:rPr>
              <a:t>GettingStartedModal</a:t>
            </a:r>
            <a:r>
              <a:rPr sz="1200" dirty="0">
                <a:solidFill>
                  <a:srgbClr val="CCD6F1"/>
                </a:solidFill>
              </a:rPr>
              <a:t>, </a:t>
            </a:r>
            <a:r>
              <a:rPr sz="1200" dirty="0" err="1">
                <a:solidFill>
                  <a:srgbClr val="CCD6F1"/>
                </a:solidFill>
              </a:rPr>
              <a:t>ShortcutsModal</a:t>
            </a:r>
            <a:endParaRPr sz="1200" dirty="0">
              <a:solidFill>
                <a:srgbClr val="CCD6F1"/>
              </a:solidFill>
            </a:endParaRPr>
          </a:p>
          <a:p>
            <a:pPr algn="l"/>
            <a:r>
              <a:rPr sz="1200" dirty="0">
                <a:solidFill>
                  <a:srgbClr val="CCD6F1"/>
                </a:solidFill>
              </a:rPr>
              <a:t>  </a:t>
            </a:r>
          </a:p>
          <a:p>
            <a:pPr algn="l"/>
            <a:r>
              <a:rPr sz="1200" dirty="0">
                <a:solidFill>
                  <a:srgbClr val="CCD6F1"/>
                </a:solidFill>
              </a:rPr>
              <a:t>  WORKSPACE MODES: ai | </a:t>
            </a:r>
            <a:r>
              <a:rPr sz="1200" dirty="0" err="1">
                <a:solidFill>
                  <a:srgbClr val="CCD6F1"/>
                </a:solidFill>
              </a:rPr>
              <a:t>pml</a:t>
            </a:r>
            <a:r>
              <a:rPr sz="1200" dirty="0">
                <a:solidFill>
                  <a:srgbClr val="CCD6F1"/>
                </a:solidFill>
              </a:rPr>
              <a:t> | team</a:t>
            </a:r>
            <a:endParaRPr lang="en-US" sz="1200" dirty="0">
              <a:solidFill>
                <a:srgbClr val="CCD6F1"/>
              </a:solidFill>
            </a:endParaRPr>
          </a:p>
          <a:p>
            <a:pPr algn="l"/>
            <a:r>
              <a:rPr lang="en-IN" sz="1200" dirty="0">
                <a:solidFill>
                  <a:srgbClr val="CCD6F1"/>
                </a:solidFill>
              </a:rPr>
              <a:t>	</a:t>
            </a:r>
            <a:r>
              <a:rPr sz="1200" dirty="0">
                <a:solidFill>
                  <a:srgbClr val="CCD6F1"/>
                </a:solidFill>
              </a:rPr>
              <a:t>STREAMING: SSE (Server-Sent Events) token-by-token from </a:t>
            </a:r>
            <a:r>
              <a:rPr sz="1200" dirty="0" err="1">
                <a:solidFill>
                  <a:srgbClr val="CCD6F1"/>
                </a:solidFill>
              </a:rPr>
              <a:t>backen</a:t>
            </a:r>
            <a:r>
              <a:rPr lang="en-IN" sz="1200" dirty="0">
                <a:solidFill>
                  <a:srgbClr val="CCD6F1"/>
                </a:solidFill>
              </a:rPr>
              <a:t>d</a:t>
            </a:r>
            <a:endParaRPr lang="en-US" sz="1200" dirty="0">
              <a:solidFill>
                <a:srgbClr val="CCD6F1"/>
              </a:solidFill>
            </a:endParaRPr>
          </a:p>
          <a:p>
            <a:pPr algn="l"/>
            <a:r>
              <a:rPr lang="en-US" sz="1200" dirty="0">
                <a:solidFill>
                  <a:srgbClr val="CCD6F1"/>
                </a:solidFill>
              </a:rPr>
              <a:t>	STATE: </a:t>
            </a:r>
            <a:r>
              <a:rPr lang="en-US" sz="1200" dirty="0" err="1">
                <a:solidFill>
                  <a:srgbClr val="CCD6F1"/>
                </a:solidFill>
              </a:rPr>
              <a:t>localStorage</a:t>
            </a:r>
            <a:r>
              <a:rPr lang="en-US" sz="1200" dirty="0">
                <a:solidFill>
                  <a:srgbClr val="CCD6F1"/>
                </a:solidFill>
              </a:rPr>
              <a:t> for chats, sidebar, workspace </a:t>
            </a:r>
            <a:r>
              <a:rPr lang="en-US" sz="1200" dirty="0" err="1">
                <a:solidFill>
                  <a:srgbClr val="CCD6F1"/>
                </a:solidFill>
              </a:rPr>
              <a:t>prefs</a:t>
            </a:r>
            <a:endParaRPr lang="en-US" sz="1200" dirty="0">
              <a:solidFill>
                <a:srgbClr val="CCD6F1"/>
              </a:solidFill>
            </a:endParaRPr>
          </a:p>
        </p:txBody>
      </p:sp>
      <p:pic>
        <p:nvPicPr>
          <p:cNvPr id="8" name="Picture 7">
            <a:extLst>
              <a:ext uri="{FF2B5EF4-FFF2-40B4-BE49-F238E27FC236}">
                <a16:creationId xmlns:a16="http://schemas.microsoft.com/office/drawing/2014/main" id="{CFB3648C-9451-AF5D-89C3-D9F39BF4F1BC}"/>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Chat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Real-time AI document Q&amp;A interface with token streaming and citation support</a:t>
            </a:r>
          </a:p>
        </p:txBody>
      </p:sp>
      <p:sp>
        <p:nvSpPr>
          <p:cNvPr id="6" name="TextBox 5"/>
          <p:cNvSpPr txBox="1"/>
          <p:nvPr/>
        </p:nvSpPr>
        <p:spPr>
          <a:xfrm>
            <a:off x="274320" y="1188720"/>
            <a:ext cx="5394960" cy="2492990"/>
          </a:xfrm>
          <a:prstGeom prst="rect">
            <a:avLst/>
          </a:prstGeom>
          <a:noFill/>
        </p:spPr>
        <p:txBody>
          <a:bodyPr wrap="square">
            <a:spAutoFit/>
          </a:bodyPr>
          <a:lstStyle/>
          <a:p>
            <a:pPr algn="l"/>
            <a:r>
              <a:rPr sz="1300" dirty="0">
                <a:solidFill>
                  <a:srgbClr val="CCD6F1"/>
                </a:solidFill>
              </a:rPr>
              <a:t>Token-by-token SSE streaming from backend LLM (GGUF / HF / </a:t>
            </a:r>
            <a:r>
              <a:rPr sz="1300" dirty="0" err="1">
                <a:solidFill>
                  <a:srgbClr val="CCD6F1"/>
                </a:solidFill>
              </a:rPr>
              <a:t>Groq</a:t>
            </a:r>
            <a:r>
              <a:rPr sz="1300" dirty="0">
                <a:solidFill>
                  <a:srgbClr val="CCD6F1"/>
                </a:solidFill>
              </a:rPr>
              <a:t> / </a:t>
            </a:r>
            <a:r>
              <a:rPr sz="1300" dirty="0" err="1">
                <a:solidFill>
                  <a:srgbClr val="CCD6F1"/>
                </a:solidFill>
              </a:rPr>
              <a:t>xAI</a:t>
            </a:r>
            <a:r>
              <a:rPr sz="1300" dirty="0">
                <a:solidFill>
                  <a:srgbClr val="CCD6F1"/>
                </a:solidFill>
              </a:rPr>
              <a:t>)</a:t>
            </a:r>
            <a:endParaRPr lang="en-US" sz="1300" dirty="0">
              <a:solidFill>
                <a:srgbClr val="CCD6F1"/>
              </a:solidFill>
            </a:endParaRPr>
          </a:p>
          <a:p>
            <a:pPr algn="l"/>
            <a:r>
              <a:rPr sz="1300" dirty="0">
                <a:solidFill>
                  <a:srgbClr val="CCD6F1"/>
                </a:solidFill>
              </a:rPr>
              <a:t>PDF context banner – shows indexed document + revision in chat header</a:t>
            </a:r>
            <a:endParaRPr lang="en-US" sz="1300" dirty="0">
              <a:solidFill>
                <a:srgbClr val="CCD6F1"/>
              </a:solidFill>
            </a:endParaRPr>
          </a:p>
          <a:p>
            <a:pPr algn="l"/>
            <a:r>
              <a:rPr sz="1300" dirty="0">
                <a:solidFill>
                  <a:srgbClr val="CCD6F1"/>
                </a:solidFill>
              </a:rPr>
              <a:t>Source Viewer Modal – opens cited chunk with page/section highlight</a:t>
            </a:r>
          </a:p>
          <a:p>
            <a:pPr algn="l"/>
            <a:r>
              <a:rPr sz="1300" dirty="0">
                <a:solidFill>
                  <a:srgbClr val="CCD6F1"/>
                </a:solidFill>
              </a:rPr>
              <a:t>Table Inspection Modal – explore structured table data extracted from PDF</a:t>
            </a:r>
            <a:endParaRPr lang="en-US" sz="1300" dirty="0">
              <a:solidFill>
                <a:srgbClr val="CCD6F1"/>
              </a:solidFill>
            </a:endParaRPr>
          </a:p>
          <a:p>
            <a:pPr algn="l"/>
            <a:r>
              <a:rPr sz="1300" dirty="0">
                <a:solidFill>
                  <a:srgbClr val="CCD6F1"/>
                </a:solidFill>
              </a:rPr>
              <a:t>Preprocessing Preview Panel – live ingestion progress (filter, chunk, embed steps)</a:t>
            </a:r>
            <a:endParaRPr lang="en-US" sz="1300" dirty="0">
              <a:solidFill>
                <a:srgbClr val="CCD6F1"/>
              </a:solidFill>
            </a:endParaRPr>
          </a:p>
          <a:p>
            <a:pPr algn="l"/>
            <a:r>
              <a:rPr sz="1300" dirty="0">
                <a:solidFill>
                  <a:srgbClr val="CCD6F1"/>
                </a:solidFill>
              </a:rPr>
              <a:t>Inline Metadata Prompt – </a:t>
            </a:r>
            <a:r>
              <a:rPr sz="1300" dirty="0" err="1">
                <a:solidFill>
                  <a:srgbClr val="CCD6F1"/>
                </a:solidFill>
              </a:rPr>
              <a:t>document_type</a:t>
            </a:r>
            <a:r>
              <a:rPr sz="1300" dirty="0">
                <a:solidFill>
                  <a:srgbClr val="CCD6F1"/>
                </a:solidFill>
              </a:rPr>
              <a:t>, </a:t>
            </a:r>
            <a:r>
              <a:rPr sz="1300" dirty="0" err="1">
                <a:solidFill>
                  <a:srgbClr val="CCD6F1"/>
                </a:solidFill>
              </a:rPr>
              <a:t>revision_code</a:t>
            </a:r>
            <a:r>
              <a:rPr sz="1300" dirty="0">
                <a:solidFill>
                  <a:srgbClr val="CCD6F1"/>
                </a:solidFill>
              </a:rPr>
              <a:t>, </a:t>
            </a:r>
            <a:r>
              <a:rPr sz="1300" dirty="0" err="1">
                <a:solidFill>
                  <a:srgbClr val="CCD6F1"/>
                </a:solidFill>
              </a:rPr>
              <a:t>doc_number</a:t>
            </a:r>
            <a:r>
              <a:rPr sz="1300" dirty="0">
                <a:solidFill>
                  <a:srgbClr val="CCD6F1"/>
                </a:solidFill>
              </a:rPr>
              <a:t> confirmation</a:t>
            </a:r>
          </a:p>
          <a:p>
            <a:pPr algn="l"/>
            <a:r>
              <a:rPr sz="1300" dirty="0">
                <a:solidFill>
                  <a:srgbClr val="CCD6F1"/>
                </a:solidFill>
              </a:rPr>
              <a:t> Processing Bubble – animated loading state during LLM generation</a:t>
            </a:r>
          </a:p>
          <a:p>
            <a:pPr algn="l"/>
            <a:r>
              <a:rPr sz="1300" dirty="0">
                <a:solidFill>
                  <a:srgbClr val="CCD6F1"/>
                </a:solidFill>
              </a:rPr>
              <a:t>Thinking Disclosure – expandable </a:t>
            </a:r>
            <a:r>
              <a:rPr sz="1300" dirty="0" err="1">
                <a:solidFill>
                  <a:srgbClr val="CCD6F1"/>
                </a:solidFill>
              </a:rPr>
              <a:t>CoT</a:t>
            </a:r>
            <a:r>
              <a:rPr sz="1300" dirty="0">
                <a:solidFill>
                  <a:srgbClr val="CCD6F1"/>
                </a:solidFill>
              </a:rPr>
              <a:t> reasoning trace (agent mode)</a:t>
            </a:r>
          </a:p>
          <a:p>
            <a:pPr algn="l"/>
            <a:r>
              <a:rPr sz="1300" dirty="0">
                <a:solidFill>
                  <a:srgbClr val="CCD6F1"/>
                </a:solidFill>
              </a:rPr>
              <a:t>Model Selector – switch between Lite / Base / Net modes per chat</a:t>
            </a:r>
            <a:endParaRPr lang="en-US" sz="1300" dirty="0">
              <a:solidFill>
                <a:srgbClr val="CCD6F1"/>
              </a:solidFill>
            </a:endParaRPr>
          </a:p>
          <a:p>
            <a:pPr algn="l"/>
            <a:r>
              <a:rPr sz="1300" dirty="0">
                <a:solidFill>
                  <a:srgbClr val="CCD6F1"/>
                </a:solidFill>
              </a:rPr>
              <a:t>Feedback Bar – thumbs up/down inline rating per message</a:t>
            </a:r>
          </a:p>
        </p:txBody>
      </p:sp>
      <p:sp>
        <p:nvSpPr>
          <p:cNvPr id="7" name="Rectangle 6"/>
          <p:cNvSpPr/>
          <p:nvPr/>
        </p:nvSpPr>
        <p:spPr>
          <a:xfrm>
            <a:off x="5852160" y="1143000"/>
            <a:ext cx="6035040" cy="539496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52160" y="1143000"/>
            <a:ext cx="6035040" cy="539496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0" y="3611880"/>
            <a:ext cx="5852160" cy="457200"/>
          </a:xfrm>
          <a:prstGeom prst="rect">
            <a:avLst/>
          </a:prstGeom>
          <a:noFill/>
        </p:spPr>
        <p:txBody>
          <a:bodyPr wrap="square">
            <a:spAutoFit/>
          </a:bodyPr>
          <a:lstStyle/>
          <a:p>
            <a:pPr algn="ctr"/>
            <a:r>
              <a:rPr sz="1200" b="0">
                <a:solidFill>
                  <a:srgbClr val="6080CC"/>
                </a:solidFill>
              </a:rPr>
              <a:t>[ADD: Chat Workspace Screenshot]</a:t>
            </a:r>
          </a:p>
        </p:txBody>
      </p:sp>
      <p:pic>
        <p:nvPicPr>
          <p:cNvPr id="13" name="Picture 12">
            <a:extLst>
              <a:ext uri="{FF2B5EF4-FFF2-40B4-BE49-F238E27FC236}">
                <a16:creationId xmlns:a16="http://schemas.microsoft.com/office/drawing/2014/main" id="{364B3EEA-B880-117A-0D38-79E78C47AB94}"/>
              </a:ext>
            </a:extLst>
          </p:cNvPr>
          <p:cNvPicPr>
            <a:picLocks noChangeAspect="1"/>
          </p:cNvPicPr>
          <p:nvPr/>
        </p:nvPicPr>
        <p:blipFill>
          <a:blip r:embed="rId3"/>
          <a:stretch>
            <a:fillRect/>
          </a:stretch>
        </p:blipFill>
        <p:spPr>
          <a:xfrm>
            <a:off x="5852160" y="1143000"/>
            <a:ext cx="6035039" cy="5394960"/>
          </a:xfrm>
          <a:prstGeom prst="rect">
            <a:avLst/>
          </a:prstGeom>
        </p:spPr>
      </p:pic>
      <p:pic>
        <p:nvPicPr>
          <p:cNvPr id="14" name="Picture 13">
            <a:extLst>
              <a:ext uri="{FF2B5EF4-FFF2-40B4-BE49-F238E27FC236}">
                <a16:creationId xmlns:a16="http://schemas.microsoft.com/office/drawing/2014/main" id="{1D269C65-59E3-873B-276E-4E90FF6AD536}"/>
              </a:ext>
            </a:extLst>
          </p:cNvPr>
          <p:cNvPicPr>
            <a:picLocks noChangeAspect="1"/>
          </p:cNvPicPr>
          <p:nvPr/>
        </p:nvPicPr>
        <p:blipFill>
          <a:blip r:embed="rId4"/>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Sidebar, Upload &amp; Document Management</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PDF ingestion flow, chat history, multi-mode sidebar, Dev Settings panel</a:t>
            </a:r>
          </a:p>
        </p:txBody>
      </p:sp>
      <p:sp>
        <p:nvSpPr>
          <p:cNvPr id="6" name="TextBox 5"/>
          <p:cNvSpPr txBox="1"/>
          <p:nvPr/>
        </p:nvSpPr>
        <p:spPr>
          <a:xfrm>
            <a:off x="256032" y="1143000"/>
            <a:ext cx="5577840" cy="3362459"/>
          </a:xfrm>
          <a:prstGeom prst="rect">
            <a:avLst/>
          </a:prstGeom>
          <a:noFill/>
        </p:spPr>
        <p:txBody>
          <a:bodyPr wrap="square">
            <a:spAutoFit/>
          </a:bodyPr>
          <a:lstStyle/>
          <a:p>
            <a:pPr algn="l"/>
            <a:r>
              <a:rPr sz="1250" dirty="0">
                <a:solidFill>
                  <a:srgbClr val="CCD6F1"/>
                </a:solidFill>
              </a:rPr>
              <a:t>  SIDEBAR (</a:t>
            </a:r>
            <a:r>
              <a:rPr sz="1250" dirty="0" err="1">
                <a:solidFill>
                  <a:srgbClr val="CCD6F1"/>
                </a:solidFill>
              </a:rPr>
              <a:t>Sidebar.tsx</a:t>
            </a:r>
            <a:r>
              <a:rPr sz="1250" dirty="0">
                <a:solidFill>
                  <a:srgbClr val="CCD6F1"/>
                </a:solidFill>
              </a:rPr>
              <a:t>):</a:t>
            </a:r>
          </a:p>
          <a:p>
            <a:pPr algn="l"/>
            <a:r>
              <a:rPr sz="1250" dirty="0">
                <a:solidFill>
                  <a:srgbClr val="CCD6F1"/>
                </a:solidFill>
              </a:rPr>
              <a:t>    • Collapsible slide-in navigation panel</a:t>
            </a:r>
          </a:p>
          <a:p>
            <a:pPr algn="l"/>
            <a:r>
              <a:rPr sz="1250" dirty="0">
                <a:solidFill>
                  <a:srgbClr val="CCD6F1"/>
                </a:solidFill>
              </a:rPr>
              <a:t>    • Chat list with unread badge counts</a:t>
            </a:r>
          </a:p>
          <a:p>
            <a:pPr algn="l"/>
            <a:r>
              <a:rPr sz="1250" dirty="0">
                <a:solidFill>
                  <a:srgbClr val="CCD6F1"/>
                </a:solidFill>
              </a:rPr>
              <a:t>    • Search/filter chat sessions</a:t>
            </a:r>
          </a:p>
          <a:p>
            <a:pPr algn="l"/>
            <a:r>
              <a:rPr sz="1250" dirty="0">
                <a:solidFill>
                  <a:srgbClr val="CCD6F1"/>
                </a:solidFill>
              </a:rPr>
              <a:t>    • PDF upload trigger (</a:t>
            </a:r>
            <a:r>
              <a:rPr sz="1250" dirty="0" err="1">
                <a:solidFill>
                  <a:srgbClr val="CCD6F1"/>
                </a:solidFill>
              </a:rPr>
              <a:t>PdfUpload.tsx</a:t>
            </a:r>
            <a:r>
              <a:rPr sz="1250" dirty="0">
                <a:solidFill>
                  <a:srgbClr val="CCD6F1"/>
                </a:solidFill>
              </a:rPr>
              <a:t>)</a:t>
            </a:r>
          </a:p>
          <a:p>
            <a:pPr algn="l"/>
            <a:r>
              <a:rPr sz="1250" dirty="0">
                <a:solidFill>
                  <a:srgbClr val="CCD6F1"/>
                </a:solidFill>
              </a:rPr>
              <a:t>    • Model mode indicator (Lite / Base / Net)</a:t>
            </a:r>
          </a:p>
          <a:p>
            <a:pPr algn="l"/>
            <a:r>
              <a:rPr sz="1250" dirty="0">
                <a:solidFill>
                  <a:srgbClr val="CCD6F1"/>
                </a:solidFill>
              </a:rPr>
              <a:t>    • Dev settings panel with live override controls</a:t>
            </a:r>
          </a:p>
          <a:p>
            <a:pPr algn="l"/>
            <a:r>
              <a:rPr sz="1250" dirty="0">
                <a:solidFill>
                  <a:srgbClr val="CCD6F1"/>
                </a:solidFill>
              </a:rPr>
              <a:t>    • User profile + sign-out</a:t>
            </a:r>
          </a:p>
          <a:p>
            <a:pPr algn="l"/>
            <a:r>
              <a:rPr sz="1250" dirty="0">
                <a:solidFill>
                  <a:srgbClr val="CCD6F1"/>
                </a:solidFill>
              </a:rPr>
              <a:t>  </a:t>
            </a:r>
          </a:p>
          <a:p>
            <a:pPr algn="l"/>
            <a:r>
              <a:rPr sz="1250" dirty="0">
                <a:solidFill>
                  <a:srgbClr val="CCD6F1"/>
                </a:solidFill>
              </a:rPr>
              <a:t>  PDF UPLOAD FLOW:</a:t>
            </a:r>
          </a:p>
          <a:p>
            <a:pPr algn="l"/>
            <a:r>
              <a:rPr sz="1250" dirty="0">
                <a:solidFill>
                  <a:srgbClr val="CCD6F1"/>
                </a:solidFill>
              </a:rPr>
              <a:t>    • </a:t>
            </a:r>
            <a:r>
              <a:rPr sz="1250" dirty="0" err="1">
                <a:solidFill>
                  <a:srgbClr val="CCD6F1"/>
                </a:solidFill>
              </a:rPr>
              <a:t>PdfUploadButton</a:t>
            </a:r>
            <a:r>
              <a:rPr sz="1250" dirty="0">
                <a:solidFill>
                  <a:srgbClr val="CCD6F1"/>
                </a:solidFill>
              </a:rPr>
              <a:t> → </a:t>
            </a:r>
            <a:r>
              <a:rPr sz="1250" dirty="0" err="1">
                <a:solidFill>
                  <a:srgbClr val="CCD6F1"/>
                </a:solidFill>
              </a:rPr>
              <a:t>useSmartUpload</a:t>
            </a:r>
            <a:r>
              <a:rPr sz="1250" dirty="0">
                <a:solidFill>
                  <a:srgbClr val="CCD6F1"/>
                </a:solidFill>
              </a:rPr>
              <a:t> hook</a:t>
            </a:r>
          </a:p>
          <a:p>
            <a:pPr algn="l"/>
            <a:r>
              <a:rPr sz="1250" dirty="0">
                <a:solidFill>
                  <a:srgbClr val="CCD6F1"/>
                </a:solidFill>
              </a:rPr>
              <a:t>    • Phase 1: metadata extraction (page-1 preview)</a:t>
            </a:r>
          </a:p>
          <a:p>
            <a:pPr algn="l"/>
            <a:r>
              <a:rPr sz="1250" dirty="0">
                <a:solidFill>
                  <a:srgbClr val="CCD6F1"/>
                </a:solidFill>
              </a:rPr>
              <a:t>    • </a:t>
            </a:r>
            <a:r>
              <a:rPr sz="1250" dirty="0" err="1">
                <a:solidFill>
                  <a:srgbClr val="CCD6F1"/>
                </a:solidFill>
              </a:rPr>
              <a:t>InlineMetadataPrompt</a:t>
            </a:r>
            <a:r>
              <a:rPr sz="1250" dirty="0">
                <a:solidFill>
                  <a:srgbClr val="CCD6F1"/>
                </a:solidFill>
              </a:rPr>
              <a:t>: confirm </a:t>
            </a:r>
            <a:r>
              <a:rPr sz="1250" dirty="0" err="1">
                <a:solidFill>
                  <a:srgbClr val="CCD6F1"/>
                </a:solidFill>
              </a:rPr>
              <a:t>doc_type</a:t>
            </a:r>
            <a:r>
              <a:rPr sz="1250" dirty="0">
                <a:solidFill>
                  <a:srgbClr val="CCD6F1"/>
                </a:solidFill>
              </a:rPr>
              <a:t> / revision</a:t>
            </a:r>
          </a:p>
          <a:p>
            <a:pPr algn="l"/>
            <a:r>
              <a:rPr sz="1250" dirty="0">
                <a:solidFill>
                  <a:srgbClr val="CCD6F1"/>
                </a:solidFill>
              </a:rPr>
              <a:t>    • Phase 2: full commit ingestion via Celery worker</a:t>
            </a:r>
          </a:p>
          <a:p>
            <a:pPr algn="l"/>
            <a:r>
              <a:rPr sz="1250" dirty="0">
                <a:solidFill>
                  <a:srgbClr val="CCD6F1"/>
                </a:solidFill>
              </a:rPr>
              <a:t>    • </a:t>
            </a:r>
            <a:r>
              <a:rPr sz="1250" dirty="0" err="1">
                <a:solidFill>
                  <a:srgbClr val="CCD6F1"/>
                </a:solidFill>
              </a:rPr>
              <a:t>UploadProgress</a:t>
            </a:r>
            <a:r>
              <a:rPr sz="1250" dirty="0">
                <a:solidFill>
                  <a:srgbClr val="CCD6F1"/>
                </a:solidFill>
              </a:rPr>
              <a:t> + </a:t>
            </a:r>
            <a:r>
              <a:rPr sz="1250" dirty="0" err="1">
                <a:solidFill>
                  <a:srgbClr val="CCD6F1"/>
                </a:solidFill>
              </a:rPr>
              <a:t>ChunkingProgress</a:t>
            </a:r>
            <a:r>
              <a:rPr sz="1250" dirty="0">
                <a:solidFill>
                  <a:srgbClr val="CCD6F1"/>
                </a:solidFill>
              </a:rPr>
              <a:t> bar (live SSE)</a:t>
            </a:r>
          </a:p>
          <a:p>
            <a:pPr algn="l"/>
            <a:r>
              <a:rPr sz="1250" dirty="0">
                <a:solidFill>
                  <a:srgbClr val="CCD6F1"/>
                </a:solidFill>
              </a:rPr>
              <a:t>    • Cancel support at each phase via </a:t>
            </a:r>
            <a:r>
              <a:rPr sz="1250" dirty="0" err="1">
                <a:solidFill>
                  <a:srgbClr val="CCD6F1"/>
                </a:solidFill>
              </a:rPr>
              <a:t>job_id</a:t>
            </a:r>
            <a:r>
              <a:rPr sz="1250" dirty="0">
                <a:solidFill>
                  <a:srgbClr val="CCD6F1"/>
                </a:solidFill>
              </a:rPr>
              <a:t> / </a:t>
            </a:r>
            <a:r>
              <a:rPr sz="1250" dirty="0" err="1">
                <a:solidFill>
                  <a:srgbClr val="CCD6F1"/>
                </a:solidFill>
              </a:rPr>
              <a:t>session_id</a:t>
            </a:r>
            <a:endParaRPr sz="1250" dirty="0">
              <a:solidFill>
                <a:srgbClr val="CCD6F1"/>
              </a:solidFill>
            </a:endParaRPr>
          </a:p>
          <a:p>
            <a:pPr algn="l"/>
            <a:r>
              <a:rPr sz="1250" dirty="0">
                <a:solidFill>
                  <a:srgbClr val="CCD6F1"/>
                </a:solidFill>
              </a:rPr>
              <a:t>    • Background ingestion status </a:t>
            </a:r>
            <a:r>
              <a:rPr sz="1250" dirty="0" err="1">
                <a:solidFill>
                  <a:srgbClr val="CCD6F1"/>
                </a:solidFill>
              </a:rPr>
              <a:t>poller</a:t>
            </a:r>
            <a:r>
              <a:rPr sz="1250" dirty="0">
                <a:solidFill>
                  <a:srgbClr val="CCD6F1"/>
                </a:solidFill>
              </a:rPr>
              <a:t> (</a:t>
            </a:r>
            <a:r>
              <a:rPr sz="1250" dirty="0" err="1">
                <a:solidFill>
                  <a:srgbClr val="CCD6F1"/>
                </a:solidFill>
              </a:rPr>
              <a:t>useIngestionStatusPoller</a:t>
            </a:r>
            <a:r>
              <a:rPr sz="1250" dirty="0">
                <a:solidFill>
                  <a:srgbClr val="CCD6F1"/>
                </a:solidFill>
              </a:rPr>
              <a:t>)</a:t>
            </a:r>
          </a:p>
        </p:txBody>
      </p:sp>
      <p:sp>
        <p:nvSpPr>
          <p:cNvPr id="7" name="TextBox 6"/>
          <p:cNvSpPr txBox="1"/>
          <p:nvPr/>
        </p:nvSpPr>
        <p:spPr>
          <a:xfrm>
            <a:off x="5943600" y="1143000"/>
            <a:ext cx="5943600" cy="3170099"/>
          </a:xfrm>
          <a:prstGeom prst="rect">
            <a:avLst/>
          </a:prstGeom>
          <a:noFill/>
        </p:spPr>
        <p:txBody>
          <a:bodyPr wrap="square">
            <a:spAutoFit/>
          </a:bodyPr>
          <a:lstStyle/>
          <a:p>
            <a:pPr algn="l"/>
            <a:r>
              <a:rPr sz="1250" dirty="0">
                <a:solidFill>
                  <a:srgbClr val="CCD6F1"/>
                </a:solidFill>
              </a:rPr>
              <a:t>  DOCUMENT CONTEXT PANEL:</a:t>
            </a:r>
          </a:p>
          <a:p>
            <a:pPr algn="l"/>
            <a:r>
              <a:rPr sz="1250" dirty="0">
                <a:solidFill>
                  <a:srgbClr val="CCD6F1"/>
                </a:solidFill>
              </a:rPr>
              <a:t>    • </a:t>
            </a:r>
            <a:r>
              <a:rPr sz="1250" dirty="0" err="1">
                <a:solidFill>
                  <a:srgbClr val="CCD6F1"/>
                </a:solidFill>
              </a:rPr>
              <a:t>PdfContextBanner</a:t>
            </a:r>
            <a:r>
              <a:rPr sz="1250" dirty="0">
                <a:solidFill>
                  <a:srgbClr val="CCD6F1"/>
                </a:solidFill>
              </a:rPr>
              <a:t> shows active doc + revision</a:t>
            </a:r>
          </a:p>
          <a:p>
            <a:pPr algn="l"/>
            <a:r>
              <a:rPr sz="1250" dirty="0">
                <a:solidFill>
                  <a:srgbClr val="CCD6F1"/>
                </a:solidFill>
              </a:rPr>
              <a:t>    • Workspace Overview Dashboard (</a:t>
            </a:r>
            <a:r>
              <a:rPr sz="1250" dirty="0" err="1">
                <a:solidFill>
                  <a:srgbClr val="CCD6F1"/>
                </a:solidFill>
              </a:rPr>
              <a:t>WorkspaceOverviewDashboard.tsx</a:t>
            </a:r>
            <a:r>
              <a:rPr sz="1250" dirty="0">
                <a:solidFill>
                  <a:srgbClr val="CCD6F1"/>
                </a:solidFill>
              </a:rPr>
              <a:t>):</a:t>
            </a:r>
          </a:p>
          <a:p>
            <a:pPr algn="l"/>
            <a:r>
              <a:rPr sz="1250" dirty="0">
                <a:solidFill>
                  <a:srgbClr val="CCD6F1"/>
                </a:solidFill>
              </a:rPr>
              <a:t>       – Document table with revision, chunk count, status</a:t>
            </a:r>
          </a:p>
          <a:p>
            <a:pPr algn="l"/>
            <a:r>
              <a:rPr sz="1250" dirty="0">
                <a:solidFill>
                  <a:srgbClr val="CCD6F1"/>
                </a:solidFill>
              </a:rPr>
              <a:t>       – Indexed document list derived from chat sources</a:t>
            </a:r>
          </a:p>
          <a:p>
            <a:pPr algn="l"/>
            <a:r>
              <a:rPr sz="1250" dirty="0">
                <a:solidFill>
                  <a:srgbClr val="CCD6F1"/>
                </a:solidFill>
              </a:rPr>
              <a:t>    • </a:t>
            </a:r>
            <a:r>
              <a:rPr sz="1250" dirty="0" err="1">
                <a:solidFill>
                  <a:srgbClr val="CCD6F1"/>
                </a:solidFill>
              </a:rPr>
              <a:t>WorkspaceProjectTree</a:t>
            </a:r>
            <a:r>
              <a:rPr sz="1250" dirty="0">
                <a:solidFill>
                  <a:srgbClr val="CCD6F1"/>
                </a:solidFill>
              </a:rPr>
              <a:t> – hierarchical project / doc view</a:t>
            </a:r>
          </a:p>
          <a:p>
            <a:pPr algn="l"/>
            <a:r>
              <a:rPr sz="1250" dirty="0">
                <a:solidFill>
                  <a:srgbClr val="CCD6F1"/>
                </a:solidFill>
              </a:rPr>
              <a:t>  </a:t>
            </a:r>
          </a:p>
          <a:p>
            <a:pPr algn="l"/>
            <a:r>
              <a:rPr sz="1250" dirty="0">
                <a:solidFill>
                  <a:srgbClr val="CCD6F1"/>
                </a:solidFill>
              </a:rPr>
              <a:t> DEV SETTINGS (</a:t>
            </a:r>
            <a:r>
              <a:rPr sz="1250" dirty="0" err="1">
                <a:solidFill>
                  <a:srgbClr val="CCD6F1"/>
                </a:solidFill>
              </a:rPr>
              <a:t>devtools</a:t>
            </a:r>
            <a:r>
              <a:rPr sz="1250" dirty="0">
                <a:solidFill>
                  <a:srgbClr val="CCD6F1"/>
                </a:solidFill>
              </a:rPr>
              <a:t>/settings API):</a:t>
            </a:r>
          </a:p>
          <a:p>
            <a:pPr algn="l"/>
            <a:r>
              <a:rPr sz="1250" dirty="0">
                <a:solidFill>
                  <a:srgbClr val="CCD6F1"/>
                </a:solidFill>
              </a:rPr>
              <a:t>    • </a:t>
            </a:r>
            <a:r>
              <a:rPr sz="1250" dirty="0" err="1">
                <a:solidFill>
                  <a:srgbClr val="CCD6F1"/>
                </a:solidFill>
              </a:rPr>
              <a:t>enable_agent_pipeline</a:t>
            </a:r>
            <a:r>
              <a:rPr sz="1250" dirty="0">
                <a:solidFill>
                  <a:srgbClr val="CCD6F1"/>
                </a:solidFill>
              </a:rPr>
              <a:t> toggle</a:t>
            </a:r>
          </a:p>
          <a:p>
            <a:pPr algn="l"/>
            <a:r>
              <a:rPr sz="1250" dirty="0">
                <a:solidFill>
                  <a:srgbClr val="CCD6F1"/>
                </a:solidFill>
              </a:rPr>
              <a:t>    • </a:t>
            </a:r>
            <a:r>
              <a:rPr sz="1250" dirty="0" err="1">
                <a:solidFill>
                  <a:srgbClr val="CCD6F1"/>
                </a:solidFill>
              </a:rPr>
              <a:t>enable_eval_gate</a:t>
            </a:r>
            <a:r>
              <a:rPr sz="1250" dirty="0">
                <a:solidFill>
                  <a:srgbClr val="CCD6F1"/>
                </a:solidFill>
              </a:rPr>
              <a:t> toggle</a:t>
            </a:r>
          </a:p>
          <a:p>
            <a:pPr algn="l"/>
            <a:r>
              <a:rPr sz="1250" dirty="0">
                <a:solidFill>
                  <a:srgbClr val="CCD6F1"/>
                </a:solidFill>
              </a:rPr>
              <a:t>    • RAG preprocessor override</a:t>
            </a:r>
          </a:p>
          <a:p>
            <a:pPr algn="l"/>
            <a:r>
              <a:rPr sz="1250" dirty="0">
                <a:solidFill>
                  <a:srgbClr val="CCD6F1"/>
                </a:solidFill>
              </a:rPr>
              <a:t>    • RAG ingest mode override (fast / balanced / </a:t>
            </a:r>
            <a:r>
              <a:rPr sz="1250" dirty="0" err="1">
                <a:solidFill>
                  <a:srgbClr val="CCD6F1"/>
                </a:solidFill>
              </a:rPr>
              <a:t>high_fidelity</a:t>
            </a:r>
            <a:r>
              <a:rPr sz="1250" dirty="0">
                <a:solidFill>
                  <a:srgbClr val="CCD6F1"/>
                </a:solidFill>
              </a:rPr>
              <a:t>)</a:t>
            </a:r>
          </a:p>
          <a:p>
            <a:pPr algn="l"/>
            <a:r>
              <a:rPr sz="1250" dirty="0">
                <a:solidFill>
                  <a:srgbClr val="CCD6F1"/>
                </a:solidFill>
              </a:rPr>
              <a:t>    • </a:t>
            </a:r>
            <a:r>
              <a:rPr sz="1250" dirty="0" err="1">
                <a:solidFill>
                  <a:srgbClr val="CCD6F1"/>
                </a:solidFill>
              </a:rPr>
              <a:t>enable_fast_document_processing</a:t>
            </a:r>
            <a:r>
              <a:rPr sz="1250" dirty="0">
                <a:solidFill>
                  <a:srgbClr val="CCD6F1"/>
                </a:solidFill>
              </a:rPr>
              <a:t> shortcut</a:t>
            </a:r>
          </a:p>
          <a:p>
            <a:pPr algn="l"/>
            <a:r>
              <a:rPr sz="1250" dirty="0">
                <a:solidFill>
                  <a:srgbClr val="CCD6F1"/>
                </a:solidFill>
              </a:rPr>
              <a:t>    • </a:t>
            </a:r>
            <a:r>
              <a:rPr sz="1250" dirty="0" err="1">
                <a:solidFill>
                  <a:srgbClr val="CCD6F1"/>
                </a:solidFill>
              </a:rPr>
              <a:t>rag_collection_name</a:t>
            </a:r>
            <a:r>
              <a:rPr sz="1250" dirty="0">
                <a:solidFill>
                  <a:srgbClr val="CCD6F1"/>
                </a:solidFill>
              </a:rPr>
              <a:t> override</a:t>
            </a:r>
          </a:p>
          <a:p>
            <a:pPr algn="l"/>
            <a:r>
              <a:rPr sz="1250" dirty="0">
                <a:solidFill>
                  <a:srgbClr val="CCD6F1"/>
                </a:solidFill>
              </a:rPr>
              <a:t>  </a:t>
            </a:r>
          </a:p>
          <a:p>
            <a:pPr algn="l"/>
            <a:r>
              <a:rPr sz="1250" dirty="0">
                <a:solidFill>
                  <a:srgbClr val="CCD6F1"/>
                </a:solidFill>
              </a:rPr>
              <a:t>   NOTIFICATIONS &amp; HISTORY SIDE PANELS</a:t>
            </a:r>
          </a:p>
        </p:txBody>
      </p:sp>
      <p:pic>
        <p:nvPicPr>
          <p:cNvPr id="8" name="Picture 7">
            <a:extLst>
              <a:ext uri="{FF2B5EF4-FFF2-40B4-BE49-F238E27FC236}">
                <a16:creationId xmlns:a16="http://schemas.microsoft.com/office/drawing/2014/main" id="{E8D64FDE-9A43-6168-39D6-FFBFD154758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 Dashboard, PML Editor &amp; Team Workspace</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Three workspace modes: AI Chat | PML Template Editor | Enterprise Team Messaging</a:t>
            </a:r>
          </a:p>
        </p:txBody>
      </p:sp>
      <p:sp>
        <p:nvSpPr>
          <p:cNvPr id="6" name="Rectangle 5"/>
          <p:cNvSpPr/>
          <p:nvPr/>
        </p:nvSpPr>
        <p:spPr>
          <a:xfrm>
            <a:off x="256032"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3749039"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3566160" cy="323165"/>
          </a:xfrm>
          <a:prstGeom prst="rect">
            <a:avLst/>
          </a:prstGeom>
          <a:noFill/>
        </p:spPr>
        <p:txBody>
          <a:bodyPr wrap="square">
            <a:spAutoFit/>
          </a:bodyPr>
          <a:lstStyle/>
          <a:p>
            <a:pPr algn="l"/>
            <a:r>
              <a:rPr sz="1500" b="1" dirty="0">
                <a:solidFill>
                  <a:srgbClr val="5B8DFF"/>
                </a:solidFill>
              </a:rPr>
              <a:t>  AI Mode</a:t>
            </a:r>
          </a:p>
        </p:txBody>
      </p:sp>
      <p:sp>
        <p:nvSpPr>
          <p:cNvPr id="9" name="TextBox 8"/>
          <p:cNvSpPr txBox="1"/>
          <p:nvPr/>
        </p:nvSpPr>
        <p:spPr>
          <a:xfrm>
            <a:off x="365760" y="1764792"/>
            <a:ext cx="3529584" cy="594360"/>
          </a:xfrm>
          <a:prstGeom prst="rect">
            <a:avLst/>
          </a:prstGeom>
          <a:noFill/>
        </p:spPr>
        <p:txBody>
          <a:bodyPr wrap="square">
            <a:spAutoFit/>
          </a:bodyPr>
          <a:lstStyle/>
          <a:p>
            <a:pPr algn="l"/>
            <a:r>
              <a:rPr sz="1200" b="0">
                <a:solidFill>
                  <a:srgbClr val="CCD6F1"/>
                </a:solidFill>
              </a:rPr>
              <a:t>• Primary document Q&amp;A workspace</a:t>
            </a:r>
          </a:p>
        </p:txBody>
      </p:sp>
      <p:sp>
        <p:nvSpPr>
          <p:cNvPr id="10" name="TextBox 9"/>
          <p:cNvSpPr txBox="1"/>
          <p:nvPr/>
        </p:nvSpPr>
        <p:spPr>
          <a:xfrm>
            <a:off x="365760" y="2459736"/>
            <a:ext cx="3529584" cy="594360"/>
          </a:xfrm>
          <a:prstGeom prst="rect">
            <a:avLst/>
          </a:prstGeom>
          <a:noFill/>
        </p:spPr>
        <p:txBody>
          <a:bodyPr wrap="square">
            <a:spAutoFit/>
          </a:bodyPr>
          <a:lstStyle/>
          <a:p>
            <a:pPr algn="l"/>
            <a:r>
              <a:rPr sz="1200" b="0">
                <a:solidFill>
                  <a:srgbClr val="CCD6F1"/>
                </a:solidFill>
              </a:rPr>
              <a:t>• Sidebar + ChatWindow layout</a:t>
            </a:r>
          </a:p>
        </p:txBody>
      </p:sp>
      <p:sp>
        <p:nvSpPr>
          <p:cNvPr id="11" name="TextBox 10"/>
          <p:cNvSpPr txBox="1"/>
          <p:nvPr/>
        </p:nvSpPr>
        <p:spPr>
          <a:xfrm>
            <a:off x="365760" y="3154680"/>
            <a:ext cx="3529584" cy="594360"/>
          </a:xfrm>
          <a:prstGeom prst="rect">
            <a:avLst/>
          </a:prstGeom>
          <a:noFill/>
        </p:spPr>
        <p:txBody>
          <a:bodyPr wrap="square">
            <a:spAutoFit/>
          </a:bodyPr>
          <a:lstStyle/>
          <a:p>
            <a:pPr algn="l"/>
            <a:r>
              <a:rPr sz="1200" b="0">
                <a:solidFill>
                  <a:srgbClr val="CCD6F1"/>
                </a:solidFill>
              </a:rPr>
              <a:t>• Supports multiple parallel chat sessions</a:t>
            </a:r>
          </a:p>
        </p:txBody>
      </p:sp>
      <p:sp>
        <p:nvSpPr>
          <p:cNvPr id="12" name="TextBox 11"/>
          <p:cNvSpPr txBox="1"/>
          <p:nvPr/>
        </p:nvSpPr>
        <p:spPr>
          <a:xfrm>
            <a:off x="365760" y="3849624"/>
            <a:ext cx="3529584" cy="594360"/>
          </a:xfrm>
          <a:prstGeom prst="rect">
            <a:avLst/>
          </a:prstGeom>
          <a:noFill/>
        </p:spPr>
        <p:txBody>
          <a:bodyPr wrap="square">
            <a:spAutoFit/>
          </a:bodyPr>
          <a:lstStyle/>
          <a:p>
            <a:pPr algn="l"/>
            <a:r>
              <a:rPr sz="1200" b="0">
                <a:solidFill>
                  <a:srgbClr val="CCD6F1"/>
                </a:solidFill>
              </a:rPr>
              <a:t>• Upload → ingest → query inline workflow</a:t>
            </a:r>
          </a:p>
        </p:txBody>
      </p:sp>
      <p:sp>
        <p:nvSpPr>
          <p:cNvPr id="13" name="TextBox 12"/>
          <p:cNvSpPr txBox="1"/>
          <p:nvPr/>
        </p:nvSpPr>
        <p:spPr>
          <a:xfrm>
            <a:off x="365760" y="4544568"/>
            <a:ext cx="3529584" cy="594360"/>
          </a:xfrm>
          <a:prstGeom prst="rect">
            <a:avLst/>
          </a:prstGeom>
          <a:noFill/>
        </p:spPr>
        <p:txBody>
          <a:bodyPr wrap="square">
            <a:spAutoFit/>
          </a:bodyPr>
          <a:lstStyle/>
          <a:p>
            <a:pPr algn="l"/>
            <a:r>
              <a:rPr sz="1200" b="0">
                <a:solidFill>
                  <a:srgbClr val="CCD6F1"/>
                </a:solidFill>
              </a:rPr>
              <a:t>• Citation + source viewer integration</a:t>
            </a:r>
          </a:p>
        </p:txBody>
      </p:sp>
      <p:sp>
        <p:nvSpPr>
          <p:cNvPr id="14" name="Rectangle 13"/>
          <p:cNvSpPr/>
          <p:nvPr/>
        </p:nvSpPr>
        <p:spPr>
          <a:xfrm>
            <a:off x="4206240"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143000"/>
            <a:ext cx="3749039"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0" y="1234440"/>
            <a:ext cx="3566160" cy="323165"/>
          </a:xfrm>
          <a:prstGeom prst="rect">
            <a:avLst/>
          </a:prstGeom>
          <a:noFill/>
        </p:spPr>
        <p:txBody>
          <a:bodyPr wrap="square">
            <a:spAutoFit/>
          </a:bodyPr>
          <a:lstStyle/>
          <a:p>
            <a:pPr algn="l"/>
            <a:r>
              <a:rPr sz="1500" b="1" dirty="0">
                <a:solidFill>
                  <a:srgbClr val="7C3AED"/>
                </a:solidFill>
              </a:rPr>
              <a:t>  PML Mode</a:t>
            </a:r>
          </a:p>
        </p:txBody>
      </p:sp>
      <p:sp>
        <p:nvSpPr>
          <p:cNvPr id="17" name="TextBox 16"/>
          <p:cNvSpPr txBox="1"/>
          <p:nvPr/>
        </p:nvSpPr>
        <p:spPr>
          <a:xfrm>
            <a:off x="4315968" y="1764792"/>
            <a:ext cx="3529584" cy="594360"/>
          </a:xfrm>
          <a:prstGeom prst="rect">
            <a:avLst/>
          </a:prstGeom>
          <a:noFill/>
        </p:spPr>
        <p:txBody>
          <a:bodyPr wrap="square">
            <a:spAutoFit/>
          </a:bodyPr>
          <a:lstStyle/>
          <a:p>
            <a:pPr algn="l"/>
            <a:r>
              <a:rPr sz="1200" b="0">
                <a:solidFill>
                  <a:srgbClr val="CCD6F1"/>
                </a:solidFill>
              </a:rPr>
              <a:t>• Process Markup Language template editor</a:t>
            </a:r>
          </a:p>
        </p:txBody>
      </p:sp>
      <p:sp>
        <p:nvSpPr>
          <p:cNvPr id="18" name="TextBox 17"/>
          <p:cNvSpPr txBox="1"/>
          <p:nvPr/>
        </p:nvSpPr>
        <p:spPr>
          <a:xfrm>
            <a:off x="4315968" y="2459736"/>
            <a:ext cx="3529584" cy="594360"/>
          </a:xfrm>
          <a:prstGeom prst="rect">
            <a:avLst/>
          </a:prstGeom>
          <a:noFill/>
        </p:spPr>
        <p:txBody>
          <a:bodyPr wrap="square">
            <a:spAutoFit/>
          </a:bodyPr>
          <a:lstStyle/>
          <a:p>
            <a:pPr algn="l"/>
            <a:r>
              <a:rPr sz="1200" b="0">
                <a:solidFill>
                  <a:srgbClr val="CCD6F1"/>
                </a:solidFill>
              </a:rPr>
              <a:t>• TemplateLibraryPanel – saved templates</a:t>
            </a:r>
          </a:p>
        </p:txBody>
      </p:sp>
      <p:sp>
        <p:nvSpPr>
          <p:cNvPr id="19" name="TextBox 18"/>
          <p:cNvSpPr txBox="1"/>
          <p:nvPr/>
        </p:nvSpPr>
        <p:spPr>
          <a:xfrm>
            <a:off x="4315968" y="3154680"/>
            <a:ext cx="3529584" cy="594360"/>
          </a:xfrm>
          <a:prstGeom prst="rect">
            <a:avLst/>
          </a:prstGeom>
          <a:noFill/>
        </p:spPr>
        <p:txBody>
          <a:bodyPr wrap="square">
            <a:spAutoFit/>
          </a:bodyPr>
          <a:lstStyle/>
          <a:p>
            <a:pPr algn="l"/>
            <a:r>
              <a:rPr sz="1200" b="0">
                <a:solidFill>
                  <a:srgbClr val="CCD6F1"/>
                </a:solidFill>
              </a:rPr>
              <a:t>• Editor + Output tab layout</a:t>
            </a:r>
          </a:p>
        </p:txBody>
      </p:sp>
      <p:sp>
        <p:nvSpPr>
          <p:cNvPr id="20" name="TextBox 19"/>
          <p:cNvSpPr txBox="1"/>
          <p:nvPr/>
        </p:nvSpPr>
        <p:spPr>
          <a:xfrm>
            <a:off x="4315968" y="3849624"/>
            <a:ext cx="3529584" cy="594360"/>
          </a:xfrm>
          <a:prstGeom prst="rect">
            <a:avLst/>
          </a:prstGeom>
          <a:noFill/>
        </p:spPr>
        <p:txBody>
          <a:bodyPr wrap="square">
            <a:spAutoFit/>
          </a:bodyPr>
          <a:lstStyle/>
          <a:p>
            <a:pPr algn="l"/>
            <a:r>
              <a:rPr sz="1200" b="0">
                <a:solidFill>
                  <a:srgbClr val="CCD6F1"/>
                </a:solidFill>
              </a:rPr>
              <a:t>• Learn template from example via API</a:t>
            </a:r>
          </a:p>
        </p:txBody>
      </p:sp>
      <p:sp>
        <p:nvSpPr>
          <p:cNvPr id="21" name="TextBox 20"/>
          <p:cNvSpPr txBox="1"/>
          <p:nvPr/>
        </p:nvSpPr>
        <p:spPr>
          <a:xfrm>
            <a:off x="4315968" y="4544568"/>
            <a:ext cx="3529584" cy="594360"/>
          </a:xfrm>
          <a:prstGeom prst="rect">
            <a:avLst/>
          </a:prstGeom>
          <a:noFill/>
        </p:spPr>
        <p:txBody>
          <a:bodyPr wrap="square">
            <a:spAutoFit/>
          </a:bodyPr>
          <a:lstStyle/>
          <a:p>
            <a:pPr algn="l"/>
            <a:r>
              <a:rPr sz="1200" b="0">
                <a:solidFill>
                  <a:srgbClr val="CCD6F1"/>
                </a:solidFill>
              </a:rPr>
              <a:t>• PML chat backed by base/net model</a:t>
            </a:r>
          </a:p>
        </p:txBody>
      </p:sp>
      <p:sp>
        <p:nvSpPr>
          <p:cNvPr id="22" name="Rectangle 21"/>
          <p:cNvSpPr/>
          <p:nvPr/>
        </p:nvSpPr>
        <p:spPr>
          <a:xfrm>
            <a:off x="8156448" y="1143000"/>
            <a:ext cx="3749039"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56448" y="1143000"/>
            <a:ext cx="3749039"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47888" y="1234440"/>
            <a:ext cx="3566160" cy="323165"/>
          </a:xfrm>
          <a:prstGeom prst="rect">
            <a:avLst/>
          </a:prstGeom>
          <a:noFill/>
        </p:spPr>
        <p:txBody>
          <a:bodyPr wrap="square">
            <a:spAutoFit/>
          </a:bodyPr>
          <a:lstStyle/>
          <a:p>
            <a:pPr algn="l"/>
            <a:r>
              <a:rPr sz="1500" b="1" dirty="0">
                <a:solidFill>
                  <a:srgbClr val="4ADE80"/>
                </a:solidFill>
              </a:rPr>
              <a:t>Team Mode</a:t>
            </a:r>
          </a:p>
        </p:txBody>
      </p:sp>
      <p:sp>
        <p:nvSpPr>
          <p:cNvPr id="25" name="TextBox 24"/>
          <p:cNvSpPr txBox="1"/>
          <p:nvPr/>
        </p:nvSpPr>
        <p:spPr>
          <a:xfrm>
            <a:off x="8266176" y="1764792"/>
            <a:ext cx="3529584" cy="594360"/>
          </a:xfrm>
          <a:prstGeom prst="rect">
            <a:avLst/>
          </a:prstGeom>
          <a:noFill/>
        </p:spPr>
        <p:txBody>
          <a:bodyPr wrap="square">
            <a:spAutoFit/>
          </a:bodyPr>
          <a:lstStyle/>
          <a:p>
            <a:pPr algn="l"/>
            <a:r>
              <a:rPr sz="1200" b="0">
                <a:solidFill>
                  <a:srgbClr val="CCD6F1"/>
                </a:solidFill>
              </a:rPr>
              <a:t>• Enterprise messaging workspace</a:t>
            </a:r>
          </a:p>
        </p:txBody>
      </p:sp>
      <p:sp>
        <p:nvSpPr>
          <p:cNvPr id="26" name="TextBox 25"/>
          <p:cNvSpPr txBox="1"/>
          <p:nvPr/>
        </p:nvSpPr>
        <p:spPr>
          <a:xfrm>
            <a:off x="8266176" y="2459736"/>
            <a:ext cx="3529584" cy="594360"/>
          </a:xfrm>
          <a:prstGeom prst="rect">
            <a:avLst/>
          </a:prstGeom>
          <a:noFill/>
        </p:spPr>
        <p:txBody>
          <a:bodyPr wrap="square">
            <a:spAutoFit/>
          </a:bodyPr>
          <a:lstStyle/>
          <a:p>
            <a:pPr algn="l"/>
            <a:r>
              <a:rPr sz="1200" b="0">
                <a:solidFill>
                  <a:srgbClr val="CCD6F1"/>
                </a:solidFill>
              </a:rPr>
              <a:t>• Real-time WebSocket team conversations</a:t>
            </a:r>
          </a:p>
        </p:txBody>
      </p:sp>
      <p:sp>
        <p:nvSpPr>
          <p:cNvPr id="27" name="TextBox 26"/>
          <p:cNvSpPr txBox="1"/>
          <p:nvPr/>
        </p:nvSpPr>
        <p:spPr>
          <a:xfrm>
            <a:off x="8266176" y="3154680"/>
            <a:ext cx="3529584" cy="594360"/>
          </a:xfrm>
          <a:prstGeom prst="rect">
            <a:avLst/>
          </a:prstGeom>
          <a:noFill/>
        </p:spPr>
        <p:txBody>
          <a:bodyPr wrap="square">
            <a:spAutoFit/>
          </a:bodyPr>
          <a:lstStyle/>
          <a:p>
            <a:pPr algn="l"/>
            <a:r>
              <a:rPr sz="1200" b="0">
                <a:solidFill>
                  <a:srgbClr val="CCD6F1"/>
                </a:solidFill>
              </a:rPr>
              <a:t>• Project threads + assignee management</a:t>
            </a:r>
          </a:p>
        </p:txBody>
      </p:sp>
      <p:sp>
        <p:nvSpPr>
          <p:cNvPr id="28" name="TextBox 27"/>
          <p:cNvSpPr txBox="1"/>
          <p:nvPr/>
        </p:nvSpPr>
        <p:spPr>
          <a:xfrm>
            <a:off x="8266176" y="3849624"/>
            <a:ext cx="3529584" cy="594360"/>
          </a:xfrm>
          <a:prstGeom prst="rect">
            <a:avLst/>
          </a:prstGeom>
          <a:noFill/>
        </p:spPr>
        <p:txBody>
          <a:bodyPr wrap="square">
            <a:spAutoFit/>
          </a:bodyPr>
          <a:lstStyle/>
          <a:p>
            <a:pPr algn="l"/>
            <a:r>
              <a:rPr sz="1200" b="0">
                <a:solidFill>
                  <a:srgbClr val="CCD6F1"/>
                </a:solidFill>
              </a:rPr>
              <a:t>• Team notifications panel</a:t>
            </a:r>
          </a:p>
        </p:txBody>
      </p:sp>
      <p:sp>
        <p:nvSpPr>
          <p:cNvPr id="29" name="TextBox 28"/>
          <p:cNvSpPr txBox="1"/>
          <p:nvPr/>
        </p:nvSpPr>
        <p:spPr>
          <a:xfrm>
            <a:off x="8266176" y="4544568"/>
            <a:ext cx="3529584" cy="594360"/>
          </a:xfrm>
          <a:prstGeom prst="rect">
            <a:avLst/>
          </a:prstGeom>
          <a:noFill/>
        </p:spPr>
        <p:txBody>
          <a:bodyPr wrap="square">
            <a:spAutoFit/>
          </a:bodyPr>
          <a:lstStyle/>
          <a:p>
            <a:pPr algn="l"/>
            <a:r>
              <a:rPr sz="1200" b="0">
                <a:solidFill>
                  <a:srgbClr val="CCD6F1"/>
                </a:solidFill>
              </a:rPr>
              <a:t>• AI-assist seed from team context</a:t>
            </a:r>
          </a:p>
        </p:txBody>
      </p:sp>
      <p:sp>
        <p:nvSpPr>
          <p:cNvPr id="30" name="TextBox 29"/>
          <p:cNvSpPr txBox="1"/>
          <p:nvPr/>
        </p:nvSpPr>
        <p:spPr>
          <a:xfrm>
            <a:off x="8266176" y="5239512"/>
            <a:ext cx="3529584" cy="594360"/>
          </a:xfrm>
          <a:prstGeom prst="rect">
            <a:avLst/>
          </a:prstGeom>
          <a:noFill/>
        </p:spPr>
        <p:txBody>
          <a:bodyPr wrap="square">
            <a:spAutoFit/>
          </a:bodyPr>
          <a:lstStyle/>
          <a:p>
            <a:pPr algn="l"/>
            <a:r>
              <a:rPr sz="1200" b="0">
                <a:solidFill>
                  <a:srgbClr val="CCD6F1"/>
                </a:solidFill>
              </a:rPr>
              <a:t>• Unread badge count aggregation</a:t>
            </a:r>
          </a:p>
        </p:txBody>
      </p:sp>
      <p:pic>
        <p:nvPicPr>
          <p:cNvPr id="31" name="Picture 30">
            <a:extLst>
              <a:ext uri="{FF2B5EF4-FFF2-40B4-BE49-F238E27FC236}">
                <a16:creationId xmlns:a16="http://schemas.microsoft.com/office/drawing/2014/main" id="{7E5F6740-7FAA-453A-A141-92608A0AAF98}"/>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92842-7213-E0C1-18D2-BB2709FCB7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909E06-4F83-6E6F-A6C5-1643A9E4622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4299122-C832-6502-1B41-AF172C34D31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3F973AA-251A-CE9D-8C78-65BA468A5144}"/>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4C2B068-8935-8FBD-BE1B-4971F7ACFB1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9E5A92C6-AA8A-90FC-5BC2-F00E6449967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0549A2E-FD78-1DA9-1AB7-13CFA17C7C17}"/>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756C3E8-4D7A-68AE-A765-2058F0451C72}"/>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36E38A0-7D33-D209-E988-584A6ABF46B2}"/>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EDD1858B-12E8-5C34-B16B-377D06B2E46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1A5642A-07A6-EDC7-259E-C1F2C843254F}"/>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955A2D9-A3E0-3E30-E603-F75DFDB02392}"/>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0E11DC1-EC14-9846-11E7-BC834CE5E37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9CEFFE7-F85B-7FF7-6D46-7011782191B1}"/>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B7D0D26-6289-DC97-268E-995B3938264F}"/>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66712F31-5DCA-FE2C-48A9-ED96BA8B3C19}"/>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270EE725-FC0A-94CB-11E7-94AE038CDDE9}"/>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E03ED98-7A35-D374-3719-DA551A5B195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13799F61-6BCC-8FA2-408B-47F9980968ED}"/>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4C6FDB6-77AD-6DD1-309F-20769E160442}"/>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D2FE05AA-B6B3-8114-E503-7AAF2A25037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11DADC1-7519-CFEC-2988-5652E4558D3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76EE4D08-9C4E-9CD4-0572-9D3CB3E3F1D4}"/>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F17C6521-EDBF-529E-B337-E38F6804463E}"/>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72CCE35-D843-5AFA-0C27-DFEB44F468D1}"/>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B096C5F-4DF8-8E0B-14F4-2621CF086CFC}"/>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FBA36DB-5D89-33E3-FBC6-74798D1D37C9}"/>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DC885BE5-89AE-5DA3-02BB-FDCAB98B65B7}"/>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F7ACFAF9-E466-5845-BA9A-9871DC0B4020}"/>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5F33C65-5F63-479B-A6B2-D7BF1F7AE1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551942001"/>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73B7CFB-CA93-1B26-4217-449E5B127679}"/>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C96EAFF3-D119-BE63-7D1F-13CA88188B25}"/>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33" name="Picture 32">
            <a:extLst>
              <a:ext uri="{FF2B5EF4-FFF2-40B4-BE49-F238E27FC236}">
                <a16:creationId xmlns:a16="http://schemas.microsoft.com/office/drawing/2014/main" id="{66D97033-2B5A-02BF-1125-5975D6F6D5ED}"/>
              </a:ext>
            </a:extLst>
          </p:cNvPr>
          <p:cNvPicPr>
            <a:picLocks noChangeAspect="1"/>
          </p:cNvPicPr>
          <p:nvPr/>
        </p:nvPicPr>
        <p:blipFill>
          <a:blip r:embed="rId5"/>
          <a:stretch>
            <a:fillRect/>
          </a:stretch>
        </p:blipFill>
        <p:spPr>
          <a:xfrm>
            <a:off x="4133087" y="1178468"/>
            <a:ext cx="3820306" cy="2460844"/>
          </a:xfrm>
          <a:prstGeom prst="rect">
            <a:avLst/>
          </a:prstGeom>
        </p:spPr>
      </p:pic>
      <p:pic>
        <p:nvPicPr>
          <p:cNvPr id="35" name="Picture 34">
            <a:extLst>
              <a:ext uri="{FF2B5EF4-FFF2-40B4-BE49-F238E27FC236}">
                <a16:creationId xmlns:a16="http://schemas.microsoft.com/office/drawing/2014/main" id="{EF239779-DBC8-4309-BF38-5A1B85594B0D}"/>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76BA154C-895D-F8E2-D819-07638B076C51}"/>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29" name="Picture 28">
            <a:extLst>
              <a:ext uri="{FF2B5EF4-FFF2-40B4-BE49-F238E27FC236}">
                <a16:creationId xmlns:a16="http://schemas.microsoft.com/office/drawing/2014/main" id="{90B7CFFC-3426-051F-9252-14D0BF86BC37}"/>
              </a:ext>
            </a:extLst>
          </p:cNvPr>
          <p:cNvPicPr>
            <a:picLocks noChangeAspect="1"/>
          </p:cNvPicPr>
          <p:nvPr/>
        </p:nvPicPr>
        <p:blipFill>
          <a:blip r:embed="rId8"/>
          <a:srcRect t="6484"/>
          <a:stretch>
            <a:fillRect/>
          </a:stretch>
        </p:blipFill>
        <p:spPr>
          <a:xfrm>
            <a:off x="91313" y="1014984"/>
            <a:ext cx="12097639" cy="5733288"/>
          </a:xfrm>
          <a:prstGeom prst="rect">
            <a:avLst/>
          </a:prstGeom>
        </p:spPr>
      </p:pic>
      <p:pic>
        <p:nvPicPr>
          <p:cNvPr id="38" name="Picture 37">
            <a:extLst>
              <a:ext uri="{FF2B5EF4-FFF2-40B4-BE49-F238E27FC236}">
                <a16:creationId xmlns:a16="http://schemas.microsoft.com/office/drawing/2014/main" id="{81849589-DC69-D0CB-A98D-C4D0D98DCECC}"/>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8577-D197-523E-6424-10398E123F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0E3F715-B1B8-5881-67F0-2EB0B75726D7}"/>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42C385F-DE99-A3CD-C04E-949EDA1A066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83329D2-8D54-AA5A-499D-34F04E76D4A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28F65C0-5BAB-133D-8F2E-D397D948C2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7A7B55B-2610-B1F0-C46A-872E92B6255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0ECC27D5-1641-A1E5-9421-99AF5D59395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B21B6A8-B5B1-BCA0-037B-0A5D358EA85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87F519F0-231A-E517-7225-276215A8F58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E1004E5-B169-28BD-2AD0-A450B866B6C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D505D77-C8DC-C90F-2C14-C741AA37927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48B07D4-82FB-44A4-BB34-78E65CBF695D}"/>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C33F72-1F1C-8DB6-9E62-75CFFF3B2BE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D948816-832F-12EA-460C-2FBF6E0CB158}"/>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334C23F6-5E0A-E93E-A6CC-8B106151301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CE66B82-D1E3-004B-5A1F-5090A0B56B90}"/>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663A8AF-9692-AD3B-5A4F-951EC3B5EC76}"/>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676354C1-1DF5-980C-B0EE-0BBB381111CB}"/>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AD851154-22FD-7B72-C22B-072A7F0551C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7DD00E-1AB6-2E24-FF86-251C11471F1F}"/>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36C4CE82-50BD-33B4-59AE-AE5194A3437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7366FD22-7591-E198-8EB8-2417D26AF155}"/>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FC4C6B9-DD9A-1F97-0C30-588458547D7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4C2842BA-23C3-67BD-BE06-4A51E94B498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F9B2C1B9-7FC6-CE0D-CCDA-CC5E949F1A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E2E3DEE1-0046-D7B7-40A3-F2B80AF5DF2D}"/>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70A8ADF-6B1E-62BB-388C-F5B6EAAA0B8F}"/>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56773D4-58D9-84C4-B9C6-E67B4906842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018E038-3D3D-F3E9-005B-CFC749B1E464}"/>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97F02F56-11DC-EFFC-AD78-8B8E7130740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459084795"/>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20B48-C06E-0A20-D317-AF82490073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75B853-C205-B337-1598-667EA4EFC48C}"/>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BD5F65-91E1-D674-5E67-3C3D8CB023D7}"/>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83BDC33-6FE6-C0AE-52D8-F718359D1998}"/>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099889FF-B42B-C942-5F94-3A4AA598C141}"/>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4628D2A-1E2B-28F2-B852-835A01C7E99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81D7C91-096F-72D4-A9ED-4327AECFC582}"/>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5C5082F-CC87-9571-2416-B11A17F2459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6A1BF-CBD9-6A0D-F9AE-64096AF53645}"/>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11EB354-7182-2A23-98E6-DD7AA551F33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8006C18-16BE-9A41-44C6-8F585D187F7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9F66869-FFF5-1C75-784B-1C77BE72E18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41B757C1-1773-A940-DC17-CD523D1B9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B57F633-F2E3-2DFC-97A5-DAA8A4B090CF}"/>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2DD7C7-C39E-3B3F-E2F5-0790E37DA61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131E6694-26A0-9EED-9192-906C471283A2}"/>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B81F4DE-B073-0597-405C-3D99C7AD5E9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A5905120-5BBB-04F5-DCBC-B8DDFECD606D}"/>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4DBE796-A9F6-E028-0DD8-46746B6C420C}"/>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A6E8B3F-FFFE-74E1-30A9-613EEF6F21E3}"/>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4EEBE9F-BBD5-0596-6691-C7A934D1689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E92E9F1-8801-B0EE-77ED-684B085D1AB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510C248C-A728-925A-16C1-EAA089B92B53}"/>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33A7744A-3DC4-CDA7-CB4D-5F037A227533}"/>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43F17B89-80A9-D37E-77A6-70B701CAE4C3}"/>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BA7E70EA-1FFB-20A2-25CE-B0E5B0D0C258}"/>
              </a:ext>
            </a:extLst>
          </p:cNvPr>
          <p:cNvPicPr>
            <a:picLocks noChangeAspect="1"/>
          </p:cNvPicPr>
          <p:nvPr/>
        </p:nvPicPr>
        <p:blipFill>
          <a:blip r:embed="rId5"/>
          <a:srcRect t="6484"/>
          <a:stretch>
            <a:fillRect/>
          </a:stretch>
        </p:blipFill>
        <p:spPr>
          <a:xfrm>
            <a:off x="690139" y="1162396"/>
            <a:ext cx="3749039" cy="2476916"/>
          </a:xfrm>
          <a:prstGeom prst="rect">
            <a:avLst/>
          </a:prstGeom>
        </p:spPr>
      </p:pic>
      <p:pic>
        <p:nvPicPr>
          <p:cNvPr id="35" name="Picture 34">
            <a:extLst>
              <a:ext uri="{FF2B5EF4-FFF2-40B4-BE49-F238E27FC236}">
                <a16:creationId xmlns:a16="http://schemas.microsoft.com/office/drawing/2014/main" id="{8E09FB3F-AB3B-4D8C-95DB-68911EAFC6CE}"/>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37" name="Picture 36">
            <a:extLst>
              <a:ext uri="{FF2B5EF4-FFF2-40B4-BE49-F238E27FC236}">
                <a16:creationId xmlns:a16="http://schemas.microsoft.com/office/drawing/2014/main" id="{69F4307F-2EC2-436A-DD1A-6F6B153391D3}"/>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3" name="Picture 32">
            <a:extLst>
              <a:ext uri="{FF2B5EF4-FFF2-40B4-BE49-F238E27FC236}">
                <a16:creationId xmlns:a16="http://schemas.microsoft.com/office/drawing/2014/main" id="{0C224E85-7297-9360-B461-23C055336649}"/>
              </a:ext>
            </a:extLst>
          </p:cNvPr>
          <p:cNvPicPr>
            <a:picLocks noChangeAspect="1"/>
          </p:cNvPicPr>
          <p:nvPr/>
        </p:nvPicPr>
        <p:blipFill>
          <a:blip r:embed="rId8"/>
          <a:stretch>
            <a:fillRect/>
          </a:stretch>
        </p:blipFill>
        <p:spPr>
          <a:xfrm>
            <a:off x="0" y="1078992"/>
            <a:ext cx="12132330" cy="5705856"/>
          </a:xfrm>
          <a:prstGeom prst="rect">
            <a:avLst/>
          </a:prstGeom>
        </p:spPr>
      </p:pic>
      <p:pic>
        <p:nvPicPr>
          <p:cNvPr id="24" name="Picture 23">
            <a:extLst>
              <a:ext uri="{FF2B5EF4-FFF2-40B4-BE49-F238E27FC236}">
                <a16:creationId xmlns:a16="http://schemas.microsoft.com/office/drawing/2014/main" id="{2083D41E-D31E-B77F-FF50-16D81BB0FE1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793093188"/>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8EE71-DEBE-F420-39D3-040CB777BA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F7EB76-9C38-F75F-2896-F22BB3032065}"/>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1C3E2DB-A210-5942-50DC-6A795797DE6B}"/>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0BF8EF-3550-4542-3AD3-FF1855B9095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8F7F7797-BA06-11A0-8BFE-859FF9211208}"/>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90A18D9-A06D-D96E-50A5-6D983E4658FA}"/>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54AA72FD-F5F7-4B4B-06A6-93EB32AA327F}"/>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FF13C44-9887-ADD1-806B-00515D9C348B}"/>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7A97F327-954E-A7F3-2EA0-3127BBDCCA4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FF467AA-65D5-2AD0-13D5-89116512B5A9}"/>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37A2E94-7C23-333D-8DB3-D5B4B44665E6}"/>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C88B39A-C436-6EB1-CD9B-4771C060E674}"/>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502C6E1-9CA1-2145-A0BE-CE72F1DF0988}"/>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6317394-0AB4-D46C-33CD-725DB13ECDD6}"/>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592A48B7-A5E9-CEA5-B7A6-2826931139A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740ADF3D-1D40-9340-817F-437A4F7206AB}"/>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CD6CF51-B7AE-7C53-449D-1F323ADB9D8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F02CE76-A2A4-72A9-0939-90321845E245}"/>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C5B558CE-1C58-53DF-4ABE-D2E6D441285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5B0F247-D7E5-D53E-D4E8-DC35A21F226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56EB0BFB-D099-8C5C-6FA9-4D72E7637D36}"/>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A07B7F79-5EDF-31AD-55DC-3E57B1E3BB18}"/>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4BAD532-7774-46E0-DC3B-AD514E4C6AD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316E461-9F68-FFE3-659C-62F25D4AEB92}"/>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A594743D-5328-574A-261A-E79D7C65C3ED}"/>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6DC10BB3-4206-FBA0-72AE-4419B3A7C237}"/>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0E2F6904-8E17-09AF-03E9-8A263AF1428C}"/>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CD4889DE-C51D-F0D6-9771-F06CC9449628}"/>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113DC9FD-56FA-558E-390F-9F23A73D846B}"/>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3788EE1C-5D51-E854-3042-F539B7CF32F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94475453"/>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7EC7-FC75-3247-03E7-E86E408F31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D9137B6-8379-7292-FFAF-8A79D2ADF0EB}"/>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0F86692-CBC2-F4DE-89A3-5D7667240D90}"/>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7896F65-4605-CD62-7186-DB31FD1F4007}"/>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46B30A11-8907-D983-48A1-8DB62EB5558C}"/>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489D597D-BE3A-4BF1-073C-8FCDFDD1F027}"/>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B9E4BAAE-7C2C-F9D6-0915-0463949DF560}"/>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A92CD96-6BE0-CF82-901E-5FD6DEF83D8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D03177F4-8EEE-0285-6F9F-9F2BC9CD4D59}"/>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CD2734E-84A2-D027-9F8D-EAAB12C7E0F7}"/>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448A493-4A7D-0E49-D27C-B7A38088749A}"/>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0D06B7F7-2956-607F-BE10-A10DF33891F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01657BA-B60D-193F-1D50-5074A2D32ED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951E69C7-20D6-4BE0-0220-7D0BDC84257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7E374C34-BC1E-80A1-3B85-50049F6F36B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9D22789-589D-9B60-9595-B6CB680146C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5742DCA-EFE0-9D55-39D4-5BEFBFA790C1}"/>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72C0D4A-7980-B9B6-2528-7FECBD18942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81959A2F-AB2C-D1BB-C733-D74BA51DA7C6}"/>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B0A19FB-2581-FD25-B4CB-A38F69705A68}"/>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7B827405-5568-BE0F-01D3-701C0F6C8C8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C938644-91BC-484D-A3F2-0DF93EEDE489}"/>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1B69D35B-EA2D-C072-EAF8-8BD1412B11F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AE17D34A-7776-08BF-0F4F-3B0ED7DDD5B4}"/>
              </a:ext>
            </a:extLst>
          </p:cNvPr>
          <p:cNvPicPr>
            <a:picLocks noChangeAspect="1"/>
          </p:cNvPicPr>
          <p:nvPr/>
        </p:nvPicPr>
        <p:blipFill>
          <a:blip r:embed="rId3"/>
          <a:srcRect l="18562" t="7936" r="19254"/>
          <a:stretch>
            <a:fillRect/>
          </a:stretch>
        </p:blipFill>
        <p:spPr>
          <a:xfrm>
            <a:off x="3977639" y="3811940"/>
            <a:ext cx="3968498" cy="2660904"/>
          </a:xfrm>
          <a:prstGeom prst="rect">
            <a:avLst/>
          </a:prstGeom>
        </p:spPr>
      </p:pic>
      <p:pic>
        <p:nvPicPr>
          <p:cNvPr id="27" name="Picture 26">
            <a:extLst>
              <a:ext uri="{FF2B5EF4-FFF2-40B4-BE49-F238E27FC236}">
                <a16:creationId xmlns:a16="http://schemas.microsoft.com/office/drawing/2014/main" id="{136427D1-DF6C-9746-E2C0-D4D99A724C04}"/>
              </a:ext>
            </a:extLst>
          </p:cNvPr>
          <p:cNvPicPr>
            <a:picLocks noChangeAspect="1"/>
          </p:cNvPicPr>
          <p:nvPr/>
        </p:nvPicPr>
        <p:blipFill>
          <a:blip r:embed="rId4"/>
          <a:srcRect l="19020" t="7531" r="19448"/>
          <a:stretch>
            <a:fillRect/>
          </a:stretch>
        </p:blipFill>
        <p:spPr>
          <a:xfrm>
            <a:off x="246761" y="3736664"/>
            <a:ext cx="3730878" cy="2728143"/>
          </a:xfrm>
          <a:prstGeom prst="rect">
            <a:avLst/>
          </a:prstGeom>
        </p:spPr>
      </p:pic>
      <p:pic>
        <p:nvPicPr>
          <p:cNvPr id="29" name="Picture 28">
            <a:extLst>
              <a:ext uri="{FF2B5EF4-FFF2-40B4-BE49-F238E27FC236}">
                <a16:creationId xmlns:a16="http://schemas.microsoft.com/office/drawing/2014/main" id="{7C58B4DE-9787-B1BA-7BD5-6FF37B72E968}"/>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421D4F43-AA08-B263-BF5A-EACC06A37DE0}"/>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7" name="Picture 36">
            <a:extLst>
              <a:ext uri="{FF2B5EF4-FFF2-40B4-BE49-F238E27FC236}">
                <a16:creationId xmlns:a16="http://schemas.microsoft.com/office/drawing/2014/main" id="{1752E9B2-6F47-1F9C-134A-BF00F6A82C6B}"/>
              </a:ext>
            </a:extLst>
          </p:cNvPr>
          <p:cNvPicPr>
            <a:picLocks noChangeAspect="1"/>
          </p:cNvPicPr>
          <p:nvPr/>
        </p:nvPicPr>
        <p:blipFill>
          <a:blip r:embed="rId7"/>
          <a:srcRect l="19476" t="6992" r="19221"/>
          <a:stretch>
            <a:fillRect/>
          </a:stretch>
        </p:blipFill>
        <p:spPr>
          <a:xfrm>
            <a:off x="8010144" y="3775365"/>
            <a:ext cx="3931920" cy="2670820"/>
          </a:xfrm>
          <a:prstGeom prst="rect">
            <a:avLst/>
          </a:prstGeom>
        </p:spPr>
      </p:pic>
      <p:pic>
        <p:nvPicPr>
          <p:cNvPr id="35" name="Picture 34">
            <a:extLst>
              <a:ext uri="{FF2B5EF4-FFF2-40B4-BE49-F238E27FC236}">
                <a16:creationId xmlns:a16="http://schemas.microsoft.com/office/drawing/2014/main" id="{0CED1C7F-F645-739B-54DB-717A3031706C}"/>
              </a:ext>
            </a:extLst>
          </p:cNvPr>
          <p:cNvPicPr>
            <a:picLocks noChangeAspect="1"/>
          </p:cNvPicPr>
          <p:nvPr/>
        </p:nvPicPr>
        <p:blipFill>
          <a:blip r:embed="rId8"/>
          <a:srcRect t="7936"/>
          <a:stretch>
            <a:fillRect/>
          </a:stretch>
        </p:blipFill>
        <p:spPr>
          <a:xfrm>
            <a:off x="-1" y="1004372"/>
            <a:ext cx="12188825" cy="5853628"/>
          </a:xfrm>
          <a:prstGeom prst="rect">
            <a:avLst/>
          </a:prstGeom>
        </p:spPr>
      </p:pic>
      <p:pic>
        <p:nvPicPr>
          <p:cNvPr id="24" name="Picture 23">
            <a:extLst>
              <a:ext uri="{FF2B5EF4-FFF2-40B4-BE49-F238E27FC236}">
                <a16:creationId xmlns:a16="http://schemas.microsoft.com/office/drawing/2014/main" id="{A27FDFCC-7CEE-84D9-53BA-7968225013E6}"/>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744643119"/>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ED31-FC76-7216-DF43-AB82FFCF84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E1B4C9-00C2-5A08-C274-C0606631D74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54A0571-5B20-5DEF-21BA-CB85392856C3}"/>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6CE0295-B0FC-572F-F47F-5F301187B9C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266429D-FB85-C684-2A46-CB777AB4E7F6}"/>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A636526B-31C0-7F24-F009-4709307C388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D311D99E-BBC6-7985-A3DD-173DFB9784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A8E9E85-D931-B507-EDB9-8F0E24511A51}"/>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987E3153-6330-14BD-19FC-A1405BF79E17}"/>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BEC6A59D-D9E2-6E8B-12E3-4B4C55095ACC}"/>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2247A1D-0F17-5132-0384-18A30F42E03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B5265F2C-2650-2F36-6E72-EB2F02C90483}"/>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56BF9416-C747-6D58-BD0E-C8168C30C7AF}"/>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E0ACF37-0E14-2750-823F-FA012C5A0257}"/>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6C3DA774-CE7C-4F46-E38D-B77119AD2BDB}"/>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D5EFA48-8166-9F8B-FE12-90E768F163F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0A0D48B1-4929-F3E9-D39C-51217CCF84BD}"/>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65DEC86-96A6-D8EC-A78E-701DE3C87E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7ABFA192-06BC-A90C-CE4D-CF37C953096A}"/>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23CB1F8-0EC0-07CD-F183-B8DB7CF5AEC4}"/>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BF3485A-FDE1-14C7-7528-A0A438ECB2F4}"/>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646F26B4-3F2D-6493-1577-8DBD6DDDC82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8781C5E-52E5-7FBD-0D98-0D956C3AD095}"/>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28FA6817-3502-FF67-6461-FA72DA60C911}"/>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25CC29C-4509-E0BC-E448-A94D7C911E6A}"/>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894CF20E-7103-2E6B-EB12-26598C6446A2}"/>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A8DB2947-6D82-3767-0B76-6346CF7EBF0D}"/>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E41B3CE6-F0C6-BC8E-6C1B-1170B73B079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CE3F4172-22A0-4034-2E64-25B2F7084D82}"/>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A9C6602-542C-F35D-6B3D-FEA3FB58E7B8}"/>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517194638"/>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38AE-5899-7851-95AF-DAA0AC8067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82F2B0D-6FFF-D364-53A7-EB4B8FD03D4F}"/>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1024620-BAD5-23E1-078B-EAFCDC56861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BB9B48F-AB71-54D0-A9C5-53BA4F9B8346}"/>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BFD8983C-CB39-7289-B273-61E1B82D14FD}"/>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5974B12-029B-759F-320C-F823CF061123}"/>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4633D62-FDEC-DBAF-A70B-17E970823EEE}"/>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0563B95-C3E6-F868-C810-E6EB5372D1B7}"/>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676F207F-CF68-742F-7428-91EB2236284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62366F2-8823-49CC-F565-774612F37F5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A8073F20-B289-A8EC-0E50-2BC85FBC8102}"/>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54375922-FF05-338E-5A58-B18879EFC728}"/>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2B5C31C-3454-FC11-6399-2A4A3C169E2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9B20087-06B2-FC63-113B-D4E0D607B23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21E3CCF-2CFB-4DD3-2CA8-97317294D3AA}"/>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AF9A403-AA19-BDFE-1519-DABEC0307086}"/>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6372C6C4-F304-3ED6-DA10-8D14EA7A5172}"/>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52BE429-D182-8007-55FE-2227E59A1627}"/>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589AD293-96A7-60E2-F661-EA8D874FC52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F89BB317-6771-F968-FDFD-026275698CC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889D1E2-185F-56A7-9A6E-D7FC463287EB}"/>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B4AFD45D-EF94-D1CE-231A-D9789F0BC0D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ADEB440-0550-DB8E-23A1-CCE2940C7A4A}"/>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88F71F7E-C8D3-A9F0-BF40-F2DD6B43B4FD}"/>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7" name="Picture 26">
            <a:extLst>
              <a:ext uri="{FF2B5EF4-FFF2-40B4-BE49-F238E27FC236}">
                <a16:creationId xmlns:a16="http://schemas.microsoft.com/office/drawing/2014/main" id="{024E7884-8D76-22CA-5D13-2121A6D2F5A6}"/>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2D40CF41-54B5-B6AE-1EFB-5B546E0EAE8B}"/>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EDAB991B-F68C-0DD4-FD1E-313DC0755137}"/>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7F306330-A2B9-DAFB-DB4E-7732C783C21A}"/>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F4526D6A-789E-E14D-6D0D-AB82CCC5EF1D}"/>
              </a:ext>
            </a:extLst>
          </p:cNvPr>
          <p:cNvPicPr>
            <a:picLocks noChangeAspect="1"/>
          </p:cNvPicPr>
          <p:nvPr/>
        </p:nvPicPr>
        <p:blipFill>
          <a:blip r:embed="rId8"/>
          <a:srcRect l="18591" t="8213" r="19358"/>
          <a:stretch>
            <a:fillRect/>
          </a:stretch>
        </p:blipFill>
        <p:spPr>
          <a:xfrm>
            <a:off x="186571" y="1071288"/>
            <a:ext cx="11820702" cy="5660859"/>
          </a:xfrm>
          <a:prstGeom prst="rect">
            <a:avLst/>
          </a:prstGeom>
        </p:spPr>
      </p:pic>
      <p:pic>
        <p:nvPicPr>
          <p:cNvPr id="24" name="Picture 23">
            <a:extLst>
              <a:ext uri="{FF2B5EF4-FFF2-40B4-BE49-F238E27FC236}">
                <a16:creationId xmlns:a16="http://schemas.microsoft.com/office/drawing/2014/main" id="{FBB1D261-D0C8-2200-6EF2-B9020D0B618A}"/>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0358160"/>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E81B9-8736-092E-CB0C-38B0341E074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45EC78-CAD5-6E4B-A5F0-5841EBF8BCEE}"/>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39C8521-B6A4-1A15-F2B0-29A10453F1C2}"/>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FC9E6CA-FDE4-2D84-F1BF-0F685172E98E}"/>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2F837288-BE3F-3E5C-A3A3-01F6C7424D67}"/>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F82ACC17-7F85-918B-C11E-DEDF9337494F}"/>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600D250-F09B-773D-D2BF-8C2544FBE82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511152D-F592-9FA8-2A52-2D0498CD169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0E40315A-B140-FAA3-253F-4B9393B723D3}"/>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56C0E768-8971-3FE7-46EF-E488DB146414}"/>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3A4EFC93-1B49-B104-FFFE-EE3B8FC1D4F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E6E96E6-FEEF-935D-F78F-1A399A6DE64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7740D7E2-D1B9-04C7-24B2-DCB1BF18F5FD}"/>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9DE39C2-0F2F-D663-D799-2DBEDB7492E3}"/>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12897307-2A8A-181A-516B-0708E5F08F54}"/>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F188F137-42B1-3D16-85B1-9CC6F82547A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B4A43F0-BE91-87AF-E8A9-126ED1604FE5}"/>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9EF7C004-2F7A-6916-5CBB-94CA9E94F0FA}"/>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F5B60530-8AD6-2030-E674-87198C0E48FE}"/>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438F0D26-E3F0-47A6-2202-E6DD4399838C}"/>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02FA6D87-3AE8-5CAA-DCEA-63932E466E2F}"/>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FECD7FB-3B60-452C-6109-573B2F8838B2}"/>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2938266-5EB4-63F3-7BCB-15F101A4A090}"/>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7EBA365-BFA4-237E-24D7-5A129297A867}"/>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670084BE-9425-FDF0-6C2E-23397D761BAB}"/>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58769904-1AFC-2E79-E2A6-39CC05B78425}"/>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68CEEED-6BD6-815F-7AF3-65B433C12DBE}"/>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F907C52-7AE6-8678-5597-FFFA132CE7C1}"/>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63D85F4A-6DF4-FBDB-3C0E-20785E95D6F8}"/>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189EFBC7-A0C0-28BC-2F47-4ED6E9E2A7E5}"/>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807656823"/>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CA3E-F989-3D45-2523-721D08D2CE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1D12DC-EAAA-8050-25AC-769DBBC4BE56}"/>
              </a:ext>
            </a:extLst>
          </p:cNvPr>
          <p:cNvSpPr/>
          <p:nvPr/>
        </p:nvSpPr>
        <p:spPr>
          <a:xfrm>
            <a:off x="36569" y="-109728"/>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1F75E2FC-6CCE-C955-9EBA-E57DE51734DA}"/>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C0C77C7-D170-9B96-C6A2-02A6025A1BF3}"/>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CDE282D-DEBE-32C9-3782-606337C308FB}"/>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D8D5A324-29C2-088A-A6C7-428BACF6CF2B}"/>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4CDD46B7-2359-28EF-42AB-7440EC2B0EBB}"/>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11F8028-29EC-23AD-548C-9A52E6288CBF}"/>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54B354BF-BF62-1F0B-F338-E6C2E3F5060C}"/>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9E5BEFC-3D72-F047-F31E-38FEA26BD5A8}"/>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799CA27B-BA55-0BD4-C78D-38DBEB9D4F47}"/>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85C1D6D2-8F0A-1137-1B6F-72ED36EB940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D54519C-33BB-A7F9-0C73-D99C484C86AA}"/>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13DCCA7-24A1-96B6-CC6A-A378772C6840}"/>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26408F55-6723-A465-9D91-80788A70FF88}"/>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867256B-38D7-269F-C9F4-C93FCB24DDC8}"/>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845A948-5868-50D7-E748-12A703528FA3}"/>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253AEC58-D1A6-BCC3-6BA3-1267FF18AD9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46D080F9-B070-B1E6-338C-D4692B2F57E5}"/>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7EC63FE0-CE99-B812-62F5-586762DC540D}"/>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E5E3F57F-1BDF-0C7C-CBE8-F6C76FD61C18}"/>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D4DA418F-20B7-274F-2890-C648B0BEC123}"/>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D88F36B-F0E3-10FC-2A12-E029BA55E80C}"/>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7" name="Picture 26">
            <a:extLst>
              <a:ext uri="{FF2B5EF4-FFF2-40B4-BE49-F238E27FC236}">
                <a16:creationId xmlns:a16="http://schemas.microsoft.com/office/drawing/2014/main" id="{A178A87E-6668-3A55-0424-4B807CE05FCA}"/>
              </a:ext>
            </a:extLst>
          </p:cNvPr>
          <p:cNvPicPr>
            <a:picLocks noChangeAspect="1"/>
          </p:cNvPicPr>
          <p:nvPr/>
        </p:nvPicPr>
        <p:blipFill>
          <a:blip r:embed="rId3"/>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85E3ACD0-EDC9-2D52-86CC-B4EEC578ADF8}"/>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300F2985-FE5A-D152-E986-D888BE515E14}"/>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13B8A2D-17E4-4AD3-0DC3-368552A993AB}"/>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867181A-FF89-30D5-346E-3028CF8AEFD0}"/>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5" name="Picture 24">
            <a:extLst>
              <a:ext uri="{FF2B5EF4-FFF2-40B4-BE49-F238E27FC236}">
                <a16:creationId xmlns:a16="http://schemas.microsoft.com/office/drawing/2014/main" id="{9BFB1520-F72F-1C5C-C70F-F3FF83BD5456}"/>
              </a:ext>
            </a:extLst>
          </p:cNvPr>
          <p:cNvPicPr>
            <a:picLocks noChangeAspect="1"/>
          </p:cNvPicPr>
          <p:nvPr/>
        </p:nvPicPr>
        <p:blipFill>
          <a:blip r:embed="rId8"/>
          <a:srcRect l="18562" t="7936" r="19254"/>
          <a:stretch>
            <a:fillRect/>
          </a:stretch>
        </p:blipFill>
        <p:spPr>
          <a:xfrm>
            <a:off x="0" y="1014984"/>
            <a:ext cx="12152256" cy="5604956"/>
          </a:xfrm>
          <a:prstGeom prst="rect">
            <a:avLst/>
          </a:prstGeom>
        </p:spPr>
      </p:pic>
      <p:pic>
        <p:nvPicPr>
          <p:cNvPr id="30" name="Picture 29">
            <a:extLst>
              <a:ext uri="{FF2B5EF4-FFF2-40B4-BE49-F238E27FC236}">
                <a16:creationId xmlns:a16="http://schemas.microsoft.com/office/drawing/2014/main" id="{AB067845-B3B1-7DAC-86C1-800446903EBF}"/>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932342792"/>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88DB-94BF-2BC6-DAC2-053EC55C64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860777-3F4E-920C-36DF-0E11F5972190}"/>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0AA0C8E-9DC4-3629-4A17-CBAFC090ABE4}"/>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A71801F-F97A-F0B0-FC7C-EB73AEF996DD}"/>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AFE8F458-5F4F-A536-E0DB-3AA7369EFD44}"/>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7D12011-15C3-AB7B-8CB4-97A9AEE3B5D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C318865-646F-86D7-73F6-46F94EB6767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CA2C7A9-AD6A-26F8-7F20-D50626BA4536}"/>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BB5D9E32-272B-F574-2832-2FA8EF5C52A8}"/>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92D9271C-EF14-8342-53BE-6B7FBDCA59E6}"/>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866ED6C-9109-2AFB-A30A-8EC2483892E8}"/>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613579CD-3415-0496-DAA5-41D892A19A49}"/>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DD613A2E-145E-95C2-87CB-51CAA6B5BB17}"/>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6C7A600-C7A0-E9F5-2FEF-526409F679B5}"/>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875E8A59-921C-E902-E82F-4B2D6AF99AF9}"/>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EB66CA7-7501-1082-9D62-6CC327DDBB5C}"/>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359551C-E30C-3BD9-5220-1551500D8FD4}"/>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FC254026-920B-FDF5-60F8-77DC81AFBF50}"/>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0E9497E-CEAE-7E06-C06A-112F85587622}"/>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C6ABB06-EB1A-E6A9-97EE-F28A0FA35AF7}"/>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836F9688-4266-1A3F-D7F2-9B09ACDDBAFA}"/>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4BD7B14F-7DD5-9587-AEDE-BDDDB66BC7EA}"/>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7127D99-D3AE-692A-2DA7-D2EB73838E67}"/>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F4125F0-6103-F8E4-9983-595C37B3DA66}"/>
              </a:ext>
            </a:extLst>
          </p:cNvPr>
          <p:cNvPicPr>
            <a:picLocks noChangeAspect="1"/>
          </p:cNvPicPr>
          <p:nvPr/>
        </p:nvPicPr>
        <p:blipFill>
          <a:blip r:embed="rId3"/>
          <a:srcRect l="18562" t="7936" r="19254"/>
          <a:stretch>
            <a:fillRect/>
          </a:stretch>
        </p:blipFill>
        <p:spPr>
          <a:xfrm>
            <a:off x="4133087" y="3767328"/>
            <a:ext cx="3749038" cy="2697480"/>
          </a:xfrm>
          <a:prstGeom prst="rect">
            <a:avLst/>
          </a:prstGeom>
        </p:spPr>
      </p:pic>
      <p:pic>
        <p:nvPicPr>
          <p:cNvPr id="27" name="Picture 26">
            <a:extLst>
              <a:ext uri="{FF2B5EF4-FFF2-40B4-BE49-F238E27FC236}">
                <a16:creationId xmlns:a16="http://schemas.microsoft.com/office/drawing/2014/main" id="{C874ADC6-3626-A831-ACF4-6BC6C5515787}"/>
              </a:ext>
            </a:extLst>
          </p:cNvPr>
          <p:cNvPicPr>
            <a:picLocks noChangeAspect="1"/>
          </p:cNvPicPr>
          <p:nvPr/>
        </p:nvPicPr>
        <p:blipFill>
          <a:blip r:embed="rId4"/>
          <a:srcRect l="19020" t="7531" r="19448"/>
          <a:stretch>
            <a:fillRect/>
          </a:stretch>
        </p:blipFill>
        <p:spPr>
          <a:xfrm>
            <a:off x="8019415" y="3803904"/>
            <a:ext cx="3911183" cy="2652867"/>
          </a:xfrm>
          <a:prstGeom prst="rect">
            <a:avLst/>
          </a:prstGeom>
        </p:spPr>
      </p:pic>
      <p:pic>
        <p:nvPicPr>
          <p:cNvPr id="29" name="Picture 28">
            <a:extLst>
              <a:ext uri="{FF2B5EF4-FFF2-40B4-BE49-F238E27FC236}">
                <a16:creationId xmlns:a16="http://schemas.microsoft.com/office/drawing/2014/main" id="{A35335DE-C8A8-A5F9-5BFC-9660BA324F10}"/>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63338420-C7F1-07AB-46D0-1ABFFDED3735}"/>
              </a:ext>
            </a:extLst>
          </p:cNvPr>
          <p:cNvPicPr>
            <a:picLocks noChangeAspect="1"/>
          </p:cNvPicPr>
          <p:nvPr/>
        </p:nvPicPr>
        <p:blipFill>
          <a:blip r:embed="rId6"/>
          <a:stretch>
            <a:fillRect/>
          </a:stretch>
        </p:blipFill>
        <p:spPr>
          <a:xfrm>
            <a:off x="4133087" y="1178467"/>
            <a:ext cx="3749038" cy="2460845"/>
          </a:xfrm>
          <a:prstGeom prst="rect">
            <a:avLst/>
          </a:prstGeom>
        </p:spPr>
      </p:pic>
      <p:pic>
        <p:nvPicPr>
          <p:cNvPr id="35" name="Picture 34">
            <a:extLst>
              <a:ext uri="{FF2B5EF4-FFF2-40B4-BE49-F238E27FC236}">
                <a16:creationId xmlns:a16="http://schemas.microsoft.com/office/drawing/2014/main" id="{5682C3B9-0147-D608-0290-7A4FABA236CE}"/>
              </a:ext>
            </a:extLst>
          </p:cNvPr>
          <p:cNvPicPr>
            <a:picLocks noChangeAspect="1"/>
          </p:cNvPicPr>
          <p:nvPr/>
        </p:nvPicPr>
        <p:blipFill>
          <a:blip r:embed="rId7"/>
          <a:srcRect t="7936"/>
          <a:stretch>
            <a:fillRect/>
          </a:stretch>
        </p:blipFill>
        <p:spPr>
          <a:xfrm>
            <a:off x="8010142" y="1178469"/>
            <a:ext cx="3922651" cy="2460844"/>
          </a:xfrm>
          <a:prstGeom prst="rect">
            <a:avLst/>
          </a:prstGeom>
        </p:spPr>
      </p:pic>
      <p:pic>
        <p:nvPicPr>
          <p:cNvPr id="26" name="Picture 25">
            <a:extLst>
              <a:ext uri="{FF2B5EF4-FFF2-40B4-BE49-F238E27FC236}">
                <a16:creationId xmlns:a16="http://schemas.microsoft.com/office/drawing/2014/main" id="{0ABAA6F4-AE4E-F7BC-1167-6F84B38284CF}"/>
              </a:ext>
            </a:extLst>
          </p:cNvPr>
          <p:cNvPicPr>
            <a:picLocks noChangeAspect="1"/>
          </p:cNvPicPr>
          <p:nvPr/>
        </p:nvPicPr>
        <p:blipFill>
          <a:blip r:embed="rId8"/>
          <a:srcRect t="8213"/>
          <a:stretch>
            <a:fillRect/>
          </a:stretch>
        </p:blipFill>
        <p:spPr>
          <a:xfrm>
            <a:off x="258226" y="3766266"/>
            <a:ext cx="3756116" cy="2698542"/>
          </a:xfrm>
          <a:prstGeom prst="rect">
            <a:avLst/>
          </a:prstGeom>
        </p:spPr>
      </p:pic>
      <p:pic>
        <p:nvPicPr>
          <p:cNvPr id="24" name="Picture 23">
            <a:extLst>
              <a:ext uri="{FF2B5EF4-FFF2-40B4-BE49-F238E27FC236}">
                <a16:creationId xmlns:a16="http://schemas.microsoft.com/office/drawing/2014/main" id="{A2919975-A6FA-27CD-F04B-7ED7E1937BD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1489501533"/>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4C7D7-1E6D-0CB0-8CA4-716D116F71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D44885-A352-684A-906C-14235907D7DD}"/>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4D5258C-34F9-BE70-1984-13A325B4468E}"/>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4F8F6A2-FD5C-DC0F-6051-704B0B7DFC2C}"/>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9ACA0B5D-EDCA-A9CE-8CF6-503006E230A9}"/>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0837214-D126-F51B-C38E-7A4A62DA35FE}"/>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20DE026E-0576-67DD-A0C7-65F6A07F556A}"/>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6FF3022-5A37-21B0-AB50-DE31E7573AF4}"/>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4E76E29-3D57-4B7E-B7BE-7BED826E500B}"/>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A4E708F0-CFE8-FF0B-F9A0-4F551980DCFA}"/>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27E0E9B-0F4A-2A45-972A-A96D08AF9889}"/>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31A6DA42-8028-2DCD-6CE4-BA63F6B3B7B6}"/>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F7C2D02A-DE90-7799-8E6C-BCE7F36819B9}"/>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20DC08F-0113-29BF-6169-F7E858E703A9}"/>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01ADCBBA-1962-0A95-073D-983FB97FD17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55DB1AF4-335A-CF51-7E63-660C7BFDDF83}"/>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C766E294-DE1F-BA2C-4B1B-7C3B207D4F5B}"/>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5DA45062-6918-95C9-810F-1A07DB113ED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6FB4EDD-943D-2BAA-B882-C9671C8F258F}"/>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66DAB9E-CAA3-9ED5-2863-DCA103020A10}"/>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AF77EDA6-F5C0-DB7B-D149-5D1503F9761C}"/>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EBB9EE1F-448B-356C-F80C-D0F198563CE0}"/>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8D9DA09-A8A6-74DA-7D0E-8DCFEC0D3F26}"/>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510C5535-BD7A-A21F-ED87-CE47510841C5}"/>
              </a:ext>
            </a:extLst>
          </p:cNvPr>
          <p:cNvPicPr>
            <a:picLocks noChangeAspect="1"/>
          </p:cNvPicPr>
          <p:nvPr/>
        </p:nvPicPr>
        <p:blipFill>
          <a:blip r:embed="rId3"/>
          <a:srcRect l="18562" t="7936" r="19254"/>
          <a:stretch>
            <a:fillRect/>
          </a:stretch>
        </p:blipFill>
        <p:spPr>
          <a:xfrm>
            <a:off x="3995926" y="3766266"/>
            <a:ext cx="3968498" cy="2660904"/>
          </a:xfrm>
          <a:prstGeom prst="rect">
            <a:avLst/>
          </a:prstGeom>
        </p:spPr>
      </p:pic>
      <p:pic>
        <p:nvPicPr>
          <p:cNvPr id="29" name="Picture 28">
            <a:extLst>
              <a:ext uri="{FF2B5EF4-FFF2-40B4-BE49-F238E27FC236}">
                <a16:creationId xmlns:a16="http://schemas.microsoft.com/office/drawing/2014/main" id="{54708E11-5FB5-C91B-5121-97309C695677}"/>
              </a:ext>
            </a:extLst>
          </p:cNvPr>
          <p:cNvPicPr>
            <a:picLocks noChangeAspect="1"/>
          </p:cNvPicPr>
          <p:nvPr/>
        </p:nvPicPr>
        <p:blipFill>
          <a:blip r:embed="rId4"/>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8DC43CAF-C73F-AC91-53E1-760947445918}"/>
              </a:ext>
            </a:extLst>
          </p:cNvPr>
          <p:cNvPicPr>
            <a:picLocks noChangeAspect="1"/>
          </p:cNvPicPr>
          <p:nvPr/>
        </p:nvPicPr>
        <p:blipFill>
          <a:blip r:embed="rId5"/>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A71F8F3F-DA38-D82C-4E16-0934B9EAF4AF}"/>
              </a:ext>
            </a:extLst>
          </p:cNvPr>
          <p:cNvPicPr>
            <a:picLocks noChangeAspect="1"/>
          </p:cNvPicPr>
          <p:nvPr/>
        </p:nvPicPr>
        <p:blipFill>
          <a:blip r:embed="rId6"/>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7B85834A-7195-028D-49CB-CC1EBC04A90A}"/>
              </a:ext>
            </a:extLst>
          </p:cNvPr>
          <p:cNvPicPr>
            <a:picLocks noChangeAspect="1"/>
          </p:cNvPicPr>
          <p:nvPr/>
        </p:nvPicPr>
        <p:blipFill>
          <a:blip r:embed="rId7"/>
          <a:srcRect t="8213"/>
          <a:stretch>
            <a:fillRect/>
          </a:stretch>
        </p:blipFill>
        <p:spPr>
          <a:xfrm>
            <a:off x="258227" y="3766266"/>
            <a:ext cx="3691980" cy="2698542"/>
          </a:xfrm>
          <a:prstGeom prst="rect">
            <a:avLst/>
          </a:prstGeom>
        </p:spPr>
      </p:pic>
      <p:pic>
        <p:nvPicPr>
          <p:cNvPr id="27" name="Picture 26">
            <a:extLst>
              <a:ext uri="{FF2B5EF4-FFF2-40B4-BE49-F238E27FC236}">
                <a16:creationId xmlns:a16="http://schemas.microsoft.com/office/drawing/2014/main" id="{24BF28D5-416A-6EA2-C3EF-B07AADA1E257}"/>
              </a:ext>
            </a:extLst>
          </p:cNvPr>
          <p:cNvPicPr>
            <a:picLocks noChangeAspect="1"/>
          </p:cNvPicPr>
          <p:nvPr/>
        </p:nvPicPr>
        <p:blipFill>
          <a:blip r:embed="rId8"/>
          <a:srcRect l="19020" t="7531" r="19448"/>
          <a:stretch>
            <a:fillRect/>
          </a:stretch>
        </p:blipFill>
        <p:spPr>
          <a:xfrm>
            <a:off x="17519" y="1038894"/>
            <a:ext cx="12100590" cy="5786051"/>
          </a:xfrm>
          <a:prstGeom prst="rect">
            <a:avLst/>
          </a:prstGeom>
        </p:spPr>
      </p:pic>
      <p:pic>
        <p:nvPicPr>
          <p:cNvPr id="24" name="Picture 23">
            <a:extLst>
              <a:ext uri="{FF2B5EF4-FFF2-40B4-BE49-F238E27FC236}">
                <a16:creationId xmlns:a16="http://schemas.microsoft.com/office/drawing/2014/main" id="{59F60E9A-EFD6-38F2-5967-0C8053B4F2F0}"/>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3122626416"/>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E57E-AE64-CF0E-E331-733110DDEC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EF2859-FD9C-1F6D-1E8C-006B5EEE2EB1}"/>
              </a:ext>
            </a:extLst>
          </p:cNvPr>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7334D80-04F5-1E97-4CCF-DAB3E7E8AFC1}"/>
              </a:ext>
            </a:extLst>
          </p:cNvPr>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20264FC-A14D-45E9-6731-6FCD330BF3D5}"/>
              </a:ext>
            </a:extLst>
          </p:cNvPr>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Frontend Screenshots</a:t>
            </a:r>
          </a:p>
        </p:txBody>
      </p:sp>
      <p:sp>
        <p:nvSpPr>
          <p:cNvPr id="5" name="TextBox 4">
            <a:extLst>
              <a:ext uri="{FF2B5EF4-FFF2-40B4-BE49-F238E27FC236}">
                <a16:creationId xmlns:a16="http://schemas.microsoft.com/office/drawing/2014/main" id="{E0293BE5-B15D-583A-2B38-17676207A050}"/>
              </a:ext>
            </a:extLst>
          </p:cNvPr>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Add screenshots for each view manually – placeholder frames shown below</a:t>
            </a:r>
          </a:p>
        </p:txBody>
      </p:sp>
      <p:sp>
        <p:nvSpPr>
          <p:cNvPr id="6" name="Rectangle 5">
            <a:extLst>
              <a:ext uri="{FF2B5EF4-FFF2-40B4-BE49-F238E27FC236}">
                <a16:creationId xmlns:a16="http://schemas.microsoft.com/office/drawing/2014/main" id="{0ED42F66-40DC-DC02-1E3F-C79543393FA2}"/>
              </a:ext>
            </a:extLst>
          </p:cNvPr>
          <p:cNvSpPr/>
          <p:nvPr/>
        </p:nvSpPr>
        <p:spPr>
          <a:xfrm>
            <a:off x="256032"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5923C4F-6D61-83CB-CA6C-F688DDCDED4D}"/>
              </a:ext>
            </a:extLst>
          </p:cNvPr>
          <p:cNvSpPr/>
          <p:nvPr/>
        </p:nvSpPr>
        <p:spPr>
          <a:xfrm>
            <a:off x="256032"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DDCC7E4-C384-50A4-2398-8636CDD440E0}"/>
              </a:ext>
            </a:extLst>
          </p:cNvPr>
          <p:cNvSpPr txBox="1"/>
          <p:nvPr/>
        </p:nvSpPr>
        <p:spPr>
          <a:xfrm>
            <a:off x="347472" y="2176272"/>
            <a:ext cx="3566159" cy="457200"/>
          </a:xfrm>
          <a:prstGeom prst="rect">
            <a:avLst/>
          </a:prstGeom>
          <a:noFill/>
        </p:spPr>
        <p:txBody>
          <a:bodyPr wrap="square">
            <a:spAutoFit/>
          </a:bodyPr>
          <a:lstStyle/>
          <a:p>
            <a:pPr algn="ctr"/>
            <a:r>
              <a:rPr sz="1200" b="0">
                <a:solidFill>
                  <a:srgbClr val="6080CC"/>
                </a:solidFill>
              </a:rPr>
              <a:t>[ADD: Chat Window – main Q&amp;A view]</a:t>
            </a:r>
          </a:p>
        </p:txBody>
      </p:sp>
      <p:sp>
        <p:nvSpPr>
          <p:cNvPr id="9" name="Rectangle 8">
            <a:extLst>
              <a:ext uri="{FF2B5EF4-FFF2-40B4-BE49-F238E27FC236}">
                <a16:creationId xmlns:a16="http://schemas.microsoft.com/office/drawing/2014/main" id="{4D2959A8-D337-3877-69C3-A4BC40D5679E}"/>
              </a:ext>
            </a:extLst>
          </p:cNvPr>
          <p:cNvSpPr/>
          <p:nvPr/>
        </p:nvSpPr>
        <p:spPr>
          <a:xfrm>
            <a:off x="4133087" y="1170432"/>
            <a:ext cx="3749039"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1428AF03-170E-2CE2-F7FB-1C474F42D5D3}"/>
              </a:ext>
            </a:extLst>
          </p:cNvPr>
          <p:cNvSpPr/>
          <p:nvPr/>
        </p:nvSpPr>
        <p:spPr>
          <a:xfrm>
            <a:off x="4133087" y="1170432"/>
            <a:ext cx="3749039"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ED5C6F5D-6DC8-D250-2EF1-79F7D8267C1D}"/>
              </a:ext>
            </a:extLst>
          </p:cNvPr>
          <p:cNvSpPr txBox="1"/>
          <p:nvPr/>
        </p:nvSpPr>
        <p:spPr>
          <a:xfrm>
            <a:off x="4224527" y="2176272"/>
            <a:ext cx="3566159" cy="457200"/>
          </a:xfrm>
          <a:prstGeom prst="rect">
            <a:avLst/>
          </a:prstGeom>
          <a:noFill/>
        </p:spPr>
        <p:txBody>
          <a:bodyPr wrap="square">
            <a:spAutoFit/>
          </a:bodyPr>
          <a:lstStyle/>
          <a:p>
            <a:pPr algn="ctr"/>
            <a:r>
              <a:rPr sz="1200" b="0">
                <a:solidFill>
                  <a:srgbClr val="6080CC"/>
                </a:solidFill>
              </a:rPr>
              <a:t>[ADD: PDF Upload flow / Progress bar]</a:t>
            </a:r>
          </a:p>
        </p:txBody>
      </p:sp>
      <p:sp>
        <p:nvSpPr>
          <p:cNvPr id="12" name="Rectangle 11">
            <a:extLst>
              <a:ext uri="{FF2B5EF4-FFF2-40B4-BE49-F238E27FC236}">
                <a16:creationId xmlns:a16="http://schemas.microsoft.com/office/drawing/2014/main" id="{CAD00583-8F52-3FAD-0481-240E646EC5CF}"/>
              </a:ext>
            </a:extLst>
          </p:cNvPr>
          <p:cNvSpPr/>
          <p:nvPr/>
        </p:nvSpPr>
        <p:spPr>
          <a:xfrm>
            <a:off x="8010144" y="1170432"/>
            <a:ext cx="3931920" cy="24688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49FBFC5-E13B-0E4E-5AD5-C697351780E5}"/>
              </a:ext>
            </a:extLst>
          </p:cNvPr>
          <p:cNvSpPr/>
          <p:nvPr/>
        </p:nvSpPr>
        <p:spPr>
          <a:xfrm>
            <a:off x="8010144" y="1170432"/>
            <a:ext cx="3931920" cy="24688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37B3826-66C7-DA9C-8A27-C5AE38ACC632}"/>
              </a:ext>
            </a:extLst>
          </p:cNvPr>
          <p:cNvSpPr txBox="1"/>
          <p:nvPr/>
        </p:nvSpPr>
        <p:spPr>
          <a:xfrm>
            <a:off x="8101584" y="2176272"/>
            <a:ext cx="3749040" cy="457200"/>
          </a:xfrm>
          <a:prstGeom prst="rect">
            <a:avLst/>
          </a:prstGeom>
          <a:noFill/>
        </p:spPr>
        <p:txBody>
          <a:bodyPr wrap="square">
            <a:spAutoFit/>
          </a:bodyPr>
          <a:lstStyle/>
          <a:p>
            <a:pPr algn="ctr"/>
            <a:r>
              <a:rPr sz="1200" b="0">
                <a:solidFill>
                  <a:srgbClr val="6080CC"/>
                </a:solidFill>
              </a:rPr>
              <a:t>[ADD: Sidebar open with chat list]</a:t>
            </a:r>
          </a:p>
        </p:txBody>
      </p:sp>
      <p:sp>
        <p:nvSpPr>
          <p:cNvPr id="15" name="Rectangle 14">
            <a:extLst>
              <a:ext uri="{FF2B5EF4-FFF2-40B4-BE49-F238E27FC236}">
                <a16:creationId xmlns:a16="http://schemas.microsoft.com/office/drawing/2014/main" id="{9E3B1ACC-1E5E-A9B9-8DAB-8491D73D09AC}"/>
              </a:ext>
            </a:extLst>
          </p:cNvPr>
          <p:cNvSpPr/>
          <p:nvPr/>
        </p:nvSpPr>
        <p:spPr>
          <a:xfrm>
            <a:off x="256032"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3357837-3411-4F83-4E01-DAE58DA74C5D}"/>
              </a:ext>
            </a:extLst>
          </p:cNvPr>
          <p:cNvSpPr/>
          <p:nvPr/>
        </p:nvSpPr>
        <p:spPr>
          <a:xfrm>
            <a:off x="256032"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1987F99-9DA8-91F3-02EE-0F9CBF62815F}"/>
              </a:ext>
            </a:extLst>
          </p:cNvPr>
          <p:cNvSpPr txBox="1"/>
          <p:nvPr/>
        </p:nvSpPr>
        <p:spPr>
          <a:xfrm>
            <a:off x="347472" y="4887468"/>
            <a:ext cx="3566159" cy="457200"/>
          </a:xfrm>
          <a:prstGeom prst="rect">
            <a:avLst/>
          </a:prstGeom>
          <a:noFill/>
        </p:spPr>
        <p:txBody>
          <a:bodyPr wrap="square">
            <a:spAutoFit/>
          </a:bodyPr>
          <a:lstStyle/>
          <a:p>
            <a:pPr algn="ctr"/>
            <a:r>
              <a:rPr sz="1200" b="0">
                <a:solidFill>
                  <a:srgbClr val="6080CC"/>
                </a:solidFill>
              </a:rPr>
              <a:t>[ADD: Source Viewer / Citation Modal]</a:t>
            </a:r>
          </a:p>
        </p:txBody>
      </p:sp>
      <p:sp>
        <p:nvSpPr>
          <p:cNvPr id="18" name="Rectangle 17">
            <a:extLst>
              <a:ext uri="{FF2B5EF4-FFF2-40B4-BE49-F238E27FC236}">
                <a16:creationId xmlns:a16="http://schemas.microsoft.com/office/drawing/2014/main" id="{8B6852AF-3A6E-9743-9B6C-3702010AF952}"/>
              </a:ext>
            </a:extLst>
          </p:cNvPr>
          <p:cNvSpPr/>
          <p:nvPr/>
        </p:nvSpPr>
        <p:spPr>
          <a:xfrm>
            <a:off x="4133087" y="3767328"/>
            <a:ext cx="3749039"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6A592AF6-3F0F-456E-7EEB-5FD8DFFB9BD9}"/>
              </a:ext>
            </a:extLst>
          </p:cNvPr>
          <p:cNvSpPr/>
          <p:nvPr/>
        </p:nvSpPr>
        <p:spPr>
          <a:xfrm>
            <a:off x="4133087" y="3767328"/>
            <a:ext cx="3749039"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A99E049-EBF3-B0EB-B870-7798C8617809}"/>
              </a:ext>
            </a:extLst>
          </p:cNvPr>
          <p:cNvSpPr txBox="1"/>
          <p:nvPr/>
        </p:nvSpPr>
        <p:spPr>
          <a:xfrm>
            <a:off x="4224527" y="4887468"/>
            <a:ext cx="3566159" cy="457200"/>
          </a:xfrm>
          <a:prstGeom prst="rect">
            <a:avLst/>
          </a:prstGeom>
          <a:noFill/>
        </p:spPr>
        <p:txBody>
          <a:bodyPr wrap="square">
            <a:spAutoFit/>
          </a:bodyPr>
          <a:lstStyle/>
          <a:p>
            <a:pPr algn="ctr"/>
            <a:r>
              <a:rPr sz="1200" b="0">
                <a:solidFill>
                  <a:srgbClr val="6080CC"/>
                </a:solidFill>
              </a:rPr>
              <a:t>[ADD: Table Inspection Modal]</a:t>
            </a:r>
          </a:p>
        </p:txBody>
      </p:sp>
      <p:sp>
        <p:nvSpPr>
          <p:cNvPr id="21" name="Rectangle 20">
            <a:extLst>
              <a:ext uri="{FF2B5EF4-FFF2-40B4-BE49-F238E27FC236}">
                <a16:creationId xmlns:a16="http://schemas.microsoft.com/office/drawing/2014/main" id="{96A7F984-315E-BA62-5D05-540311BE63A9}"/>
              </a:ext>
            </a:extLst>
          </p:cNvPr>
          <p:cNvSpPr/>
          <p:nvPr/>
        </p:nvSpPr>
        <p:spPr>
          <a:xfrm>
            <a:off x="8010144" y="3767328"/>
            <a:ext cx="3931920" cy="2697480"/>
          </a:xfrm>
          <a:prstGeom prst="rect">
            <a:avLst/>
          </a:prstGeom>
          <a:solidFill>
            <a:srgbClr val="1E2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9B5B8FC1-2CC6-D039-012B-80FCC4F448DB}"/>
              </a:ext>
            </a:extLst>
          </p:cNvPr>
          <p:cNvSpPr/>
          <p:nvPr/>
        </p:nvSpPr>
        <p:spPr>
          <a:xfrm>
            <a:off x="8010144" y="3767328"/>
            <a:ext cx="3931920" cy="2697480"/>
          </a:xfrm>
          <a:prstGeom prst="rect">
            <a:avLst/>
          </a:prstGeom>
          <a:noFill/>
          <a:ln w="1905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4071FF15-23BA-C886-8F5B-BE17E1732948}"/>
              </a:ext>
            </a:extLst>
          </p:cNvPr>
          <p:cNvSpPr txBox="1"/>
          <p:nvPr/>
        </p:nvSpPr>
        <p:spPr>
          <a:xfrm>
            <a:off x="8101584" y="4887468"/>
            <a:ext cx="3749040" cy="457200"/>
          </a:xfrm>
          <a:prstGeom prst="rect">
            <a:avLst/>
          </a:prstGeom>
          <a:noFill/>
        </p:spPr>
        <p:txBody>
          <a:bodyPr wrap="square">
            <a:spAutoFit/>
          </a:bodyPr>
          <a:lstStyle/>
          <a:p>
            <a:pPr algn="ctr"/>
            <a:r>
              <a:rPr sz="1200" b="0">
                <a:solidFill>
                  <a:srgbClr val="6080CC"/>
                </a:solidFill>
              </a:rPr>
              <a:t>[ADD: Preprocessing Preview Panel]</a:t>
            </a:r>
          </a:p>
        </p:txBody>
      </p:sp>
      <p:pic>
        <p:nvPicPr>
          <p:cNvPr id="25" name="Picture 24">
            <a:extLst>
              <a:ext uri="{FF2B5EF4-FFF2-40B4-BE49-F238E27FC236}">
                <a16:creationId xmlns:a16="http://schemas.microsoft.com/office/drawing/2014/main" id="{1F77CD2F-65BC-CBE3-4A76-F645399E8F56}"/>
              </a:ext>
            </a:extLst>
          </p:cNvPr>
          <p:cNvPicPr>
            <a:picLocks noChangeAspect="1"/>
          </p:cNvPicPr>
          <p:nvPr/>
        </p:nvPicPr>
        <p:blipFill>
          <a:blip r:embed="rId3"/>
          <a:srcRect l="18562" t="7936" r="19254"/>
          <a:stretch>
            <a:fillRect/>
          </a:stretch>
        </p:blipFill>
        <p:spPr>
          <a:xfrm>
            <a:off x="4142777" y="3766266"/>
            <a:ext cx="3691980" cy="2697480"/>
          </a:xfrm>
          <a:prstGeom prst="rect">
            <a:avLst/>
          </a:prstGeom>
        </p:spPr>
      </p:pic>
      <p:pic>
        <p:nvPicPr>
          <p:cNvPr id="27" name="Picture 26">
            <a:extLst>
              <a:ext uri="{FF2B5EF4-FFF2-40B4-BE49-F238E27FC236}">
                <a16:creationId xmlns:a16="http://schemas.microsoft.com/office/drawing/2014/main" id="{86027DDA-36C7-9FD9-3DCC-66B009C0B1BE}"/>
              </a:ext>
            </a:extLst>
          </p:cNvPr>
          <p:cNvPicPr>
            <a:picLocks noChangeAspect="1"/>
          </p:cNvPicPr>
          <p:nvPr/>
        </p:nvPicPr>
        <p:blipFill>
          <a:blip r:embed="rId4"/>
          <a:srcRect l="19020" t="7531" r="19448"/>
          <a:stretch>
            <a:fillRect/>
          </a:stretch>
        </p:blipFill>
        <p:spPr>
          <a:xfrm>
            <a:off x="8010145" y="3811941"/>
            <a:ext cx="3922648" cy="2697480"/>
          </a:xfrm>
          <a:prstGeom prst="rect">
            <a:avLst/>
          </a:prstGeom>
        </p:spPr>
      </p:pic>
      <p:pic>
        <p:nvPicPr>
          <p:cNvPr id="29" name="Picture 28">
            <a:extLst>
              <a:ext uri="{FF2B5EF4-FFF2-40B4-BE49-F238E27FC236}">
                <a16:creationId xmlns:a16="http://schemas.microsoft.com/office/drawing/2014/main" id="{F6E6ECE3-7B44-DDD9-82A2-AC912D0BC03E}"/>
              </a:ext>
            </a:extLst>
          </p:cNvPr>
          <p:cNvPicPr>
            <a:picLocks noChangeAspect="1"/>
          </p:cNvPicPr>
          <p:nvPr/>
        </p:nvPicPr>
        <p:blipFill>
          <a:blip r:embed="rId5"/>
          <a:srcRect t="6484"/>
          <a:stretch>
            <a:fillRect/>
          </a:stretch>
        </p:blipFill>
        <p:spPr>
          <a:xfrm>
            <a:off x="256030" y="1162396"/>
            <a:ext cx="3749039" cy="2476916"/>
          </a:xfrm>
          <a:prstGeom prst="rect">
            <a:avLst/>
          </a:prstGeom>
        </p:spPr>
      </p:pic>
      <p:pic>
        <p:nvPicPr>
          <p:cNvPr id="33" name="Picture 32">
            <a:extLst>
              <a:ext uri="{FF2B5EF4-FFF2-40B4-BE49-F238E27FC236}">
                <a16:creationId xmlns:a16="http://schemas.microsoft.com/office/drawing/2014/main" id="{F02C91FC-ADAD-78B6-BF57-598054E085C6}"/>
              </a:ext>
            </a:extLst>
          </p:cNvPr>
          <p:cNvPicPr>
            <a:picLocks noChangeAspect="1"/>
          </p:cNvPicPr>
          <p:nvPr/>
        </p:nvPicPr>
        <p:blipFill>
          <a:blip r:embed="rId6"/>
          <a:stretch>
            <a:fillRect/>
          </a:stretch>
        </p:blipFill>
        <p:spPr>
          <a:xfrm>
            <a:off x="4178680" y="1140830"/>
            <a:ext cx="3703445" cy="2460844"/>
          </a:xfrm>
          <a:prstGeom prst="rect">
            <a:avLst/>
          </a:prstGeom>
        </p:spPr>
      </p:pic>
      <p:pic>
        <p:nvPicPr>
          <p:cNvPr id="35" name="Picture 34">
            <a:extLst>
              <a:ext uri="{FF2B5EF4-FFF2-40B4-BE49-F238E27FC236}">
                <a16:creationId xmlns:a16="http://schemas.microsoft.com/office/drawing/2014/main" id="{E6EAF238-8552-612B-5F0A-0EC986FF6575}"/>
              </a:ext>
            </a:extLst>
          </p:cNvPr>
          <p:cNvPicPr>
            <a:picLocks noChangeAspect="1"/>
          </p:cNvPicPr>
          <p:nvPr/>
        </p:nvPicPr>
        <p:blipFill>
          <a:blip r:embed="rId7"/>
          <a:srcRect t="7936"/>
          <a:stretch>
            <a:fillRect/>
          </a:stretch>
        </p:blipFill>
        <p:spPr>
          <a:xfrm>
            <a:off x="8010142" y="1178468"/>
            <a:ext cx="3922651" cy="2468881"/>
          </a:xfrm>
          <a:prstGeom prst="rect">
            <a:avLst/>
          </a:prstGeom>
        </p:spPr>
      </p:pic>
      <p:pic>
        <p:nvPicPr>
          <p:cNvPr id="26" name="Picture 25">
            <a:extLst>
              <a:ext uri="{FF2B5EF4-FFF2-40B4-BE49-F238E27FC236}">
                <a16:creationId xmlns:a16="http://schemas.microsoft.com/office/drawing/2014/main" id="{61435816-1DDC-959C-4209-AE8DB2D1556A}"/>
              </a:ext>
            </a:extLst>
          </p:cNvPr>
          <p:cNvPicPr>
            <a:picLocks noChangeAspect="1"/>
          </p:cNvPicPr>
          <p:nvPr/>
        </p:nvPicPr>
        <p:blipFill>
          <a:blip r:embed="rId8"/>
          <a:srcRect t="8213"/>
          <a:stretch>
            <a:fillRect/>
          </a:stretch>
        </p:blipFill>
        <p:spPr>
          <a:xfrm>
            <a:off x="258227" y="3766266"/>
            <a:ext cx="3691980" cy="2698542"/>
          </a:xfrm>
          <a:prstGeom prst="rect">
            <a:avLst/>
          </a:prstGeom>
        </p:spPr>
      </p:pic>
      <p:pic>
        <p:nvPicPr>
          <p:cNvPr id="24" name="Picture 23">
            <a:extLst>
              <a:ext uri="{FF2B5EF4-FFF2-40B4-BE49-F238E27FC236}">
                <a16:creationId xmlns:a16="http://schemas.microsoft.com/office/drawing/2014/main" id="{68F971F6-D985-C29F-450F-9D8DC782D7AE}"/>
              </a:ext>
            </a:extLst>
          </p:cNvPr>
          <p:cNvPicPr>
            <a:picLocks noChangeAspect="1"/>
          </p:cNvPicPr>
          <p:nvPr/>
        </p:nvPicPr>
        <p:blipFill>
          <a:blip r:embed="rId9"/>
          <a:srcRect l="17962" t="32733" r="14250" b="40471"/>
          <a:stretch>
            <a:fillRect/>
          </a:stretch>
        </p:blipFill>
        <p:spPr>
          <a:xfrm>
            <a:off x="10287924" y="198379"/>
            <a:ext cx="1676854" cy="493776"/>
          </a:xfrm>
          <a:prstGeom prst="rect">
            <a:avLst/>
          </a:prstGeom>
        </p:spPr>
      </p:pic>
    </p:spTree>
    <p:extLst>
      <p:ext uri="{BB962C8B-B14F-4D97-AF65-F5344CB8AC3E}">
        <p14:creationId xmlns:p14="http://schemas.microsoft.com/office/powerpoint/2010/main" val="458901421"/>
      </p:ext>
    </p:extLst>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Backend API Exposure &amp; Storage Ecosystem</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FastAPI + Pydantic · MinIO + PostgreSQL PGVector + Redis · Celery task queue</a:t>
            </a:r>
          </a:p>
        </p:txBody>
      </p:sp>
      <p:sp>
        <p:nvSpPr>
          <p:cNvPr id="6" name="TextBox 5"/>
          <p:cNvSpPr txBox="1"/>
          <p:nvPr/>
        </p:nvSpPr>
        <p:spPr>
          <a:xfrm>
            <a:off x="256032" y="1143000"/>
            <a:ext cx="5577840" cy="3362459"/>
          </a:xfrm>
          <a:prstGeom prst="rect">
            <a:avLst/>
          </a:prstGeom>
          <a:noFill/>
        </p:spPr>
        <p:txBody>
          <a:bodyPr wrap="square">
            <a:spAutoFit/>
          </a:bodyPr>
          <a:lstStyle/>
          <a:p>
            <a:pPr algn="l"/>
            <a:r>
              <a:rPr sz="1250" dirty="0">
                <a:solidFill>
                  <a:srgbClr val="CCD6F1"/>
                </a:solidFill>
              </a:rPr>
              <a:t>    FASTAPI BACKEND:</a:t>
            </a:r>
          </a:p>
          <a:p>
            <a:pPr algn="l"/>
            <a:r>
              <a:rPr sz="1250" dirty="0">
                <a:solidFill>
                  <a:srgbClr val="CCD6F1"/>
                </a:solidFill>
              </a:rPr>
              <a:t>    • Strict </a:t>
            </a:r>
            <a:r>
              <a:rPr sz="1250" dirty="0" err="1">
                <a:solidFill>
                  <a:srgbClr val="CCD6F1"/>
                </a:solidFill>
              </a:rPr>
              <a:t>Pydantic</a:t>
            </a:r>
            <a:r>
              <a:rPr sz="1250" dirty="0">
                <a:solidFill>
                  <a:srgbClr val="CCD6F1"/>
                </a:solidFill>
              </a:rPr>
              <a:t> payload validation</a:t>
            </a:r>
          </a:p>
          <a:p>
            <a:pPr algn="l"/>
            <a:r>
              <a:rPr sz="1250" dirty="0">
                <a:solidFill>
                  <a:srgbClr val="CCD6F1"/>
                </a:solidFill>
              </a:rPr>
              <a:t>    • Swagger UI auto-generated (interactive docs)</a:t>
            </a:r>
          </a:p>
          <a:p>
            <a:pPr algn="l"/>
            <a:r>
              <a:rPr sz="1250" dirty="0">
                <a:solidFill>
                  <a:srgbClr val="CCD6F1"/>
                </a:solidFill>
              </a:rPr>
              <a:t>    • Route groups: Chat, Auth, Upload, RAG, Dev Tools</a:t>
            </a:r>
          </a:p>
          <a:p>
            <a:pPr algn="l"/>
            <a:r>
              <a:rPr sz="1250" dirty="0">
                <a:solidFill>
                  <a:srgbClr val="CCD6F1"/>
                </a:solidFill>
              </a:rPr>
              <a:t>    • SSE (Server-Sent Events) for streaming LLM tokens</a:t>
            </a:r>
          </a:p>
          <a:p>
            <a:pPr algn="l"/>
            <a:r>
              <a:rPr sz="1250" dirty="0">
                <a:solidFill>
                  <a:srgbClr val="CCD6F1"/>
                </a:solidFill>
              </a:rPr>
              <a:t>    • Sidecar process (sidecar_main.py) for auxiliary tasks</a:t>
            </a:r>
          </a:p>
          <a:p>
            <a:pPr algn="l"/>
            <a:r>
              <a:rPr sz="1250" dirty="0">
                <a:solidFill>
                  <a:srgbClr val="CCD6F1"/>
                </a:solidFill>
              </a:rPr>
              <a:t>  </a:t>
            </a:r>
          </a:p>
          <a:p>
            <a:pPr algn="l"/>
            <a:r>
              <a:rPr sz="1250" dirty="0">
                <a:solidFill>
                  <a:srgbClr val="CCD6F1"/>
                </a:solidFill>
              </a:rPr>
              <a:t>  API MODULES:</a:t>
            </a:r>
          </a:p>
          <a:p>
            <a:pPr algn="l"/>
            <a:r>
              <a:rPr sz="1250" dirty="0">
                <a:solidFill>
                  <a:srgbClr val="CCD6F1"/>
                </a:solidFill>
              </a:rPr>
              <a:t>    • backend/</a:t>
            </a:r>
            <a:r>
              <a:rPr sz="1250" dirty="0" err="1">
                <a:solidFill>
                  <a:srgbClr val="CCD6F1"/>
                </a:solidFill>
              </a:rPr>
              <a:t>api</a:t>
            </a:r>
            <a:r>
              <a:rPr sz="1250" dirty="0">
                <a:solidFill>
                  <a:srgbClr val="CCD6F1"/>
                </a:solidFill>
              </a:rPr>
              <a:t>/    – route definitions</a:t>
            </a:r>
          </a:p>
          <a:p>
            <a:pPr algn="l"/>
            <a:r>
              <a:rPr sz="1250" dirty="0">
                <a:solidFill>
                  <a:srgbClr val="CCD6F1"/>
                </a:solidFill>
              </a:rPr>
              <a:t>    • backend/main/   – </a:t>
            </a:r>
            <a:r>
              <a:rPr sz="1250" dirty="0" err="1">
                <a:solidFill>
                  <a:srgbClr val="CCD6F1"/>
                </a:solidFill>
              </a:rPr>
              <a:t>FastAPI</a:t>
            </a:r>
            <a:r>
              <a:rPr sz="1250" dirty="0">
                <a:solidFill>
                  <a:srgbClr val="CCD6F1"/>
                </a:solidFill>
              </a:rPr>
              <a:t> app factory</a:t>
            </a:r>
          </a:p>
          <a:p>
            <a:pPr algn="l"/>
            <a:r>
              <a:rPr sz="1250" dirty="0">
                <a:solidFill>
                  <a:srgbClr val="CCD6F1"/>
                </a:solidFill>
              </a:rPr>
              <a:t>    • backend/pml_main.py – PML service </a:t>
            </a:r>
            <a:r>
              <a:rPr sz="1250" dirty="0" err="1">
                <a:solidFill>
                  <a:srgbClr val="CCD6F1"/>
                </a:solidFill>
              </a:rPr>
              <a:t>entrypoint</a:t>
            </a:r>
            <a:endParaRPr sz="1250" dirty="0">
              <a:solidFill>
                <a:srgbClr val="CCD6F1"/>
              </a:solidFill>
            </a:endParaRPr>
          </a:p>
          <a:p>
            <a:pPr algn="l"/>
            <a:r>
              <a:rPr sz="1250" dirty="0">
                <a:solidFill>
                  <a:srgbClr val="CCD6F1"/>
                </a:solidFill>
              </a:rPr>
              <a:t>    • backend/sidecar_main.py – background sidecar</a:t>
            </a:r>
          </a:p>
          <a:p>
            <a:pPr algn="l"/>
            <a:r>
              <a:rPr sz="1250" dirty="0">
                <a:solidFill>
                  <a:srgbClr val="CCD6F1"/>
                </a:solidFill>
              </a:rPr>
              <a:t>  </a:t>
            </a:r>
          </a:p>
          <a:p>
            <a:pPr algn="l"/>
            <a:r>
              <a:rPr sz="1250" dirty="0">
                <a:solidFill>
                  <a:srgbClr val="CCD6F1"/>
                </a:solidFill>
              </a:rPr>
              <a:t>   ASYNC WORKERS:</a:t>
            </a:r>
          </a:p>
          <a:p>
            <a:pPr algn="l"/>
            <a:r>
              <a:rPr sz="1250" dirty="0">
                <a:solidFill>
                  <a:srgbClr val="CCD6F1"/>
                </a:solidFill>
              </a:rPr>
              <a:t>    • Celery + Redis broker for PDF ingestion jobs</a:t>
            </a:r>
          </a:p>
          <a:p>
            <a:pPr algn="l"/>
            <a:r>
              <a:rPr sz="1250" dirty="0">
                <a:solidFill>
                  <a:srgbClr val="CCD6F1"/>
                </a:solidFill>
              </a:rPr>
              <a:t>    • </a:t>
            </a:r>
            <a:r>
              <a:rPr sz="1250" dirty="0" err="1">
                <a:solidFill>
                  <a:srgbClr val="CCD6F1"/>
                </a:solidFill>
              </a:rPr>
              <a:t>Celerybeat</a:t>
            </a:r>
            <a:r>
              <a:rPr sz="1250" dirty="0">
                <a:solidFill>
                  <a:srgbClr val="CCD6F1"/>
                </a:solidFill>
              </a:rPr>
              <a:t> scheduler for periodic tasks</a:t>
            </a:r>
          </a:p>
          <a:p>
            <a:pPr algn="l"/>
            <a:r>
              <a:rPr sz="1250" dirty="0">
                <a:solidFill>
                  <a:srgbClr val="CCD6F1"/>
                </a:solidFill>
              </a:rPr>
              <a:t>    • Job ID tracking with </a:t>
            </a:r>
            <a:r>
              <a:rPr sz="1250" dirty="0" err="1">
                <a:solidFill>
                  <a:srgbClr val="CCD6F1"/>
                </a:solidFill>
              </a:rPr>
              <a:t>upload_cancellation</a:t>
            </a:r>
            <a:r>
              <a:rPr sz="1250" dirty="0">
                <a:solidFill>
                  <a:srgbClr val="CCD6F1"/>
                </a:solidFill>
              </a:rPr>
              <a:t> support</a:t>
            </a:r>
          </a:p>
        </p:txBody>
      </p:sp>
      <p:sp>
        <p:nvSpPr>
          <p:cNvPr id="7" name="TextBox 6"/>
          <p:cNvSpPr txBox="1"/>
          <p:nvPr/>
        </p:nvSpPr>
        <p:spPr>
          <a:xfrm>
            <a:off x="5943600" y="1143000"/>
            <a:ext cx="5943600" cy="3554819"/>
          </a:xfrm>
          <a:prstGeom prst="rect">
            <a:avLst/>
          </a:prstGeom>
          <a:noFill/>
        </p:spPr>
        <p:txBody>
          <a:bodyPr wrap="square">
            <a:spAutoFit/>
          </a:bodyPr>
          <a:lstStyle/>
          <a:p>
            <a:pPr algn="l"/>
            <a:r>
              <a:rPr sz="1250" dirty="0">
                <a:solidFill>
                  <a:srgbClr val="CCD6F1"/>
                </a:solidFill>
              </a:rPr>
              <a:t>   STORAGE LAYERS:</a:t>
            </a:r>
          </a:p>
          <a:p>
            <a:pPr algn="l"/>
            <a:r>
              <a:rPr sz="1250" dirty="0">
                <a:solidFill>
                  <a:srgbClr val="CCD6F1"/>
                </a:solidFill>
              </a:rPr>
              <a:t>  </a:t>
            </a:r>
          </a:p>
          <a:p>
            <a:pPr algn="l"/>
            <a:r>
              <a:rPr sz="1250" dirty="0">
                <a:solidFill>
                  <a:srgbClr val="CCD6F1"/>
                </a:solidFill>
              </a:rPr>
              <a:t>    </a:t>
            </a:r>
            <a:r>
              <a:rPr sz="1250" dirty="0" err="1">
                <a:solidFill>
                  <a:srgbClr val="CCD6F1"/>
                </a:solidFill>
              </a:rPr>
              <a:t>MinIO</a:t>
            </a:r>
            <a:r>
              <a:rPr sz="1250" dirty="0">
                <a:solidFill>
                  <a:srgbClr val="CCD6F1"/>
                </a:solidFill>
              </a:rPr>
              <a:t> (S3-compatible Object Store):</a:t>
            </a:r>
          </a:p>
          <a:p>
            <a:pPr algn="l"/>
            <a:r>
              <a:rPr sz="1250" dirty="0">
                <a:solidFill>
                  <a:srgbClr val="CCD6F1"/>
                </a:solidFill>
              </a:rPr>
              <a:t>    – Raw PDFs and binary blobs</a:t>
            </a:r>
          </a:p>
          <a:p>
            <a:pPr algn="l"/>
            <a:r>
              <a:rPr sz="1250" dirty="0">
                <a:solidFill>
                  <a:srgbClr val="CCD6F1"/>
                </a:solidFill>
              </a:rPr>
              <a:t>    – Isolated from relational DB</a:t>
            </a:r>
          </a:p>
          <a:p>
            <a:pPr algn="l"/>
            <a:r>
              <a:rPr sz="1250" dirty="0">
                <a:solidFill>
                  <a:srgbClr val="CCD6F1"/>
                </a:solidFill>
              </a:rPr>
              <a:t>    – Local </a:t>
            </a:r>
            <a:r>
              <a:rPr sz="1250" dirty="0" err="1">
                <a:solidFill>
                  <a:srgbClr val="CCD6F1"/>
                </a:solidFill>
              </a:rPr>
              <a:t>minio</a:t>
            </a:r>
            <a:r>
              <a:rPr sz="1250" dirty="0">
                <a:solidFill>
                  <a:srgbClr val="CCD6F1"/>
                </a:solidFill>
              </a:rPr>
              <a:t>-data/ volume</a:t>
            </a:r>
          </a:p>
          <a:p>
            <a:pPr algn="l"/>
            <a:r>
              <a:rPr sz="1250" dirty="0">
                <a:solidFill>
                  <a:srgbClr val="CCD6F1"/>
                </a:solidFill>
              </a:rPr>
              <a:t>  </a:t>
            </a:r>
          </a:p>
          <a:p>
            <a:pPr algn="l"/>
            <a:r>
              <a:rPr sz="1250" dirty="0">
                <a:solidFill>
                  <a:srgbClr val="CCD6F1"/>
                </a:solidFill>
              </a:rPr>
              <a:t>    PostgreSQL + </a:t>
            </a:r>
            <a:r>
              <a:rPr sz="1250" dirty="0" err="1">
                <a:solidFill>
                  <a:srgbClr val="CCD6F1"/>
                </a:solidFill>
              </a:rPr>
              <a:t>PGVector</a:t>
            </a:r>
            <a:r>
              <a:rPr sz="1250" dirty="0">
                <a:solidFill>
                  <a:srgbClr val="CCD6F1"/>
                </a:solidFill>
              </a:rPr>
              <a:t> (Vector DB):</a:t>
            </a:r>
          </a:p>
          <a:p>
            <a:pPr algn="l"/>
            <a:r>
              <a:rPr sz="1250" dirty="0">
                <a:solidFill>
                  <a:srgbClr val="CCD6F1"/>
                </a:solidFill>
              </a:rPr>
              <a:t>    – User accounts, projects, session data</a:t>
            </a:r>
          </a:p>
          <a:p>
            <a:pPr algn="l"/>
            <a:r>
              <a:rPr sz="1250" dirty="0">
                <a:solidFill>
                  <a:srgbClr val="CCD6F1"/>
                </a:solidFill>
              </a:rPr>
              <a:t>    – 1024-dimensional BAAI/bge-m3 vector index</a:t>
            </a:r>
          </a:p>
          <a:p>
            <a:pPr algn="l"/>
            <a:r>
              <a:rPr sz="1250" dirty="0">
                <a:solidFill>
                  <a:srgbClr val="CCD6F1"/>
                </a:solidFill>
              </a:rPr>
              <a:t>    – </a:t>
            </a:r>
            <a:r>
              <a:rPr sz="1250" dirty="0" err="1">
                <a:solidFill>
                  <a:srgbClr val="CCD6F1"/>
                </a:solidFill>
              </a:rPr>
              <a:t>langchain_pg_embedding</a:t>
            </a:r>
            <a:r>
              <a:rPr sz="1250" dirty="0">
                <a:solidFill>
                  <a:srgbClr val="CCD6F1"/>
                </a:solidFill>
              </a:rPr>
              <a:t> + </a:t>
            </a:r>
            <a:r>
              <a:rPr sz="1250" dirty="0" err="1">
                <a:solidFill>
                  <a:srgbClr val="CCD6F1"/>
                </a:solidFill>
              </a:rPr>
              <a:t>langchain_pg_collection</a:t>
            </a:r>
            <a:r>
              <a:rPr sz="1250" dirty="0">
                <a:solidFill>
                  <a:srgbClr val="CCD6F1"/>
                </a:solidFill>
              </a:rPr>
              <a:t> tables</a:t>
            </a:r>
          </a:p>
          <a:p>
            <a:pPr algn="l"/>
            <a:r>
              <a:rPr sz="1250" dirty="0">
                <a:solidFill>
                  <a:srgbClr val="CCD6F1"/>
                </a:solidFill>
              </a:rPr>
              <a:t>    – Revision-safe </a:t>
            </a:r>
            <a:r>
              <a:rPr sz="1250" dirty="0" err="1">
                <a:solidFill>
                  <a:srgbClr val="CCD6F1"/>
                </a:solidFill>
              </a:rPr>
              <a:t>upsert</a:t>
            </a:r>
            <a:r>
              <a:rPr sz="1250" dirty="0">
                <a:solidFill>
                  <a:srgbClr val="CCD6F1"/>
                </a:solidFill>
              </a:rPr>
              <a:t> strategy</a:t>
            </a:r>
          </a:p>
          <a:p>
            <a:pPr algn="l"/>
            <a:r>
              <a:rPr sz="1250" dirty="0">
                <a:solidFill>
                  <a:srgbClr val="CCD6F1"/>
                </a:solidFill>
              </a:rPr>
              <a:t>  </a:t>
            </a:r>
          </a:p>
          <a:p>
            <a:pPr algn="l"/>
            <a:r>
              <a:rPr sz="1250" dirty="0">
                <a:solidFill>
                  <a:srgbClr val="CCD6F1"/>
                </a:solidFill>
              </a:rPr>
              <a:t>    Redis (Key-Value Store):</a:t>
            </a:r>
          </a:p>
          <a:p>
            <a:pPr algn="l"/>
            <a:r>
              <a:rPr sz="1250" dirty="0">
                <a:solidFill>
                  <a:srgbClr val="CCD6F1"/>
                </a:solidFill>
              </a:rPr>
              <a:t>    – SSE streaming state tracking</a:t>
            </a:r>
          </a:p>
          <a:p>
            <a:pPr algn="l"/>
            <a:r>
              <a:rPr sz="1250" dirty="0">
                <a:solidFill>
                  <a:srgbClr val="CCD6F1"/>
                </a:solidFill>
              </a:rPr>
              <a:t>    – Celery task broker + result backend</a:t>
            </a:r>
          </a:p>
          <a:p>
            <a:pPr algn="l"/>
            <a:r>
              <a:rPr sz="1250" dirty="0">
                <a:solidFill>
                  <a:srgbClr val="CCD6F1"/>
                </a:solidFill>
              </a:rPr>
              <a:t>    – Session abort signals (</a:t>
            </a:r>
            <a:r>
              <a:rPr sz="1250" dirty="0" err="1">
                <a:solidFill>
                  <a:srgbClr val="CCD6F1"/>
                </a:solidFill>
              </a:rPr>
              <a:t>is_aborted</a:t>
            </a:r>
            <a:r>
              <a:rPr sz="1250" dirty="0">
                <a:solidFill>
                  <a:srgbClr val="CCD6F1"/>
                </a:solidFill>
              </a:rPr>
              <a:t>())</a:t>
            </a:r>
          </a:p>
          <a:p>
            <a:pPr algn="l"/>
            <a:r>
              <a:rPr sz="1250" dirty="0">
                <a:solidFill>
                  <a:srgbClr val="CCD6F1"/>
                </a:solidFill>
              </a:rPr>
              <a:t>    – Used-chunk deduplication per session</a:t>
            </a:r>
          </a:p>
        </p:txBody>
      </p:sp>
      <p:pic>
        <p:nvPicPr>
          <p:cNvPr id="8" name="Picture 7">
            <a:extLst>
              <a:ext uri="{FF2B5EF4-FFF2-40B4-BE49-F238E27FC236}">
                <a16:creationId xmlns:a16="http://schemas.microsoft.com/office/drawing/2014/main" id="{A7DBA447-7554-72FC-0E8A-1C38845C81C7}"/>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New Features &amp; Enhancements</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Since initial release – advanced pipeline capabilities and quality gates</a:t>
            </a:r>
          </a:p>
        </p:txBody>
      </p:sp>
      <p:sp>
        <p:nvSpPr>
          <p:cNvPr id="6" name="TextBox 5"/>
          <p:cNvSpPr txBox="1"/>
          <p:nvPr/>
        </p:nvSpPr>
        <p:spPr>
          <a:xfrm>
            <a:off x="256032" y="1170432"/>
            <a:ext cx="3794760" cy="2677656"/>
          </a:xfrm>
          <a:prstGeom prst="rect">
            <a:avLst/>
          </a:prstGeom>
          <a:noFill/>
        </p:spPr>
        <p:txBody>
          <a:bodyPr wrap="square">
            <a:spAutoFit/>
          </a:bodyPr>
          <a:lstStyle/>
          <a:p>
            <a:pPr algn="l"/>
            <a:r>
              <a:rPr sz="1200" dirty="0">
                <a:solidFill>
                  <a:srgbClr val="CCD6F1"/>
                </a:solidFill>
              </a:rPr>
              <a:t>   AGENTIC REVIEW PIPELINE</a:t>
            </a:r>
          </a:p>
          <a:p>
            <a:pPr algn="l"/>
            <a:r>
              <a:rPr sz="1200" dirty="0">
                <a:solidFill>
                  <a:srgbClr val="CCD6F1"/>
                </a:solidFill>
              </a:rPr>
              <a:t>    7-stage deliberation chain with 3 local models</a:t>
            </a:r>
          </a:p>
          <a:p>
            <a:pPr algn="l"/>
            <a:r>
              <a:rPr sz="1200" dirty="0">
                <a:solidFill>
                  <a:srgbClr val="CCD6F1"/>
                </a:solidFill>
              </a:rPr>
              <a:t>    Strict factual heuristic + LLM reviewer gate</a:t>
            </a:r>
          </a:p>
          <a:p>
            <a:pPr algn="l"/>
            <a:r>
              <a:rPr sz="1200" dirty="0">
                <a:solidFill>
                  <a:srgbClr val="CCD6F1"/>
                </a:solidFill>
              </a:rPr>
              <a:t>    Senior escalation for conflicts &amp; ambiguities</a:t>
            </a:r>
          </a:p>
          <a:p>
            <a:pPr algn="l"/>
            <a:r>
              <a:rPr sz="1200" dirty="0">
                <a:solidFill>
                  <a:srgbClr val="CCD6F1"/>
                </a:solidFill>
              </a:rPr>
              <a:t>  </a:t>
            </a:r>
          </a:p>
          <a:p>
            <a:pPr algn="l"/>
            <a:r>
              <a:rPr sz="1200" dirty="0">
                <a:solidFill>
                  <a:srgbClr val="CCD6F1"/>
                </a:solidFill>
              </a:rPr>
              <a:t>  MULTI-LANE RETRIEVAL</a:t>
            </a:r>
          </a:p>
          <a:p>
            <a:pPr algn="l"/>
            <a:r>
              <a:rPr sz="1200" dirty="0">
                <a:solidFill>
                  <a:srgbClr val="CCD6F1"/>
                </a:solidFill>
              </a:rPr>
              <a:t>    Separate text / parent / image / child lanes</a:t>
            </a:r>
          </a:p>
          <a:p>
            <a:pPr algn="l"/>
            <a:r>
              <a:rPr sz="1200" dirty="0">
                <a:solidFill>
                  <a:srgbClr val="CCD6F1"/>
                </a:solidFill>
              </a:rPr>
              <a:t>    Prevents child-row domination of results</a:t>
            </a:r>
          </a:p>
          <a:p>
            <a:pPr algn="l"/>
            <a:r>
              <a:rPr sz="1200" dirty="0">
                <a:solidFill>
                  <a:srgbClr val="CCD6F1"/>
                </a:solidFill>
              </a:rPr>
              <a:t>    Deterministic parent lookup by </a:t>
            </a:r>
            <a:r>
              <a:rPr sz="1200" dirty="0" err="1">
                <a:solidFill>
                  <a:srgbClr val="CCD6F1"/>
                </a:solidFill>
              </a:rPr>
              <a:t>doc_id</a:t>
            </a:r>
            <a:r>
              <a:rPr sz="1200" dirty="0">
                <a:solidFill>
                  <a:srgbClr val="CCD6F1"/>
                </a:solidFill>
              </a:rPr>
              <a:t> SQL</a:t>
            </a:r>
          </a:p>
          <a:p>
            <a:pPr algn="l"/>
            <a:r>
              <a:rPr sz="1200" dirty="0">
                <a:solidFill>
                  <a:srgbClr val="CCD6F1"/>
                </a:solidFill>
              </a:rPr>
              <a:t>  </a:t>
            </a:r>
          </a:p>
          <a:p>
            <a:pPr algn="l"/>
            <a:r>
              <a:rPr sz="1200" dirty="0">
                <a:solidFill>
                  <a:srgbClr val="CCD6F1"/>
                </a:solidFill>
              </a:rPr>
              <a:t>    QUERY PROFILE ROUTING</a:t>
            </a:r>
          </a:p>
          <a:p>
            <a:pPr algn="l"/>
            <a:r>
              <a:rPr sz="1200" dirty="0">
                <a:solidFill>
                  <a:srgbClr val="CCD6F1"/>
                </a:solidFill>
              </a:rPr>
              <a:t>    7 profiles: metadata, table, image, summary,</a:t>
            </a:r>
          </a:p>
          <a:p>
            <a:pPr algn="l"/>
            <a:r>
              <a:rPr sz="1200" dirty="0">
                <a:solidFill>
                  <a:srgbClr val="CCD6F1"/>
                </a:solidFill>
              </a:rPr>
              <a:t>    explanation, factual, general</a:t>
            </a:r>
          </a:p>
          <a:p>
            <a:pPr algn="l"/>
            <a:r>
              <a:rPr sz="1200" dirty="0">
                <a:solidFill>
                  <a:srgbClr val="CCD6F1"/>
                </a:solidFill>
              </a:rPr>
              <a:t>    Per-profile element weights + lane budgets</a:t>
            </a:r>
          </a:p>
        </p:txBody>
      </p:sp>
      <p:sp>
        <p:nvSpPr>
          <p:cNvPr id="7" name="TextBox 6"/>
          <p:cNvSpPr txBox="1"/>
          <p:nvPr/>
        </p:nvSpPr>
        <p:spPr>
          <a:xfrm>
            <a:off x="4160520" y="1170432"/>
            <a:ext cx="3794760" cy="2862322"/>
          </a:xfrm>
          <a:prstGeom prst="rect">
            <a:avLst/>
          </a:prstGeom>
          <a:noFill/>
        </p:spPr>
        <p:txBody>
          <a:bodyPr wrap="square">
            <a:spAutoFit/>
          </a:bodyPr>
          <a:lstStyle/>
          <a:p>
            <a:pPr algn="l"/>
            <a:r>
              <a:rPr sz="1200" dirty="0">
                <a:solidFill>
                  <a:srgbClr val="CCD6F1"/>
                </a:solidFill>
              </a:rPr>
              <a:t>    DOCUMENT-TYPE AWARE CHUNKING</a:t>
            </a:r>
          </a:p>
          <a:p>
            <a:pPr algn="l"/>
            <a:r>
              <a:rPr sz="1200" dirty="0">
                <a:solidFill>
                  <a:srgbClr val="CCD6F1"/>
                </a:solidFill>
              </a:rPr>
              <a:t>    Auto-detect: spec, procedure, report, drawing, datasheet</a:t>
            </a:r>
          </a:p>
          <a:p>
            <a:pPr algn="l"/>
            <a:r>
              <a:rPr sz="1200" dirty="0">
                <a:solidFill>
                  <a:srgbClr val="CCD6F1"/>
                </a:solidFill>
              </a:rPr>
              <a:t>    Tailored </a:t>
            </a:r>
            <a:r>
              <a:rPr sz="1200" dirty="0" err="1">
                <a:solidFill>
                  <a:srgbClr val="CCD6F1"/>
                </a:solidFill>
              </a:rPr>
              <a:t>chunk_size</a:t>
            </a:r>
            <a:r>
              <a:rPr sz="1200" dirty="0">
                <a:solidFill>
                  <a:srgbClr val="CCD6F1"/>
                </a:solidFill>
              </a:rPr>
              <a:t> + overlap per doc type</a:t>
            </a:r>
          </a:p>
          <a:p>
            <a:pPr algn="l"/>
            <a:r>
              <a:rPr sz="1200" dirty="0">
                <a:solidFill>
                  <a:srgbClr val="CCD6F1"/>
                </a:solidFill>
              </a:rPr>
              <a:t>    Content + filename signals (no LLM needed)</a:t>
            </a:r>
          </a:p>
          <a:p>
            <a:pPr algn="l"/>
            <a:r>
              <a:rPr sz="1200" dirty="0">
                <a:solidFill>
                  <a:srgbClr val="CCD6F1"/>
                </a:solidFill>
              </a:rPr>
              <a:t>  </a:t>
            </a:r>
          </a:p>
          <a:p>
            <a:pPr algn="l"/>
            <a:r>
              <a:rPr sz="1200" dirty="0">
                <a:solidFill>
                  <a:srgbClr val="CCD6F1"/>
                </a:solidFill>
              </a:rPr>
              <a:t>    INLINE METADATA EXTRACTION</a:t>
            </a:r>
          </a:p>
          <a:p>
            <a:pPr algn="l"/>
            <a:r>
              <a:rPr sz="1200" dirty="0">
                <a:solidFill>
                  <a:srgbClr val="CCD6F1"/>
                </a:solidFill>
              </a:rPr>
              <a:t>    Page-1 preview fast path (metadata mode)</a:t>
            </a:r>
          </a:p>
          <a:p>
            <a:pPr algn="l"/>
            <a:r>
              <a:rPr sz="1200" dirty="0">
                <a:solidFill>
                  <a:srgbClr val="CCD6F1"/>
                </a:solidFill>
              </a:rPr>
              <a:t>    LLM-extracted: </a:t>
            </a:r>
            <a:r>
              <a:rPr sz="1200" dirty="0" err="1">
                <a:solidFill>
                  <a:srgbClr val="CCD6F1"/>
                </a:solidFill>
              </a:rPr>
              <a:t>doc_type</a:t>
            </a:r>
            <a:r>
              <a:rPr sz="1200" dirty="0">
                <a:solidFill>
                  <a:srgbClr val="CCD6F1"/>
                </a:solidFill>
              </a:rPr>
              <a:t>, revision, </a:t>
            </a:r>
            <a:r>
              <a:rPr sz="1200" dirty="0" err="1">
                <a:solidFill>
                  <a:srgbClr val="CCD6F1"/>
                </a:solidFill>
              </a:rPr>
              <a:t>doc_number</a:t>
            </a:r>
            <a:endParaRPr sz="1200" dirty="0">
              <a:solidFill>
                <a:srgbClr val="CCD6F1"/>
              </a:solidFill>
            </a:endParaRPr>
          </a:p>
          <a:p>
            <a:pPr algn="l"/>
            <a:r>
              <a:rPr sz="1200" dirty="0">
                <a:solidFill>
                  <a:srgbClr val="CCD6F1"/>
                </a:solidFill>
              </a:rPr>
              <a:t>    Inline confirmation UI before full ingest</a:t>
            </a:r>
          </a:p>
          <a:p>
            <a:pPr algn="l"/>
            <a:r>
              <a:rPr sz="1200" dirty="0">
                <a:solidFill>
                  <a:srgbClr val="CCD6F1"/>
                </a:solidFill>
              </a:rPr>
              <a:t>  </a:t>
            </a:r>
          </a:p>
          <a:p>
            <a:pPr algn="l"/>
            <a:r>
              <a:rPr sz="1200" dirty="0">
                <a:solidFill>
                  <a:srgbClr val="CCD6F1"/>
                </a:solidFill>
              </a:rPr>
              <a:t>   PREPROCESSING REGISTRY</a:t>
            </a:r>
          </a:p>
          <a:p>
            <a:pPr algn="l"/>
            <a:r>
              <a:rPr sz="1200" dirty="0">
                <a:solidFill>
                  <a:srgbClr val="CCD6F1"/>
                </a:solidFill>
              </a:rPr>
              <a:t>    5 preprocessors: </a:t>
            </a:r>
            <a:r>
              <a:rPr sz="1200" dirty="0" err="1">
                <a:solidFill>
                  <a:srgbClr val="CCD6F1"/>
                </a:solidFill>
              </a:rPr>
              <a:t>pypdf</a:t>
            </a:r>
            <a:r>
              <a:rPr sz="1200" dirty="0">
                <a:solidFill>
                  <a:srgbClr val="CCD6F1"/>
                </a:solidFill>
              </a:rPr>
              <a:t>, pymupdf4llm, unstructured,</a:t>
            </a:r>
          </a:p>
          <a:p>
            <a:pPr algn="l"/>
            <a:r>
              <a:rPr sz="1200" dirty="0">
                <a:solidFill>
                  <a:srgbClr val="CCD6F1"/>
                </a:solidFill>
              </a:rPr>
              <a:t>    </a:t>
            </a:r>
            <a:r>
              <a:rPr sz="1200" dirty="0" err="1">
                <a:solidFill>
                  <a:srgbClr val="CCD6F1"/>
                </a:solidFill>
              </a:rPr>
              <a:t>docling</a:t>
            </a:r>
            <a:r>
              <a:rPr sz="1200" dirty="0">
                <a:solidFill>
                  <a:srgbClr val="CCD6F1"/>
                </a:solidFill>
              </a:rPr>
              <a:t>, </a:t>
            </a:r>
            <a:r>
              <a:rPr sz="1200" dirty="0" err="1">
                <a:solidFill>
                  <a:srgbClr val="CCD6F1"/>
                </a:solidFill>
              </a:rPr>
              <a:t>table_preprocessor</a:t>
            </a:r>
            <a:endParaRPr sz="1200" dirty="0">
              <a:solidFill>
                <a:srgbClr val="CCD6F1"/>
              </a:solidFill>
            </a:endParaRPr>
          </a:p>
          <a:p>
            <a:pPr algn="l"/>
            <a:r>
              <a:rPr sz="1200" dirty="0">
                <a:solidFill>
                  <a:srgbClr val="CCD6F1"/>
                </a:solidFill>
              </a:rPr>
              <a:t>    Per-upload override via dev settings</a:t>
            </a:r>
          </a:p>
        </p:txBody>
      </p:sp>
      <p:sp>
        <p:nvSpPr>
          <p:cNvPr id="8" name="TextBox 7"/>
          <p:cNvSpPr txBox="1"/>
          <p:nvPr/>
        </p:nvSpPr>
        <p:spPr>
          <a:xfrm>
            <a:off x="8065008" y="1170432"/>
            <a:ext cx="3794760" cy="2677656"/>
          </a:xfrm>
          <a:prstGeom prst="rect">
            <a:avLst/>
          </a:prstGeom>
          <a:noFill/>
        </p:spPr>
        <p:txBody>
          <a:bodyPr wrap="square">
            <a:spAutoFit/>
          </a:bodyPr>
          <a:lstStyle/>
          <a:p>
            <a:pPr algn="l"/>
            <a:r>
              <a:rPr sz="1200" dirty="0">
                <a:solidFill>
                  <a:srgbClr val="CCD6F1"/>
                </a:solidFill>
              </a:rPr>
              <a:t>  ANSWER QUALITY GATES</a:t>
            </a:r>
          </a:p>
          <a:p>
            <a:pPr algn="l"/>
            <a:r>
              <a:rPr sz="1200" dirty="0">
                <a:solidFill>
                  <a:srgbClr val="CCD6F1"/>
                </a:solidFill>
              </a:rPr>
              <a:t>    </a:t>
            </a:r>
            <a:r>
              <a:rPr sz="1200" dirty="0" err="1">
                <a:solidFill>
                  <a:srgbClr val="CCD6F1"/>
                </a:solidFill>
              </a:rPr>
              <a:t>enable_eval_gate</a:t>
            </a:r>
            <a:r>
              <a:rPr sz="1200" dirty="0">
                <a:solidFill>
                  <a:srgbClr val="CCD6F1"/>
                </a:solidFill>
              </a:rPr>
              <a:t>: grounding score check</a:t>
            </a:r>
          </a:p>
          <a:p>
            <a:pPr algn="l"/>
            <a:r>
              <a:rPr sz="1200" dirty="0">
                <a:solidFill>
                  <a:srgbClr val="CCD6F1"/>
                </a:solidFill>
              </a:rPr>
              <a:t>    Release gate with blocker enumeration</a:t>
            </a:r>
          </a:p>
          <a:p>
            <a:pPr algn="l"/>
            <a:r>
              <a:rPr sz="1200" dirty="0">
                <a:solidFill>
                  <a:srgbClr val="CCD6F1"/>
                </a:solidFill>
              </a:rPr>
              <a:t>    Soft warning appended when score &lt; 0.40</a:t>
            </a:r>
          </a:p>
          <a:p>
            <a:pPr algn="l"/>
            <a:r>
              <a:rPr sz="1200" dirty="0">
                <a:solidFill>
                  <a:srgbClr val="CCD6F1"/>
                </a:solidFill>
              </a:rPr>
              <a:t>  </a:t>
            </a:r>
          </a:p>
          <a:p>
            <a:pPr algn="l"/>
            <a:r>
              <a:rPr sz="1200" dirty="0">
                <a:solidFill>
                  <a:srgbClr val="CCD6F1"/>
                </a:solidFill>
              </a:rPr>
              <a:t>    EXTERNAL LLM NET MODE</a:t>
            </a:r>
          </a:p>
          <a:p>
            <a:pPr algn="l"/>
            <a:r>
              <a:rPr sz="1200" dirty="0">
                <a:solidFill>
                  <a:srgbClr val="CCD6F1"/>
                </a:solidFill>
              </a:rPr>
              <a:t>    </a:t>
            </a:r>
            <a:r>
              <a:rPr sz="1200" dirty="0" err="1">
                <a:solidFill>
                  <a:srgbClr val="CCD6F1"/>
                </a:solidFill>
              </a:rPr>
              <a:t>Groq</a:t>
            </a:r>
            <a:r>
              <a:rPr sz="1200" dirty="0">
                <a:solidFill>
                  <a:srgbClr val="CCD6F1"/>
                </a:solidFill>
              </a:rPr>
              <a:t>: llama-3.1-8b-instant (rate-limited)</a:t>
            </a:r>
          </a:p>
          <a:p>
            <a:pPr algn="l"/>
            <a:r>
              <a:rPr sz="1200" dirty="0">
                <a:solidFill>
                  <a:srgbClr val="CCD6F1"/>
                </a:solidFill>
              </a:rPr>
              <a:t>    </a:t>
            </a:r>
            <a:r>
              <a:rPr sz="1200" dirty="0" err="1">
                <a:solidFill>
                  <a:srgbClr val="CCD6F1"/>
                </a:solidFill>
              </a:rPr>
              <a:t>xAI</a:t>
            </a:r>
            <a:r>
              <a:rPr sz="1200" dirty="0">
                <a:solidFill>
                  <a:srgbClr val="CCD6F1"/>
                </a:solidFill>
              </a:rPr>
              <a:t>: grok-beta</a:t>
            </a:r>
          </a:p>
          <a:p>
            <a:pPr algn="l"/>
            <a:r>
              <a:rPr sz="1200" dirty="0">
                <a:solidFill>
                  <a:srgbClr val="CCD6F1"/>
                </a:solidFill>
              </a:rPr>
              <a:t>    Concurrency guard + rate limit event UI</a:t>
            </a:r>
          </a:p>
          <a:p>
            <a:pPr algn="l"/>
            <a:r>
              <a:rPr sz="1200" dirty="0">
                <a:solidFill>
                  <a:srgbClr val="CCD6F1"/>
                </a:solidFill>
              </a:rPr>
              <a:t>  </a:t>
            </a:r>
          </a:p>
          <a:p>
            <a:pPr algn="l"/>
            <a:r>
              <a:rPr sz="1200" dirty="0">
                <a:solidFill>
                  <a:srgbClr val="CCD6F1"/>
                </a:solidFill>
              </a:rPr>
              <a:t>  ENTERPRISE TEAM WORKSPACE</a:t>
            </a:r>
          </a:p>
          <a:p>
            <a:pPr algn="l"/>
            <a:r>
              <a:rPr sz="1200" dirty="0">
                <a:solidFill>
                  <a:srgbClr val="CCD6F1"/>
                </a:solidFill>
              </a:rPr>
              <a:t>    Real-time WebSocket messaging</a:t>
            </a:r>
          </a:p>
          <a:p>
            <a:pPr algn="l"/>
            <a:r>
              <a:rPr sz="1200" dirty="0">
                <a:solidFill>
                  <a:srgbClr val="CCD6F1"/>
                </a:solidFill>
              </a:rPr>
              <a:t>    Project threads + assignee management</a:t>
            </a:r>
          </a:p>
          <a:p>
            <a:pPr algn="l"/>
            <a:r>
              <a:rPr sz="1200" dirty="0">
                <a:solidFill>
                  <a:srgbClr val="CCD6F1"/>
                </a:solidFill>
              </a:rPr>
              <a:t>    Team notification panel + unread counts</a:t>
            </a:r>
          </a:p>
        </p:txBody>
      </p:sp>
      <p:pic>
        <p:nvPicPr>
          <p:cNvPr id="9" name="Picture 8">
            <a:extLst>
              <a:ext uri="{FF2B5EF4-FFF2-40B4-BE49-F238E27FC236}">
                <a16:creationId xmlns:a16="http://schemas.microsoft.com/office/drawing/2014/main" id="{21288890-D7B2-4EDF-5E9E-8271962BB131}"/>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9728"/>
            <a:ext cx="10972800" cy="502920"/>
          </a:xfrm>
          <a:prstGeom prst="rect">
            <a:avLst/>
          </a:prstGeom>
          <a:noFill/>
        </p:spPr>
        <p:txBody>
          <a:bodyPr wrap="square">
            <a:spAutoFit/>
          </a:bodyPr>
          <a:lstStyle/>
          <a:p>
            <a:pPr algn="l"/>
            <a:r>
              <a:rPr sz="2600" b="1">
                <a:solidFill>
                  <a:srgbClr val="FFFFFF"/>
                </a:solidFill>
              </a:rPr>
              <a:t>Technology Stack Summary</a:t>
            </a:r>
          </a:p>
        </p:txBody>
      </p:sp>
      <p:sp>
        <p:nvSpPr>
          <p:cNvPr id="5" name="TextBox 4"/>
          <p:cNvSpPr txBox="1"/>
          <p:nvPr/>
        </p:nvSpPr>
        <p:spPr>
          <a:xfrm>
            <a:off x="365760" y="621792"/>
            <a:ext cx="10972800" cy="320040"/>
          </a:xfrm>
          <a:prstGeom prst="rect">
            <a:avLst/>
          </a:prstGeom>
          <a:noFill/>
        </p:spPr>
        <p:txBody>
          <a:bodyPr wrap="square">
            <a:spAutoFit/>
          </a:bodyPr>
          <a:lstStyle/>
          <a:p>
            <a:pPr algn="l"/>
            <a:r>
              <a:rPr sz="1300" b="0">
                <a:solidFill>
                  <a:srgbClr val="DFE9FF"/>
                </a:solidFill>
              </a:rPr>
              <a:t>Complete technology inventory across all system layers</a:t>
            </a:r>
          </a:p>
        </p:txBody>
      </p:sp>
      <p:sp>
        <p:nvSpPr>
          <p:cNvPr id="6" name="Rectangle 5"/>
          <p:cNvSpPr/>
          <p:nvPr/>
        </p:nvSpPr>
        <p:spPr>
          <a:xfrm>
            <a:off x="25603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6032" y="1143000"/>
            <a:ext cx="2240280" cy="5394960"/>
          </a:xfrm>
          <a:prstGeom prst="rect">
            <a:avLst/>
          </a:prstGeom>
          <a:noFill/>
          <a:ln w="25400">
            <a:solidFill>
              <a:srgbClr val="5B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234440"/>
            <a:ext cx="2103120" cy="300082"/>
          </a:xfrm>
          <a:prstGeom prst="rect">
            <a:avLst/>
          </a:prstGeom>
          <a:noFill/>
        </p:spPr>
        <p:txBody>
          <a:bodyPr wrap="square">
            <a:spAutoFit/>
          </a:bodyPr>
          <a:lstStyle/>
          <a:p>
            <a:pPr algn="l"/>
            <a:r>
              <a:rPr sz="1350" b="1" dirty="0">
                <a:solidFill>
                  <a:srgbClr val="5B8DFF"/>
                </a:solidFill>
              </a:rPr>
              <a:t> Frontend</a:t>
            </a:r>
          </a:p>
        </p:txBody>
      </p:sp>
      <p:sp>
        <p:nvSpPr>
          <p:cNvPr id="9" name="TextBox 8"/>
          <p:cNvSpPr txBox="1"/>
          <p:nvPr/>
        </p:nvSpPr>
        <p:spPr>
          <a:xfrm>
            <a:off x="347472" y="1737360"/>
            <a:ext cx="2103120" cy="685800"/>
          </a:xfrm>
          <a:prstGeom prst="rect">
            <a:avLst/>
          </a:prstGeom>
          <a:noFill/>
        </p:spPr>
        <p:txBody>
          <a:bodyPr wrap="square">
            <a:spAutoFit/>
          </a:bodyPr>
          <a:lstStyle/>
          <a:p>
            <a:pPr algn="l"/>
            <a:r>
              <a:rPr sz="1150" b="0">
                <a:solidFill>
                  <a:srgbClr val="CCD6F1"/>
                </a:solidFill>
              </a:rPr>
              <a:t>• Next.js 14 + TypeScript (App Router)</a:t>
            </a:r>
          </a:p>
        </p:txBody>
      </p:sp>
      <p:sp>
        <p:nvSpPr>
          <p:cNvPr id="10" name="TextBox 9"/>
          <p:cNvSpPr txBox="1"/>
          <p:nvPr/>
        </p:nvSpPr>
        <p:spPr>
          <a:xfrm>
            <a:off x="347472" y="2542032"/>
            <a:ext cx="2103120" cy="685800"/>
          </a:xfrm>
          <a:prstGeom prst="rect">
            <a:avLst/>
          </a:prstGeom>
          <a:noFill/>
        </p:spPr>
        <p:txBody>
          <a:bodyPr wrap="square">
            <a:spAutoFit/>
          </a:bodyPr>
          <a:lstStyle/>
          <a:p>
            <a:pPr algn="l"/>
            <a:r>
              <a:rPr sz="1150" b="0">
                <a:solidFill>
                  <a:srgbClr val="CCD6F1"/>
                </a:solidFill>
              </a:rPr>
              <a:t>• React hooks / SSE EventSource</a:t>
            </a:r>
          </a:p>
        </p:txBody>
      </p:sp>
      <p:sp>
        <p:nvSpPr>
          <p:cNvPr id="11" name="TextBox 10"/>
          <p:cNvSpPr txBox="1"/>
          <p:nvPr/>
        </p:nvSpPr>
        <p:spPr>
          <a:xfrm>
            <a:off x="347472" y="3346704"/>
            <a:ext cx="2103120" cy="685800"/>
          </a:xfrm>
          <a:prstGeom prst="rect">
            <a:avLst/>
          </a:prstGeom>
          <a:noFill/>
        </p:spPr>
        <p:txBody>
          <a:bodyPr wrap="square">
            <a:spAutoFit/>
          </a:bodyPr>
          <a:lstStyle/>
          <a:p>
            <a:pPr algn="l"/>
            <a:r>
              <a:rPr sz="1150" b="0">
                <a:solidFill>
                  <a:srgbClr val="CCD6F1"/>
                </a:solidFill>
              </a:rPr>
              <a:t>• Tailwind CSS  ·  Lucide icons</a:t>
            </a:r>
          </a:p>
        </p:txBody>
      </p:sp>
      <p:sp>
        <p:nvSpPr>
          <p:cNvPr id="12" name="TextBox 11"/>
          <p:cNvSpPr txBox="1"/>
          <p:nvPr/>
        </p:nvSpPr>
        <p:spPr>
          <a:xfrm>
            <a:off x="347472" y="4151376"/>
            <a:ext cx="2103120" cy="685800"/>
          </a:xfrm>
          <a:prstGeom prst="rect">
            <a:avLst/>
          </a:prstGeom>
          <a:noFill/>
        </p:spPr>
        <p:txBody>
          <a:bodyPr wrap="square">
            <a:spAutoFit/>
          </a:bodyPr>
          <a:lstStyle/>
          <a:p>
            <a:pPr algn="l"/>
            <a:r>
              <a:rPr sz="1150" b="0">
                <a:solidFill>
                  <a:srgbClr val="CCD6F1"/>
                </a:solidFill>
              </a:rPr>
              <a:t>• Tauri (optional desktop)</a:t>
            </a:r>
          </a:p>
        </p:txBody>
      </p:sp>
      <p:sp>
        <p:nvSpPr>
          <p:cNvPr id="13" name="TextBox 12"/>
          <p:cNvSpPr txBox="1"/>
          <p:nvPr/>
        </p:nvSpPr>
        <p:spPr>
          <a:xfrm>
            <a:off x="347472" y="4956048"/>
            <a:ext cx="2103120" cy="685800"/>
          </a:xfrm>
          <a:prstGeom prst="rect">
            <a:avLst/>
          </a:prstGeom>
          <a:noFill/>
        </p:spPr>
        <p:txBody>
          <a:bodyPr wrap="square">
            <a:spAutoFit/>
          </a:bodyPr>
          <a:lstStyle/>
          <a:p>
            <a:pPr algn="l"/>
            <a:r>
              <a:rPr sz="1150" b="0">
                <a:solidFill>
                  <a:srgbClr val="CCD6F1"/>
                </a:solidFill>
              </a:rPr>
              <a:t>• JWT cookie auth</a:t>
            </a:r>
          </a:p>
        </p:txBody>
      </p:sp>
      <p:sp>
        <p:nvSpPr>
          <p:cNvPr id="14" name="Rectangle 13"/>
          <p:cNvSpPr/>
          <p:nvPr/>
        </p:nvSpPr>
        <p:spPr>
          <a:xfrm>
            <a:off x="263347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33472" y="1143000"/>
            <a:ext cx="2240280" cy="5394960"/>
          </a:xfrm>
          <a:prstGeom prst="rect">
            <a:avLst/>
          </a:prstGeom>
          <a:no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24912" y="1234440"/>
            <a:ext cx="2103120" cy="300082"/>
          </a:xfrm>
          <a:prstGeom prst="rect">
            <a:avLst/>
          </a:prstGeom>
          <a:noFill/>
        </p:spPr>
        <p:txBody>
          <a:bodyPr wrap="square">
            <a:spAutoFit/>
          </a:bodyPr>
          <a:lstStyle/>
          <a:p>
            <a:pPr algn="l"/>
            <a:r>
              <a:rPr sz="1350" b="1" dirty="0">
                <a:solidFill>
                  <a:srgbClr val="7C3AED"/>
                </a:solidFill>
              </a:rPr>
              <a:t> Backend</a:t>
            </a:r>
          </a:p>
        </p:txBody>
      </p:sp>
      <p:sp>
        <p:nvSpPr>
          <p:cNvPr id="17" name="TextBox 16"/>
          <p:cNvSpPr txBox="1"/>
          <p:nvPr/>
        </p:nvSpPr>
        <p:spPr>
          <a:xfrm>
            <a:off x="2724912" y="1737360"/>
            <a:ext cx="2103120" cy="685800"/>
          </a:xfrm>
          <a:prstGeom prst="rect">
            <a:avLst/>
          </a:prstGeom>
          <a:noFill/>
        </p:spPr>
        <p:txBody>
          <a:bodyPr wrap="square">
            <a:spAutoFit/>
          </a:bodyPr>
          <a:lstStyle/>
          <a:p>
            <a:pPr algn="l"/>
            <a:r>
              <a:rPr sz="1150" b="0">
                <a:solidFill>
                  <a:srgbClr val="CCD6F1"/>
                </a:solidFill>
              </a:rPr>
              <a:t>• FastAPI (Python 3.11+)</a:t>
            </a:r>
          </a:p>
        </p:txBody>
      </p:sp>
      <p:sp>
        <p:nvSpPr>
          <p:cNvPr id="18" name="TextBox 17"/>
          <p:cNvSpPr txBox="1"/>
          <p:nvPr/>
        </p:nvSpPr>
        <p:spPr>
          <a:xfrm>
            <a:off x="2724912" y="2542032"/>
            <a:ext cx="2103120" cy="685800"/>
          </a:xfrm>
          <a:prstGeom prst="rect">
            <a:avLst/>
          </a:prstGeom>
          <a:noFill/>
        </p:spPr>
        <p:txBody>
          <a:bodyPr wrap="square">
            <a:spAutoFit/>
          </a:bodyPr>
          <a:lstStyle/>
          <a:p>
            <a:pPr algn="l"/>
            <a:r>
              <a:rPr sz="1150" b="0">
                <a:solidFill>
                  <a:srgbClr val="CCD6F1"/>
                </a:solidFill>
              </a:rPr>
              <a:t>• Celery + Redis broker</a:t>
            </a:r>
          </a:p>
        </p:txBody>
      </p:sp>
      <p:sp>
        <p:nvSpPr>
          <p:cNvPr id="19" name="TextBox 18"/>
          <p:cNvSpPr txBox="1"/>
          <p:nvPr/>
        </p:nvSpPr>
        <p:spPr>
          <a:xfrm>
            <a:off x="2724912" y="3346704"/>
            <a:ext cx="2103120" cy="685800"/>
          </a:xfrm>
          <a:prstGeom prst="rect">
            <a:avLst/>
          </a:prstGeom>
          <a:noFill/>
        </p:spPr>
        <p:txBody>
          <a:bodyPr wrap="square">
            <a:spAutoFit/>
          </a:bodyPr>
          <a:lstStyle/>
          <a:p>
            <a:pPr algn="l"/>
            <a:r>
              <a:rPr sz="1150" b="0">
                <a:solidFill>
                  <a:srgbClr val="CCD6F1"/>
                </a:solidFill>
              </a:rPr>
              <a:t>• Pydantic v2 validation</a:t>
            </a:r>
          </a:p>
        </p:txBody>
      </p:sp>
      <p:sp>
        <p:nvSpPr>
          <p:cNvPr id="20" name="TextBox 19"/>
          <p:cNvSpPr txBox="1"/>
          <p:nvPr/>
        </p:nvSpPr>
        <p:spPr>
          <a:xfrm>
            <a:off x="2724912" y="4151376"/>
            <a:ext cx="2103120" cy="685800"/>
          </a:xfrm>
          <a:prstGeom prst="rect">
            <a:avLst/>
          </a:prstGeom>
          <a:noFill/>
        </p:spPr>
        <p:txBody>
          <a:bodyPr wrap="square">
            <a:spAutoFit/>
          </a:bodyPr>
          <a:lstStyle/>
          <a:p>
            <a:pPr algn="l"/>
            <a:r>
              <a:rPr sz="1150" b="0">
                <a:solidFill>
                  <a:srgbClr val="CCD6F1"/>
                </a:solidFill>
              </a:rPr>
              <a:t>• LangChain / LangChain-Postgres</a:t>
            </a:r>
          </a:p>
        </p:txBody>
      </p:sp>
      <p:sp>
        <p:nvSpPr>
          <p:cNvPr id="21" name="TextBox 20"/>
          <p:cNvSpPr txBox="1"/>
          <p:nvPr/>
        </p:nvSpPr>
        <p:spPr>
          <a:xfrm>
            <a:off x="2724912" y="4956048"/>
            <a:ext cx="2103120" cy="685800"/>
          </a:xfrm>
          <a:prstGeom prst="rect">
            <a:avLst/>
          </a:prstGeom>
          <a:noFill/>
        </p:spPr>
        <p:txBody>
          <a:bodyPr wrap="square">
            <a:spAutoFit/>
          </a:bodyPr>
          <a:lstStyle/>
          <a:p>
            <a:pPr algn="l"/>
            <a:r>
              <a:rPr sz="1150" b="0">
                <a:solidFill>
                  <a:srgbClr val="CCD6F1"/>
                </a:solidFill>
              </a:rPr>
              <a:t>• SQLAlchemy (async)</a:t>
            </a:r>
          </a:p>
        </p:txBody>
      </p:sp>
      <p:sp>
        <p:nvSpPr>
          <p:cNvPr id="22" name="Rectangle 21"/>
          <p:cNvSpPr/>
          <p:nvPr/>
        </p:nvSpPr>
        <p:spPr>
          <a:xfrm>
            <a:off x="501091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10912" y="1143000"/>
            <a:ext cx="2240280" cy="5394960"/>
          </a:xfrm>
          <a:prstGeom prst="rect">
            <a:avLst/>
          </a:prstGeom>
          <a:noFill/>
          <a:ln w="25400">
            <a:solidFill>
              <a:srgbClr val="FF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02352" y="1234440"/>
            <a:ext cx="2103120" cy="300082"/>
          </a:xfrm>
          <a:prstGeom prst="rect">
            <a:avLst/>
          </a:prstGeom>
          <a:noFill/>
        </p:spPr>
        <p:txBody>
          <a:bodyPr wrap="square">
            <a:spAutoFit/>
          </a:bodyPr>
          <a:lstStyle/>
          <a:p>
            <a:pPr algn="l"/>
            <a:r>
              <a:rPr sz="1350" b="1" dirty="0">
                <a:solidFill>
                  <a:srgbClr val="FFC040"/>
                </a:solidFill>
              </a:rPr>
              <a:t>  AI / ML</a:t>
            </a:r>
          </a:p>
        </p:txBody>
      </p:sp>
      <p:sp>
        <p:nvSpPr>
          <p:cNvPr id="25" name="TextBox 24"/>
          <p:cNvSpPr txBox="1"/>
          <p:nvPr/>
        </p:nvSpPr>
        <p:spPr>
          <a:xfrm>
            <a:off x="5102352" y="1737360"/>
            <a:ext cx="2103120" cy="685800"/>
          </a:xfrm>
          <a:prstGeom prst="rect">
            <a:avLst/>
          </a:prstGeom>
          <a:noFill/>
        </p:spPr>
        <p:txBody>
          <a:bodyPr wrap="square">
            <a:spAutoFit/>
          </a:bodyPr>
          <a:lstStyle/>
          <a:p>
            <a:pPr algn="l"/>
            <a:r>
              <a:rPr sz="1150" b="0">
                <a:solidFill>
                  <a:srgbClr val="CCD6F1"/>
                </a:solidFill>
              </a:rPr>
              <a:t>• llama_cpp (GGUF runtime)</a:t>
            </a:r>
          </a:p>
        </p:txBody>
      </p:sp>
      <p:sp>
        <p:nvSpPr>
          <p:cNvPr id="26" name="TextBox 25"/>
          <p:cNvSpPr txBox="1"/>
          <p:nvPr/>
        </p:nvSpPr>
        <p:spPr>
          <a:xfrm>
            <a:off x="5102352" y="2542032"/>
            <a:ext cx="2103120" cy="685800"/>
          </a:xfrm>
          <a:prstGeom prst="rect">
            <a:avLst/>
          </a:prstGeom>
          <a:noFill/>
        </p:spPr>
        <p:txBody>
          <a:bodyPr wrap="square">
            <a:spAutoFit/>
          </a:bodyPr>
          <a:lstStyle/>
          <a:p>
            <a:pPr algn="l"/>
            <a:r>
              <a:rPr sz="1150" b="0">
                <a:solidFill>
                  <a:srgbClr val="CCD6F1"/>
                </a:solidFill>
              </a:rPr>
              <a:t>• Hugging Face Transformers</a:t>
            </a:r>
          </a:p>
        </p:txBody>
      </p:sp>
      <p:sp>
        <p:nvSpPr>
          <p:cNvPr id="27" name="TextBox 26"/>
          <p:cNvSpPr txBox="1"/>
          <p:nvPr/>
        </p:nvSpPr>
        <p:spPr>
          <a:xfrm>
            <a:off x="5102352" y="3346704"/>
            <a:ext cx="2103120" cy="685800"/>
          </a:xfrm>
          <a:prstGeom prst="rect">
            <a:avLst/>
          </a:prstGeom>
          <a:noFill/>
        </p:spPr>
        <p:txBody>
          <a:bodyPr wrap="square">
            <a:spAutoFit/>
          </a:bodyPr>
          <a:lstStyle/>
          <a:p>
            <a:pPr algn="l"/>
            <a:r>
              <a:rPr sz="1150" b="0">
                <a:solidFill>
                  <a:srgbClr val="CCD6F1"/>
                </a:solidFill>
              </a:rPr>
              <a:t>• BAAI/bge-m3 embeddings</a:t>
            </a:r>
          </a:p>
        </p:txBody>
      </p:sp>
      <p:sp>
        <p:nvSpPr>
          <p:cNvPr id="28" name="TextBox 27"/>
          <p:cNvSpPr txBox="1"/>
          <p:nvPr/>
        </p:nvSpPr>
        <p:spPr>
          <a:xfrm>
            <a:off x="5102352" y="4151376"/>
            <a:ext cx="2103120" cy="685800"/>
          </a:xfrm>
          <a:prstGeom prst="rect">
            <a:avLst/>
          </a:prstGeom>
          <a:noFill/>
        </p:spPr>
        <p:txBody>
          <a:bodyPr wrap="square">
            <a:spAutoFit/>
          </a:bodyPr>
          <a:lstStyle/>
          <a:p>
            <a:pPr algn="l"/>
            <a:r>
              <a:rPr sz="1150" b="0">
                <a:solidFill>
                  <a:srgbClr val="CCD6F1"/>
                </a:solidFill>
              </a:rPr>
              <a:t>• FlashRank (MiniLM-L-12)</a:t>
            </a:r>
          </a:p>
        </p:txBody>
      </p:sp>
      <p:sp>
        <p:nvSpPr>
          <p:cNvPr id="29" name="TextBox 28"/>
          <p:cNvSpPr txBox="1"/>
          <p:nvPr/>
        </p:nvSpPr>
        <p:spPr>
          <a:xfrm>
            <a:off x="5102352" y="4956048"/>
            <a:ext cx="2103120" cy="685800"/>
          </a:xfrm>
          <a:prstGeom prst="rect">
            <a:avLst/>
          </a:prstGeom>
          <a:noFill/>
        </p:spPr>
        <p:txBody>
          <a:bodyPr wrap="square">
            <a:spAutoFit/>
          </a:bodyPr>
          <a:lstStyle/>
          <a:p>
            <a:pPr algn="l"/>
            <a:r>
              <a:rPr sz="1150" b="0">
                <a:solidFill>
                  <a:srgbClr val="CCD6F1"/>
                </a:solidFill>
              </a:rPr>
              <a:t>• BART-MNLI zero-shot NLI</a:t>
            </a:r>
          </a:p>
        </p:txBody>
      </p:sp>
      <p:sp>
        <p:nvSpPr>
          <p:cNvPr id="30" name="Rectangle 29"/>
          <p:cNvSpPr/>
          <p:nvPr/>
        </p:nvSpPr>
        <p:spPr>
          <a:xfrm>
            <a:off x="738835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88352" y="1143000"/>
            <a:ext cx="2240280" cy="5394960"/>
          </a:xfrm>
          <a:prstGeom prst="rect">
            <a:avLst/>
          </a:prstGeom>
          <a:no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9792" y="1234440"/>
            <a:ext cx="2103120" cy="300082"/>
          </a:xfrm>
          <a:prstGeom prst="rect">
            <a:avLst/>
          </a:prstGeom>
          <a:noFill/>
        </p:spPr>
        <p:txBody>
          <a:bodyPr wrap="square">
            <a:spAutoFit/>
          </a:bodyPr>
          <a:lstStyle/>
          <a:p>
            <a:pPr algn="l"/>
            <a:r>
              <a:rPr sz="1350" b="1" dirty="0">
                <a:solidFill>
                  <a:srgbClr val="4ADE80"/>
                </a:solidFill>
              </a:rPr>
              <a:t>Preprocessing</a:t>
            </a:r>
          </a:p>
        </p:txBody>
      </p:sp>
      <p:sp>
        <p:nvSpPr>
          <p:cNvPr id="33" name="TextBox 32"/>
          <p:cNvSpPr txBox="1"/>
          <p:nvPr/>
        </p:nvSpPr>
        <p:spPr>
          <a:xfrm>
            <a:off x="7479792" y="1737360"/>
            <a:ext cx="2103120" cy="685800"/>
          </a:xfrm>
          <a:prstGeom prst="rect">
            <a:avLst/>
          </a:prstGeom>
          <a:noFill/>
        </p:spPr>
        <p:txBody>
          <a:bodyPr wrap="square">
            <a:spAutoFit/>
          </a:bodyPr>
          <a:lstStyle/>
          <a:p>
            <a:pPr algn="l"/>
            <a:r>
              <a:rPr sz="1150" b="0">
                <a:solidFill>
                  <a:srgbClr val="CCD6F1"/>
                </a:solidFill>
              </a:rPr>
              <a:t>• PyPDF  ·  PyMuPDF4LLM</a:t>
            </a:r>
          </a:p>
        </p:txBody>
      </p:sp>
      <p:sp>
        <p:nvSpPr>
          <p:cNvPr id="34" name="TextBox 33"/>
          <p:cNvSpPr txBox="1"/>
          <p:nvPr/>
        </p:nvSpPr>
        <p:spPr>
          <a:xfrm>
            <a:off x="7479792" y="2542032"/>
            <a:ext cx="2103120" cy="685800"/>
          </a:xfrm>
          <a:prstGeom prst="rect">
            <a:avLst/>
          </a:prstGeom>
          <a:noFill/>
        </p:spPr>
        <p:txBody>
          <a:bodyPr wrap="square">
            <a:spAutoFit/>
          </a:bodyPr>
          <a:lstStyle/>
          <a:p>
            <a:pPr algn="l"/>
            <a:r>
              <a:rPr sz="1150" b="0">
                <a:solidFill>
                  <a:srgbClr val="CCD6F1"/>
                </a:solidFill>
              </a:rPr>
              <a:t>• Unstructured (hi_res / fast)</a:t>
            </a:r>
          </a:p>
        </p:txBody>
      </p:sp>
      <p:sp>
        <p:nvSpPr>
          <p:cNvPr id="35" name="TextBox 34"/>
          <p:cNvSpPr txBox="1"/>
          <p:nvPr/>
        </p:nvSpPr>
        <p:spPr>
          <a:xfrm>
            <a:off x="7479792" y="3346704"/>
            <a:ext cx="2103120" cy="685800"/>
          </a:xfrm>
          <a:prstGeom prst="rect">
            <a:avLst/>
          </a:prstGeom>
          <a:noFill/>
        </p:spPr>
        <p:txBody>
          <a:bodyPr wrap="square">
            <a:spAutoFit/>
          </a:bodyPr>
          <a:lstStyle/>
          <a:p>
            <a:pPr algn="l"/>
            <a:r>
              <a:rPr sz="1150" b="0">
                <a:solidFill>
                  <a:srgbClr val="CCD6F1"/>
                </a:solidFill>
              </a:rPr>
              <a:t>• Docling (academic-grade)</a:t>
            </a:r>
          </a:p>
        </p:txBody>
      </p:sp>
      <p:sp>
        <p:nvSpPr>
          <p:cNvPr id="36" name="TextBox 35"/>
          <p:cNvSpPr txBox="1"/>
          <p:nvPr/>
        </p:nvSpPr>
        <p:spPr>
          <a:xfrm>
            <a:off x="7479792" y="4151376"/>
            <a:ext cx="2103120" cy="685800"/>
          </a:xfrm>
          <a:prstGeom prst="rect">
            <a:avLst/>
          </a:prstGeom>
          <a:noFill/>
        </p:spPr>
        <p:txBody>
          <a:bodyPr wrap="square">
            <a:spAutoFit/>
          </a:bodyPr>
          <a:lstStyle/>
          <a:p>
            <a:pPr algn="l"/>
            <a:r>
              <a:rPr sz="1150" b="0">
                <a:solidFill>
                  <a:srgbClr val="CCD6F1"/>
                </a:solidFill>
              </a:rPr>
              <a:t>• Table-Transformer (MSFT)</a:t>
            </a:r>
          </a:p>
        </p:txBody>
      </p:sp>
      <p:sp>
        <p:nvSpPr>
          <p:cNvPr id="37" name="TextBox 36"/>
          <p:cNvSpPr txBox="1"/>
          <p:nvPr/>
        </p:nvSpPr>
        <p:spPr>
          <a:xfrm>
            <a:off x="7479792" y="4956048"/>
            <a:ext cx="2103120" cy="685800"/>
          </a:xfrm>
          <a:prstGeom prst="rect">
            <a:avLst/>
          </a:prstGeom>
          <a:noFill/>
        </p:spPr>
        <p:txBody>
          <a:bodyPr wrap="square">
            <a:spAutoFit/>
          </a:bodyPr>
          <a:lstStyle/>
          <a:p>
            <a:pPr algn="l"/>
            <a:r>
              <a:rPr sz="1150" b="0">
                <a:solidFill>
                  <a:srgbClr val="CCD6F1"/>
                </a:solidFill>
              </a:rPr>
              <a:t>• YOLOX layout detection</a:t>
            </a:r>
          </a:p>
        </p:txBody>
      </p:sp>
      <p:sp>
        <p:nvSpPr>
          <p:cNvPr id="38" name="Rectangle 37"/>
          <p:cNvSpPr/>
          <p:nvPr/>
        </p:nvSpPr>
        <p:spPr>
          <a:xfrm>
            <a:off x="9765792" y="1143000"/>
            <a:ext cx="2240280" cy="5394960"/>
          </a:xfrm>
          <a:prstGeom prst="rect">
            <a:avLst/>
          </a:prstGeom>
          <a:solidFill>
            <a:srgbClr val="0E18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765792" y="1143000"/>
            <a:ext cx="2240280" cy="5394960"/>
          </a:xfrm>
          <a:prstGeom prst="rect">
            <a:avLst/>
          </a:prstGeom>
          <a:noFill/>
          <a:ln w="25400">
            <a:solidFill>
              <a:srgbClr val="FF7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57232" y="1234440"/>
            <a:ext cx="2103120" cy="300082"/>
          </a:xfrm>
          <a:prstGeom prst="rect">
            <a:avLst/>
          </a:prstGeom>
          <a:noFill/>
        </p:spPr>
        <p:txBody>
          <a:bodyPr wrap="square">
            <a:spAutoFit/>
          </a:bodyPr>
          <a:lstStyle/>
          <a:p>
            <a:pPr algn="l"/>
            <a:r>
              <a:rPr sz="1350" b="1" dirty="0">
                <a:solidFill>
                  <a:srgbClr val="FF7070"/>
                </a:solidFill>
              </a:rPr>
              <a:t> Storage</a:t>
            </a:r>
          </a:p>
        </p:txBody>
      </p:sp>
      <p:sp>
        <p:nvSpPr>
          <p:cNvPr id="41" name="TextBox 40"/>
          <p:cNvSpPr txBox="1"/>
          <p:nvPr/>
        </p:nvSpPr>
        <p:spPr>
          <a:xfrm>
            <a:off x="9857232" y="1737360"/>
            <a:ext cx="2103120" cy="685800"/>
          </a:xfrm>
          <a:prstGeom prst="rect">
            <a:avLst/>
          </a:prstGeom>
          <a:noFill/>
        </p:spPr>
        <p:txBody>
          <a:bodyPr wrap="square">
            <a:spAutoFit/>
          </a:bodyPr>
          <a:lstStyle/>
          <a:p>
            <a:pPr algn="l"/>
            <a:r>
              <a:rPr sz="1150" b="0">
                <a:solidFill>
                  <a:srgbClr val="CCD6F1"/>
                </a:solidFill>
              </a:rPr>
              <a:t>• PostgreSQL + PGVector</a:t>
            </a:r>
          </a:p>
        </p:txBody>
      </p:sp>
      <p:sp>
        <p:nvSpPr>
          <p:cNvPr id="42" name="TextBox 41"/>
          <p:cNvSpPr txBox="1"/>
          <p:nvPr/>
        </p:nvSpPr>
        <p:spPr>
          <a:xfrm>
            <a:off x="9857232" y="2542032"/>
            <a:ext cx="2103120" cy="685800"/>
          </a:xfrm>
          <a:prstGeom prst="rect">
            <a:avLst/>
          </a:prstGeom>
          <a:noFill/>
        </p:spPr>
        <p:txBody>
          <a:bodyPr wrap="square">
            <a:spAutoFit/>
          </a:bodyPr>
          <a:lstStyle/>
          <a:p>
            <a:pPr algn="l"/>
            <a:r>
              <a:rPr sz="1150" b="0">
                <a:solidFill>
                  <a:srgbClr val="CCD6F1"/>
                </a:solidFill>
              </a:rPr>
              <a:t>• MinIO (S3-compatible)</a:t>
            </a:r>
          </a:p>
        </p:txBody>
      </p:sp>
      <p:sp>
        <p:nvSpPr>
          <p:cNvPr id="43" name="TextBox 42"/>
          <p:cNvSpPr txBox="1"/>
          <p:nvPr/>
        </p:nvSpPr>
        <p:spPr>
          <a:xfrm>
            <a:off x="9857232" y="3346704"/>
            <a:ext cx="2103120" cy="685800"/>
          </a:xfrm>
          <a:prstGeom prst="rect">
            <a:avLst/>
          </a:prstGeom>
          <a:noFill/>
        </p:spPr>
        <p:txBody>
          <a:bodyPr wrap="square">
            <a:spAutoFit/>
          </a:bodyPr>
          <a:lstStyle/>
          <a:p>
            <a:pPr algn="l"/>
            <a:r>
              <a:rPr sz="1150" b="0">
                <a:solidFill>
                  <a:srgbClr val="CCD6F1"/>
                </a:solidFill>
              </a:rPr>
              <a:t>• Redis (cache + broker)</a:t>
            </a:r>
          </a:p>
        </p:txBody>
      </p:sp>
      <p:sp>
        <p:nvSpPr>
          <p:cNvPr id="44" name="TextBox 43"/>
          <p:cNvSpPr txBox="1"/>
          <p:nvPr/>
        </p:nvSpPr>
        <p:spPr>
          <a:xfrm>
            <a:off x="9857232" y="4151376"/>
            <a:ext cx="2103120" cy="685800"/>
          </a:xfrm>
          <a:prstGeom prst="rect">
            <a:avLst/>
          </a:prstGeom>
          <a:noFill/>
        </p:spPr>
        <p:txBody>
          <a:bodyPr wrap="square">
            <a:spAutoFit/>
          </a:bodyPr>
          <a:lstStyle/>
          <a:p>
            <a:pPr algn="l"/>
            <a:r>
              <a:rPr sz="1150" b="0">
                <a:solidFill>
                  <a:srgbClr val="CCD6F1"/>
                </a:solidFill>
              </a:rPr>
              <a:t>• Local file system (jobs/)</a:t>
            </a:r>
          </a:p>
        </p:txBody>
      </p:sp>
      <p:sp>
        <p:nvSpPr>
          <p:cNvPr id="45" name="TextBox 44"/>
          <p:cNvSpPr txBox="1"/>
          <p:nvPr/>
        </p:nvSpPr>
        <p:spPr>
          <a:xfrm>
            <a:off x="9857232" y="4956048"/>
            <a:ext cx="2103120" cy="685800"/>
          </a:xfrm>
          <a:prstGeom prst="rect">
            <a:avLst/>
          </a:prstGeom>
          <a:noFill/>
        </p:spPr>
        <p:txBody>
          <a:bodyPr wrap="square">
            <a:spAutoFit/>
          </a:bodyPr>
          <a:lstStyle/>
          <a:p>
            <a:pPr algn="l"/>
            <a:r>
              <a:rPr sz="1150" b="0">
                <a:solidFill>
                  <a:srgbClr val="CCD6F1"/>
                </a:solidFill>
              </a:rPr>
              <a:t>• HF model cache (snapshots)</a:t>
            </a:r>
          </a:p>
        </p:txBody>
      </p:sp>
      <p:pic>
        <p:nvPicPr>
          <p:cNvPr id="46" name="Picture 45">
            <a:extLst>
              <a:ext uri="{FF2B5EF4-FFF2-40B4-BE49-F238E27FC236}">
                <a16:creationId xmlns:a16="http://schemas.microsoft.com/office/drawing/2014/main" id="{95C48775-C090-6407-A72F-3B944A0B9729}"/>
              </a:ext>
            </a:extLst>
          </p:cNvPr>
          <p:cNvPicPr>
            <a:picLocks noChangeAspect="1"/>
          </p:cNvPicPr>
          <p:nvPr/>
        </p:nvPicPr>
        <p:blipFill>
          <a:blip r:embed="rId3"/>
          <a:srcRect l="17962" t="32733" r="14250" b="40471"/>
          <a:stretch>
            <a:fillRect/>
          </a:stretch>
        </p:blipFill>
        <p:spPr>
          <a:xfrm>
            <a:off x="10287924" y="198379"/>
            <a:ext cx="1676854" cy="4937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21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54864"/>
          </a:xfrm>
          <a:prstGeom prst="rect">
            <a:avLst/>
          </a:prstGeom>
          <a:solidFill>
            <a:srgbClr val="5B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03136"/>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11680"/>
            <a:ext cx="10332720" cy="822960"/>
          </a:xfrm>
          <a:prstGeom prst="rect">
            <a:avLst/>
          </a:prstGeom>
          <a:noFill/>
        </p:spPr>
        <p:txBody>
          <a:bodyPr wrap="square">
            <a:spAutoFit/>
          </a:bodyPr>
          <a:lstStyle/>
          <a:p>
            <a:pPr algn="ctr"/>
            <a:r>
              <a:rPr sz="5200" b="1">
                <a:solidFill>
                  <a:srgbClr val="5B8DFF"/>
                </a:solidFill>
              </a:rPr>
              <a:t>KavinBase</a:t>
            </a:r>
          </a:p>
        </p:txBody>
      </p:sp>
      <p:sp>
        <p:nvSpPr>
          <p:cNvPr id="6" name="TextBox 5"/>
          <p:cNvSpPr txBox="1"/>
          <p:nvPr/>
        </p:nvSpPr>
        <p:spPr>
          <a:xfrm>
            <a:off x="914400" y="2926080"/>
            <a:ext cx="10332720" cy="457200"/>
          </a:xfrm>
          <a:prstGeom prst="rect">
            <a:avLst/>
          </a:prstGeom>
          <a:noFill/>
        </p:spPr>
        <p:txBody>
          <a:bodyPr wrap="square">
            <a:spAutoFit/>
          </a:bodyPr>
          <a:lstStyle/>
          <a:p>
            <a:pPr algn="ctr"/>
            <a:r>
              <a:rPr sz="2000" b="0">
                <a:solidFill>
                  <a:srgbClr val="FFFFFF"/>
                </a:solidFill>
              </a:rPr>
              <a:t>Enterprise AI Document Intelligence – End-to-End</a:t>
            </a:r>
          </a:p>
        </p:txBody>
      </p:sp>
      <p:sp>
        <p:nvSpPr>
          <p:cNvPr id="7" name="TextBox 6"/>
          <p:cNvSpPr txBox="1"/>
          <p:nvPr/>
        </p:nvSpPr>
        <p:spPr>
          <a:xfrm>
            <a:off x="914400" y="3520440"/>
            <a:ext cx="10332720" cy="365760"/>
          </a:xfrm>
          <a:prstGeom prst="rect">
            <a:avLst/>
          </a:prstGeom>
          <a:noFill/>
        </p:spPr>
        <p:txBody>
          <a:bodyPr wrap="square">
            <a:spAutoFit/>
          </a:bodyPr>
          <a:lstStyle/>
          <a:p>
            <a:pPr algn="ctr"/>
            <a:r>
              <a:rPr sz="1400" b="0">
                <a:solidFill>
                  <a:srgbClr val="A0B4FF"/>
                </a:solidFill>
              </a:rPr>
              <a:t>Hybrid RAG · Local LLMs · Agentic Review · Multi-Modal Ingestion</a:t>
            </a:r>
          </a:p>
        </p:txBody>
      </p:sp>
      <p:sp>
        <p:nvSpPr>
          <p:cNvPr id="8" name="TextBox 7"/>
          <p:cNvSpPr txBox="1"/>
          <p:nvPr/>
        </p:nvSpPr>
        <p:spPr>
          <a:xfrm>
            <a:off x="914400" y="5029200"/>
            <a:ext cx="10332720" cy="320040"/>
          </a:xfrm>
          <a:prstGeom prst="rect">
            <a:avLst/>
          </a:prstGeom>
          <a:noFill/>
        </p:spPr>
        <p:txBody>
          <a:bodyPr wrap="square">
            <a:spAutoFit/>
          </a:bodyPr>
          <a:lstStyle/>
          <a:p>
            <a:pPr algn="ctr"/>
            <a:r>
              <a:rPr sz="1600" b="0">
                <a:solidFill>
                  <a:srgbClr val="7080A0"/>
                </a:solidFill>
              </a:rPr>
              <a:t>Thank you</a:t>
            </a:r>
          </a:p>
        </p:txBody>
      </p:sp>
      <p:pic>
        <p:nvPicPr>
          <p:cNvPr id="10" name="Picture 9">
            <a:extLst>
              <a:ext uri="{FF2B5EF4-FFF2-40B4-BE49-F238E27FC236}">
                <a16:creationId xmlns:a16="http://schemas.microsoft.com/office/drawing/2014/main" id="{C203335E-20C5-C62F-DFDB-D9F2CCCADEB2}"/>
              </a:ext>
            </a:extLst>
          </p:cNvPr>
          <p:cNvPicPr>
            <a:picLocks noChangeAspect="1"/>
          </p:cNvPicPr>
          <p:nvPr/>
        </p:nvPicPr>
        <p:blipFill>
          <a:blip r:embed="rId3"/>
          <a:srcRect l="17962" t="32733" r="14250" b="40471"/>
          <a:stretch>
            <a:fillRect/>
          </a:stretch>
        </p:blipFill>
        <p:spPr>
          <a:xfrm>
            <a:off x="645160" y="364537"/>
            <a:ext cx="2088804" cy="6355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advTm="2000">
        <p159:morph option="byObject"/>
      </p:transition>
    </mc:Choice>
    <mc:Fallback xmlns="">
      <p:transition spd="slow" advTm="2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TotalTime>
  <Words>8057</Words>
  <Application>Microsoft Office PowerPoint</Application>
  <PresentationFormat>Custom</PresentationFormat>
  <Paragraphs>869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Harish Ramesh</dc:creator>
  <cp:keywords/>
  <dc:description>generated using python-pptx</dc:description>
  <cp:lastModifiedBy>Sabatini Hemanth</cp:lastModifiedBy>
  <cp:revision>7</cp:revision>
  <dcterms:created xsi:type="dcterms:W3CDTF">2013-01-27T09:14:16Z</dcterms:created>
  <dcterms:modified xsi:type="dcterms:W3CDTF">2026-04-13T10:53:28Z</dcterms:modified>
  <cp:category/>
</cp:coreProperties>
</file>