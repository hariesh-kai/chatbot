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KavinBase System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Artificial Intelligence Document Pipeline</a:t>
            </a:r>
          </a:p>
          <a:p>
            <a:r>
              <a:t>Architecture &amp;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system acts as a hybrid synchronous-asynchronous platform:</a:t>
            </a:r>
          </a:p>
          <a:p>
            <a:pPr>
              <a:defRPr sz="1600"/>
            </a:pPr>
            <a:r>
              <a:t>FastAPI backend handles high-speed REST interactions and SSE streaming limits.</a:t>
            </a:r>
          </a:p>
          <a:p>
            <a:pPr>
              <a:defRPr sz="1600"/>
            </a:pPr>
            <a:r>
              <a:t>Celery offloads CPU-intensive PDF chunking and bounding-box extractions.</a:t>
            </a:r>
          </a:p>
          <a:p>
            <a:pPr>
              <a:defRPr sz="1600"/>
            </a:pPr>
            <a:r>
              <a:t>Data propagates across multiple purpose-built persistence layers (MinIO, PostgreSQL PGVector, Redis).</a:t>
            </a:r>
          </a:p>
        </p:txBody>
      </p:sp>
      <p:pic>
        <p:nvPicPr>
          <p:cNvPr id="4" name="Picture 3" descr="System_Architectur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370028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Documents undergo a rigorous processing workflow:</a:t>
            </a:r>
          </a:p>
          <a:p>
            <a:pPr>
              <a:defRPr sz="1600"/>
            </a:pPr>
            <a:r>
              <a:t>1. Uploads securely pushed to an S3-compatible MinIO datastore.</a:t>
            </a:r>
          </a:p>
          <a:p>
            <a:pPr>
              <a:defRPr sz="1600"/>
            </a:pPr>
            <a:r>
              <a:t>2. Heavy lifting is assigned to asynchronous Celery tasks to prevent UI blockage.</a:t>
            </a:r>
          </a:p>
          <a:p>
            <a:pPr>
              <a:defRPr sz="1600"/>
            </a:pPr>
            <a:r>
              <a:t>3. Unstructured parses complex layouts, while embeddings transform chunks into multi-dimensional vectors for semantic search.</a:t>
            </a:r>
          </a:p>
        </p:txBody>
      </p:sp>
      <p:pic>
        <p:nvPicPr>
          <p:cNvPr id="4" name="Picture 3" descr="Ingestion_Pipelin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518595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Hybrid intelligence retrieval system:</a:t>
            </a:r>
          </a:p>
          <a:p>
            <a:pPr>
              <a:defRPr sz="1600"/>
            </a:pPr>
            <a:r>
              <a:t>Queries execute concurrently: performing semantic search alongside standard relational keyword hits.</a:t>
            </a:r>
          </a:p>
          <a:p>
            <a:pPr>
              <a:defRPr sz="1600"/>
            </a:pPr>
            <a:r>
              <a:t>FlashRank takes the overlapping chunk results, applies Cross-Encoding models, and reranks them to ensure optimum context fidelity.</a:t>
            </a:r>
          </a:p>
          <a:p>
            <a:pPr>
              <a:defRPr sz="1600"/>
            </a:pPr>
            <a:r>
              <a:t>Local LLMs then stream generating responses chunk by chunk over HTTP connections back to the Next.js UI.</a:t>
            </a:r>
          </a:p>
        </p:txBody>
      </p:sp>
      <p:pic>
        <p:nvPicPr>
          <p:cNvPr id="4" name="Picture 3" descr="Query_Pipelin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169897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Intelligence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high-level abstraction of the RAG (Retrieval-Augmented Generation) pipeline.</a:t>
            </a:r>
          </a:p>
          <a:p>
            <a:pPr>
              <a:defRPr sz="1600"/>
            </a:pPr>
            <a:r>
              <a:t>Demonstrates semantic data streaming off vectors and interacting with the neural LLM endpoint.</a:t>
            </a:r>
          </a:p>
        </p:txBody>
      </p:sp>
      <p:pic>
        <p:nvPicPr>
          <p:cNvPr id="4" name="Picture 3" descr="model_workflow_conceptual_1775733330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Frontend: Application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Dashboard serves as the main command center.</a:t>
            </a:r>
          </a:p>
          <a:p>
            <a:pPr>
              <a:defRPr sz="1600"/>
            </a:pPr>
            <a:r>
              <a:t>Pulls real-time project metrics directly from the PostgreSQL instance.</a:t>
            </a:r>
          </a:p>
          <a:p>
            <a:pPr>
              <a:defRPr sz="1600"/>
            </a:pPr>
            <a:r>
              <a:t>Secure JWT verification protects layout access across routes.</a:t>
            </a:r>
          </a:p>
        </p:txBody>
      </p:sp>
      <p:pic>
        <p:nvPicPr>
          <p:cNvPr id="4" name="Picture 3" descr="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Frontend: Chat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Real-time intelligence retrieval center.</a:t>
            </a:r>
          </a:p>
          <a:p>
            <a:pPr>
              <a:defRPr sz="1600"/>
            </a:pPr>
            <a:r>
              <a:t>Maintains continuous SSE (Server-Sent Events) links with the LLM backend for token-by-token rendering.</a:t>
            </a:r>
          </a:p>
          <a:p>
            <a:pPr>
              <a:defRPr sz="1600"/>
            </a:pPr>
            <a:r>
              <a:t>Embeds technical Markdown, Tables, and citations safely.</a:t>
            </a:r>
          </a:p>
        </p:txBody>
      </p:sp>
      <p:pic>
        <p:nvPicPr>
          <p:cNvPr id="4" name="Picture 3" descr="chat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Frontend: Projects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Document indexing and status tracking interface.</a:t>
            </a:r>
          </a:p>
          <a:p>
            <a:pPr>
              <a:defRPr sz="1600"/>
            </a:pPr>
            <a:r>
              <a:t>Monitors active celery worker tasks and asynchronous indexing via simple UI indicators.</a:t>
            </a:r>
          </a:p>
        </p:txBody>
      </p:sp>
      <p:pic>
        <p:nvPicPr>
          <p:cNvPr id="4" name="Picture 3" descr="chat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Backend: API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FastAPI backend strictly types payloads using Pydantic.</a:t>
            </a:r>
          </a:p>
          <a:p>
            <a:pPr>
              <a:defRPr sz="1600"/>
            </a:pPr>
            <a:r>
              <a:t>Provides a fully interactive Swagger documentation interface out of the box.</a:t>
            </a:r>
          </a:p>
          <a:p>
            <a:pPr>
              <a:defRPr sz="1600"/>
            </a:pPr>
            <a:r>
              <a:t>Modular routes separate Chat, Authentication, and Upload workflows seamlessly.</a:t>
            </a:r>
          </a:p>
        </p:txBody>
      </p:sp>
      <p:pic>
        <p:nvPicPr>
          <p:cNvPr id="4" name="Picture 3" descr="click_feedback_17757314797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264086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MinIO (Object Stores): Retains raw PDFs and binary blobs isolated from the database.</a:t>
            </a:r>
          </a:p>
          <a:p>
            <a:pPr>
              <a:defRPr sz="1600"/>
            </a:pPr>
            <a:r>
              <a:t>PostgreSQL + PGVector (Relational / Vector): Handles user schemas, project models, and the ~384 dimensional vector indexes.</a:t>
            </a:r>
          </a:p>
          <a:p>
            <a:pPr>
              <a:defRPr sz="1600"/>
            </a:pPr>
            <a:r>
              <a:t>Redis (Key-Value Keyring): Serves as the high-speed Cache layer tracking streaming states and broker messaging.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